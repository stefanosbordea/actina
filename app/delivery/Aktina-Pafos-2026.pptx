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slides/charts/chart1.xml" ContentType="application/vnd.openxmlformats-officedocument.drawingml.chart+xml"/>
  <Override PartName="/ppt/slides/charts/chart2.xml" ContentType="application/vnd.openxmlformats-officedocument.drawingml.chart+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slides/charts/chart3.xml" ContentType="application/vnd.openxmlformats-officedocument.drawingml.chart+xml"/>
  <Override PartName="/ppt/notesSlides/notesSlide7.xml" ContentType="application/vnd.openxmlformats-officedocument.presentationml.notesSlide+xml"/>
  <Override PartName="/ppt/slides/slide8.xml" ContentType="application/vnd.openxmlformats-officedocument.presentationml.slide+xml"/>
  <Override PartName="/ppt/slides/charts/chart4.xml" ContentType="application/vnd.openxmlformats-officedocument.drawingml.chart+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57479f537d2f413c" /><Relationship Type="http://schemas.openxmlformats.org/officeDocument/2006/relationships/extended-properties" Target="/docProps/app.xml" Id="R52b36bdec2744e5e" /><Relationship Type="http://schemas.openxmlformats.org/officeDocument/2006/relationships/officeDocument" Target="/ppt/presentation.xml" Id="Rfc14819fe8af487f" /></Relationships>
</file>

<file path=ppt/presentation.xml><?xml version="1.0" encoding="utf-8"?>
<p:presentation xmlns:p="http://schemas.openxmlformats.org/presentationml/2006/main">
  <p:sldMasterIdLst>
    <p:sldMasterId xmlns:r="http://schemas.openxmlformats.org/officeDocument/2006/relationships" id="2147483648" r:id="Ref3553c5c2674b2b"/>
  </p:sldMasterIdLst>
  <p:notesMasterIdLst>
    <p:notesMasterId xmlns:r="http://schemas.openxmlformats.org/officeDocument/2006/relationships" r:id="R3a10625ea4434678"/>
  </p:notesMasterIdLst>
  <p:sldIdLst>
    <p:sldId xmlns:r="http://schemas.openxmlformats.org/officeDocument/2006/relationships" id="256" r:id="R265141771e774ac9"/>
    <p:sldId xmlns:r="http://schemas.openxmlformats.org/officeDocument/2006/relationships" id="257" r:id="R3f62e88c015c4582"/>
    <p:sldId xmlns:r="http://schemas.openxmlformats.org/officeDocument/2006/relationships" id="258" r:id="R7d55d9eb2a2742e1"/>
    <p:sldId xmlns:r="http://schemas.openxmlformats.org/officeDocument/2006/relationships" id="259" r:id="Rb2017f3bfbe74567"/>
    <p:sldId xmlns:r="http://schemas.openxmlformats.org/officeDocument/2006/relationships" id="260" r:id="R05e992859fe943f1"/>
    <p:sldId xmlns:r="http://schemas.openxmlformats.org/officeDocument/2006/relationships" id="261" r:id="Rb0491c84c3954387"/>
    <p:sldId xmlns:r="http://schemas.openxmlformats.org/officeDocument/2006/relationships" id="262" r:id="Rbb377ba4c7dd48b9"/>
    <p:sldId xmlns:r="http://schemas.openxmlformats.org/officeDocument/2006/relationships" id="263" r:id="R3dbbe080e4084458"/>
    <p:sldId xmlns:r="http://schemas.openxmlformats.org/officeDocument/2006/relationships" id="264" r:id="Rd5de162adce64184"/>
    <p:sldId xmlns:r="http://schemas.openxmlformats.org/officeDocument/2006/relationships" id="265" r:id="R1f3a8a436f514d02"/>
    <p:sldId xmlns:r="http://schemas.openxmlformats.org/officeDocument/2006/relationships" id="266" r:id="R4fcba2aef6ad4076"/>
    <p:sldId xmlns:r="http://schemas.openxmlformats.org/officeDocument/2006/relationships" id="267" r:id="R318374cf55f5416e"/>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e6253522f6564582" /><Relationship Type="http://schemas.openxmlformats.org/officeDocument/2006/relationships/slideMaster" Target="/ppt/slideMasters/slideMaster1.xml" Id="Ref3553c5c2674b2b" /><Relationship Type="http://schemas.openxmlformats.org/officeDocument/2006/relationships/notesMaster" Target="/ppt/notesMasters/notesMaster1.xml" Id="R3a10625ea4434678" /><Relationship Type="http://schemas.openxmlformats.org/officeDocument/2006/relationships/presProps" Target="/ppt/presProps.xml" Id="R2c955abba90f4231" /><Relationship Type="http://schemas.openxmlformats.org/officeDocument/2006/relationships/tableStyles" Target="/ppt/tableStyles.xml" Id="R839a267f4ce64a8a" /><Relationship Type="http://schemas.openxmlformats.org/officeDocument/2006/relationships/slide" Target="/ppt/slides/slide1.xml" Id="R265141771e774ac9" /><Relationship Type="http://schemas.openxmlformats.org/officeDocument/2006/relationships/slide" Target="/ppt/slides/slide2.xml" Id="R3f62e88c015c4582" /><Relationship Type="http://schemas.openxmlformats.org/officeDocument/2006/relationships/slide" Target="/ppt/slides/slide3.xml" Id="R7d55d9eb2a2742e1" /><Relationship Type="http://schemas.openxmlformats.org/officeDocument/2006/relationships/slide" Target="/ppt/slides/slide4.xml" Id="Rb2017f3bfbe74567" /><Relationship Type="http://schemas.openxmlformats.org/officeDocument/2006/relationships/slide" Target="/ppt/slides/slide5.xml" Id="R05e992859fe943f1" /><Relationship Type="http://schemas.openxmlformats.org/officeDocument/2006/relationships/slide" Target="/ppt/slides/slide6.xml" Id="Rb0491c84c3954387" /><Relationship Type="http://schemas.openxmlformats.org/officeDocument/2006/relationships/slide" Target="/ppt/slides/slide7.xml" Id="Rbb377ba4c7dd48b9" /><Relationship Type="http://schemas.openxmlformats.org/officeDocument/2006/relationships/slide" Target="/ppt/slides/slide8.xml" Id="R3dbbe080e4084458" /><Relationship Type="http://schemas.openxmlformats.org/officeDocument/2006/relationships/slide" Target="/ppt/slides/slide9.xml" Id="Rd5de162adce64184" /><Relationship Type="http://schemas.openxmlformats.org/officeDocument/2006/relationships/slide" Target="/ppt/slides/slide10.xml" Id="R1f3a8a436f514d02" /><Relationship Type="http://schemas.openxmlformats.org/officeDocument/2006/relationships/slide" Target="/ppt/slides/slide11.xml" Id="R4fcba2aef6ad4076" /><Relationship Type="http://schemas.openxmlformats.org/officeDocument/2006/relationships/slide" Target="/ppt/slides/slide12.xml" Id="R318374cf55f5416e"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d8821e1887ee4262"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0341fd69e9824d66" /><Relationship Type="http://schemas.openxmlformats.org/officeDocument/2006/relationships/notesMaster" Target="/ppt/notesMasters/notesMaster1.xml" Id="R2621dce946f04579" /></Relationships>
</file>

<file path=ppt/notesSlides/_rels/notesSlide2.xml.rels>&#65279;<?xml version="1.0" encoding="utf-8"?><Relationships xmlns="http://schemas.openxmlformats.org/package/2006/relationships"><Relationship Type="http://schemas.openxmlformats.org/officeDocument/2006/relationships/slide" Target="/ppt/slides/slide2.xml" Id="Raab50ec497434736" /><Relationship Type="http://schemas.openxmlformats.org/officeDocument/2006/relationships/notesMaster" Target="/ppt/notesMasters/notesMaster1.xml" Id="Rf77f590ed1a9406e" /></Relationships>
</file>

<file path=ppt/notesSlides/_rels/notesSlide3.xml.rels>&#65279;<?xml version="1.0" encoding="utf-8"?><Relationships xmlns="http://schemas.openxmlformats.org/package/2006/relationships"><Relationship Type="http://schemas.openxmlformats.org/officeDocument/2006/relationships/slide" Target="/ppt/slides/slide3.xml" Id="Rfc30d60ec88d4cc8" /><Relationship Type="http://schemas.openxmlformats.org/officeDocument/2006/relationships/notesMaster" Target="/ppt/notesMasters/notesMaster1.xml" Id="R019f55286d904bd4" /></Relationships>
</file>

<file path=ppt/notesSlides/_rels/notesSlide4.xml.rels>&#65279;<?xml version="1.0" encoding="utf-8"?><Relationships xmlns="http://schemas.openxmlformats.org/package/2006/relationships"><Relationship Type="http://schemas.openxmlformats.org/officeDocument/2006/relationships/slide" Target="/ppt/slides/slide4.xml" Id="R2d757f7f50164302" /><Relationship Type="http://schemas.openxmlformats.org/officeDocument/2006/relationships/notesMaster" Target="/ppt/notesMasters/notesMaster1.xml" Id="R0692a8db70944f69" /></Relationships>
</file>

<file path=ppt/notesSlides/_rels/notesSlide5.xml.rels>&#65279;<?xml version="1.0" encoding="utf-8"?><Relationships xmlns="http://schemas.openxmlformats.org/package/2006/relationships"><Relationship Type="http://schemas.openxmlformats.org/officeDocument/2006/relationships/slide" Target="/ppt/slides/slide5.xml" Id="R7c856d25e95b47f8" /><Relationship Type="http://schemas.openxmlformats.org/officeDocument/2006/relationships/notesMaster" Target="/ppt/notesMasters/notesMaster1.xml" Id="Rdb4766ab784345a1" /></Relationships>
</file>

<file path=ppt/notesSlides/_rels/notesSlide6.xml.rels>&#65279;<?xml version="1.0" encoding="utf-8"?><Relationships xmlns="http://schemas.openxmlformats.org/package/2006/relationships"><Relationship Type="http://schemas.openxmlformats.org/officeDocument/2006/relationships/slide" Target="/ppt/slides/slide6.xml" Id="R772d3a28ef92429a" /><Relationship Type="http://schemas.openxmlformats.org/officeDocument/2006/relationships/notesMaster" Target="/ppt/notesMasters/notesMaster1.xml" Id="R065c1fb5e74d4cb6" /></Relationships>
</file>

<file path=ppt/notesSlides/_rels/notesSlide7.xml.rels>&#65279;<?xml version="1.0" encoding="utf-8"?><Relationships xmlns="http://schemas.openxmlformats.org/package/2006/relationships"><Relationship Type="http://schemas.openxmlformats.org/officeDocument/2006/relationships/slide" Target="/ppt/slides/slide7.xml" Id="R47b563e62f5843f0" /><Relationship Type="http://schemas.openxmlformats.org/officeDocument/2006/relationships/notesMaster" Target="/ppt/notesMasters/notesMaster1.xml" Id="Ra1d037beae1f49b8" /></Relationships>
</file>

<file path=ppt/notesSlides/_rels/notesSlide8.xml.rels>&#65279;<?xml version="1.0" encoding="utf-8"?><Relationships xmlns="http://schemas.openxmlformats.org/package/2006/relationships"><Relationship Type="http://schemas.openxmlformats.org/officeDocument/2006/relationships/slide" Target="/ppt/slides/slide8.xml" Id="R77bea0b4783644e2" /><Relationship Type="http://schemas.openxmlformats.org/officeDocument/2006/relationships/notesMaster" Target="/ppt/notesMasters/notesMaster1.xml" Id="Re51f2cb75425423d" /></Relationships>
</file>

<file path=ppt/notesSlides/_rels/notesSlide9.xml.rels>&#65279;<?xml version="1.0" encoding="utf-8"?><Relationships xmlns="http://schemas.openxmlformats.org/package/2006/relationships"><Relationship Type="http://schemas.openxmlformats.org/officeDocument/2006/relationships/slide" Target="/ppt/slides/slide9.xml" Id="R1a233fa0456b4b5a" /><Relationship Type="http://schemas.openxmlformats.org/officeDocument/2006/relationships/notesMaster" Target="/ppt/notesMasters/notesMaster1.xml" Id="R3a19517715b742e1"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430c13f6f6f14c16" /><Relationship Type="http://schemas.openxmlformats.org/officeDocument/2006/relationships/notesMaster" Target="/ppt/notesMasters/notesMaster1.xml" Id="R235a16d26a1341aa"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e7bb7a5627734310" /><Relationship Type="http://schemas.openxmlformats.org/officeDocument/2006/relationships/notesMaster" Target="/ppt/notesMasters/notesMaster1.xml" Id="Rbe3708aa11824037"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ee7eeb02f1604c13" /><Relationship Type="http://schemas.openxmlformats.org/officeDocument/2006/relationships/notesMaster" Target="/ppt/notesMasters/notesMaster1.xml" Id="Rb97f0e0f5ce04b07"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 Aktina</a:t>
            </a:r>
          </a:p>
          <a:p xmlns:a="http://schemas.openxmlformats.org/drawingml/2006/main">
            <a:r>
              <a:t/>
            </a:r>
          </a:p>
          <a:p xmlns:a="http://schemas.openxmlformats.org/drawingml/2006/main">
            <a:r>
              <a:t>Aktina</a:t>
            </a:r>
          </a:p>
          <a:p xmlns:a="http://schemas.openxmlformats.org/drawingml/2006/main">
            <a:r>
              <a:t/>
            </a:r>
          </a:p>
          <a:p xmlns:a="http://schemas.openxmlformats.org/drawingml/2006/main">
            <a:r>
              <a:t>Aktina starts with a simple idea: use solar electricity that would otherwise be curtailed to make drinking water, then store the water for later. Our current demonstration shows the retained model and schedule output and the evidence behind it. Recovering curtailed solar still needs a suitable plant, storage and grid coordination.</a:t>
            </a:r>
          </a:p>
          <a:p xmlns:a="http://schemas.openxmlformats.org/drawingml/2006/main">
            <a:r>
              <a:t/>
            </a:r>
          </a:p>
          <a:p xmlns:a="http://schemas.openxmlformats.org/drawingml/2006/main">
            <a:r>
              <a:t/>
            </a:r>
          </a:p>
          <a:p xmlns:a="http://schemas.openxmlformats.org/drawingml/2006/main">
            <a:r>
              <a:t>Data and artifact provenance: delivery/Aktina-Deck-Source/inputs.sha256.json. Historical original remains unchanged.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2: Why water storage matters</a:t>
            </a:r>
          </a:p>
          <a:p xmlns:a="http://schemas.openxmlformats.org/drawingml/2006/main">
            <a:r>
              <a:t/>
            </a:r>
          </a:p>
          <a:p xmlns:a="http://schemas.openxmlformats.org/drawingml/2006/main">
            <a:r>
              <a:t>Why storage matters</a:t>
            </a:r>
          </a:p>
          <a:p xmlns:a="http://schemas.openxmlformats.org/drawingml/2006/main">
            <a:r>
              <a:t/>
            </a:r>
          </a:p>
          <a:p xmlns:a="http://schemas.openxmlformats.org/drawingml/2006/main">
            <a:r>
              <a:t>Water demand and available solar do not arrive at the same time. A tank lets an operator move some water production between hours while keeping water available. We need to check both sides: whether the plan supplies water, and whether its electricity use actually helps the grid. Radiation is useful context, but a sunny hour is not proof of curtailed electricity available to a particular plant.</a:t>
            </a:r>
          </a:p>
          <a:p xmlns:a="http://schemas.openxmlformats.org/drawingml/2006/main">
            <a:r>
              <a:t/>
            </a:r>
          </a:p>
          <a:p xmlns:a="http://schemas.openxmlformats.org/drawingml/2006/main">
            <a:r>
              <a:t/>
            </a:r>
          </a:p>
          <a:p xmlns:a="http://schemas.openxmlformats.org/drawingml/2006/main">
            <a:r>
              <a:t>Data and artifact provenance: delivery/Aktina-Deck-Source/inputs.sha256.json. Historical original remains unchanged.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3: Grid and Sites</a:t>
            </a:r>
          </a:p>
          <a:p xmlns:a="http://schemas.openxmlformats.org/drawingml/2006/main">
            <a:r>
              <a:t/>
            </a:r>
          </a:p>
          <a:p xmlns:a="http://schemas.openxmlformats.org/drawingml/2006/main">
            <a:r>
              <a:t>Grid and Sites</a:t>
            </a:r>
          </a:p>
          <a:p xmlns:a="http://schemas.openxmlformats.org/drawingml/2006/main">
            <a:r>
              <a:t/>
            </a:r>
          </a:p>
          <a:p xmlns:a="http://schemas.openxmlformats.org/drawingml/2006/main">
            <a:r>
              <a:t>The roadmap has two parts. Grid compares production for a desalination unit and its tank. Sites explores garden water budgets and unusual overnight meter readings. Today's supplied model and schedule cover Grid. Sites remains a separate prototype; its synthetic examples are not field results. Neither part controls equipment.</a:t>
            </a:r>
          </a:p>
          <a:p xmlns:a="http://schemas.openxmlformats.org/drawingml/2006/main">
            <a:r>
              <a:t/>
            </a:r>
          </a:p>
          <a:p xmlns:a="http://schemas.openxmlformats.org/drawingml/2006/main">
            <a:r>
              <a:t/>
            </a:r>
          </a:p>
          <a:p xmlns:a="http://schemas.openxmlformats.org/drawingml/2006/main">
            <a:r>
              <a:t>Data and artifact provenance: delivery/Aktina-Deck-Source/inputs.sha256.json. Historical original remains unchanged.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4: The supplied demonstration</a:t>
            </a:r>
          </a:p>
          <a:p xmlns:a="http://schemas.openxmlformats.org/drawingml/2006/main">
            <a:r>
              <a:t/>
            </a:r>
          </a:p>
          <a:p xmlns:a="http://schemas.openxmlformats.org/drawingml/2006/main">
            <a:r>
              <a:t>What the demonstration loads</a:t>
            </a:r>
          </a:p>
          <a:p xmlns:a="http://schemas.openxmlformats.org/drawingml/2006/main">
            <a:r>
              <a:t/>
            </a:r>
          </a:p>
          <a:p xmlns:a="http://schemas.openxmlformats.org/drawingml/2006/main">
            <a:r>
              <a:t>The demo loads 7,104 supplied schedule rows, covering 296 complete days from 6 December 2025 to 28 September 2026. Each day shows radiation, production, tank level and illustrative cost. The data, scripts and fonts are local, so the presentation does not need an API or internet connection.</a:t>
            </a:r>
          </a:p>
          <a:p xmlns:a="http://schemas.openxmlformats.org/drawingml/2006/main">
            <a:r>
              <a:t/>
            </a:r>
          </a:p>
          <a:p xmlns:a="http://schemas.openxmlformats.org/drawingml/2006/main">
            <a:r>
              <a:t>We checked which forecast generated the supplied export. Its forecast column matches persistence in every row, and that version reproduces byte for byte. Stefanos's LightGBM forecast appears separately. The unchanged model-driven scheduler also runs, but produces a different schedule. We have kept both outputs; the intended submission version still needs confirmation.</a:t>
            </a:r>
          </a:p>
          <a:p xmlns:a="http://schemas.openxmlformats.org/drawingml/2006/main">
            <a:r>
              <a:t/>
            </a:r>
          </a:p>
          <a:p xmlns:a="http://schemas.openxmlformats.org/drawingml/2006/main">
            <a:r>
              <a:t>Source cue: `app/handoff/README.md` and `app/handoff/scheduler-reproduction/README.md`. Do not call the displayed schedule a demonstrated LightGBM saving.</a:t>
            </a:r>
          </a:p>
          <a:p xmlns:a="http://schemas.openxmlformats.org/drawingml/2006/main">
            <a:r>
              <a:t/>
            </a:r>
          </a:p>
          <a:p xmlns:a="http://schemas.openxmlformats.org/drawingml/2006/main">
            <a:r>
              <a:t/>
            </a:r>
          </a:p>
          <a:p xmlns:a="http://schemas.openxmlformats.org/drawingml/2006/main">
            <a:r>
              <a:t>Data and artifact provenance: delivery/Aktina-Deck-Source/inputs.sha256.json. Historical original remains unchanged.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5: 3 July 2026</a:t>
            </a:r>
          </a:p>
          <a:p xmlns:a="http://schemas.openxmlformats.org/drawingml/2006/main">
            <a:r>
              <a:t/>
            </a:r>
          </a:p>
          <a:p xmlns:a="http://schemas.openxmlformats.org/drawingml/2006/main">
            <a:r>
              <a:t>A matched day</a:t>
            </a:r>
          </a:p>
          <a:p xmlns:a="http://schemas.openxmlformats.org/drawingml/2006/main">
            <a:r>
              <a:t/>
            </a:r>
          </a:p>
          <a:p xmlns:a="http://schemas.openxmlformats.org/drawingml/2006/main">
            <a:r>
              <a:t>On 3 July, flat and supplied production both make 5,658 cubic metres of water and use 19,237.2 kilowatt-hours. The supplied tank starts and ends at 966 cubic metres. Under the illustrative prices, the supplied plan costs about 2,628 euros versus 2,995 euros for flat production: 12.23 percent less. The comparison moves electricity use between differently priced hours; it does not demonstrate lower energy use or recovered solar.</a:t>
            </a:r>
          </a:p>
          <a:p xmlns:a="http://schemas.openxmlformats.org/drawingml/2006/main">
            <a:r>
              <a:t/>
            </a:r>
          </a:p>
          <a:p xmlns:a="http://schemas.openxmlformats.org/drawingml/2006/main">
            <a:r>
              <a:t>This equal-stock result is specific to the day. The scheduler carries water between days and does not enforce equal daily ending stock. A cost comparison must retain production and stock change, especially at the separate validation/test resets.</a:t>
            </a:r>
          </a:p>
          <a:p xmlns:a="http://schemas.openxmlformats.org/drawingml/2006/main">
            <a:r>
              <a:t/>
            </a:r>
          </a:p>
          <a:p xmlns:a="http://schemas.openxmlformats.org/drawingml/2006/main">
            <a:r>
              <a:t>Source cue: original `eval/schedule_hourly.csv`, 3 July 2026. Discount is €101/MWh when actual radiation is strictly above 600 W/m²; otherwise €183/MWh. Specific electricity is 3.4 kWh/m³. These are assumptions, not bills or a market tariff.</a:t>
            </a:r>
          </a:p>
          <a:p xmlns:a="http://schemas.openxmlformats.org/drawingml/2006/main">
            <a:r>
              <a:t/>
            </a:r>
          </a:p>
          <a:p xmlns:a="http://schemas.openxmlformats.org/drawingml/2006/main">
            <a:r>
              <a:t/>
            </a:r>
          </a:p>
          <a:p xmlns:a="http://schemas.openxmlformats.org/drawingml/2006/main">
            <a:r>
              <a:t>Data and artifact provenance: delivery/Aktina-Deck-Source/inputs.sha256.json. Historical original remains unchanged.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6: Inside the demonstration</a:t>
            </a:r>
          </a:p>
          <a:p xmlns:a="http://schemas.openxmlformats.org/drawingml/2006/main">
            <a:r>
              <a:t/>
            </a:r>
          </a:p>
          <a:p xmlns:a="http://schemas.openxmlformats.org/drawingml/2006/main">
            <a:r>
              <a:t>Demo and fallback</a:t>
            </a:r>
          </a:p>
          <a:p xmlns:a="http://schemas.openxmlformats.org/drawingml/2006/main">
            <a:r>
              <a:t/>
            </a:r>
          </a:p>
          <a:p xmlns:a="http://schemas.openxmlformats.org/drawingml/2006/main">
            <a:r>
              <a:t>We will show three days, then the full benchmark. July 3 shows midday production and the matched daily cost. December 10 has no high-radiation hours; the retained tank still stays at or above its declared minimum. March 16 shows a day when the original model predicts better than persistence. We then return to all test hours so that one good day does not become the headline result.</a:t>
            </a:r>
          </a:p>
          <a:p xmlns:a="http://schemas.openxmlformats.org/drawingml/2006/main">
            <a:r>
              <a:t/>
            </a:r>
          </a:p>
          <a:p xmlns:a="http://schemas.openxmlformats.org/drawingml/2006/main">
            <a:r>
              <a:t>Live cues:</a:t>
            </a:r>
          </a:p>
          <a:p xmlns:a="http://schemas.openxmlformats.org/drawingml/2006/main">
            <a:r>
              <a:t/>
            </a:r>
          </a:p>
          <a:p xmlns:a="http://schemas.openxmlformats.org/drawingml/2006/main">
            <a:r>
              <a:t>- Open Aktina locally. Choose **3 July 2026**; inspect sun, production, tank and cost.</a:t>
            </a:r>
          </a:p>
          <a:p xmlns:a="http://schemas.openxmlformats.org/drawingml/2006/main">
            <a:r>
              <a:t>- Choose **10 December 2025**; point to low radiation and the tank minimum.</a:t>
            </a:r>
          </a:p>
          <a:p xmlns:a="http://schemas.openxmlformats.org/drawingml/2006/main">
            <a:r>
              <a:t>- Choose **16 March 2026**; MAE is 48.48 W/m² for the original model versus 156.33 for persistence.</a:t>
            </a:r>
          </a:p>
          <a:p xmlns:a="http://schemas.openxmlformats.org/drawingml/2006/main">
            <a:r>
              <a:t>- Open **AktinaBench**; show the original test comparison, then the direct classifier's precision/recall tradeoff.</a:t>
            </a:r>
          </a:p>
          <a:p xmlns:a="http://schemas.openxmlformats.org/drawingml/2006/main">
            <a:r>
              <a:t/>
            </a:r>
          </a:p>
          <a:p xmlns:a="http://schemas.openxmlformats.org/drawingml/2006/main">
            <a:r>
              <a:t>Fallback: `Aktina-Backup-v2.mp4`, 60 seconds, no audio. It is a screenshot walkthrough, not a live interaction recording. Do not play both sequences. Online address: https://aktina-pafos-2026.vercel.app/.</a:t>
            </a:r>
          </a:p>
          <a:p xmlns:a="http://schemas.openxmlformats.org/drawingml/2006/main">
            <a:r>
              <a:t/>
            </a:r>
          </a:p>
          <a:p xmlns:a="http://schemas.openxmlformats.org/drawingml/2006/main">
            <a:r>
              <a:t/>
            </a:r>
          </a:p>
          <a:p xmlns:a="http://schemas.openxmlformats.org/drawingml/2006/main">
            <a:r>
              <a:t>Data and artifact provenance: delivery/Aktina-Deck-Source/inputs.sha256.json. Historical original remains unchanged.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7: Original forecast against persistence</a:t>
            </a:r>
          </a:p>
          <a:p xmlns:a="http://schemas.openxmlformats.org/drawingml/2006/main">
            <a:r>
              <a:t/>
            </a:r>
          </a:p>
          <a:p xmlns:a="http://schemas.openxmlformats.org/drawingml/2006/main">
            <a:r>
              <a:t>What the original model achieves</a:t>
            </a:r>
          </a:p>
          <a:p xmlns:a="http://schemas.openxmlformats.org/drawingml/2006/main">
            <a:r>
              <a:t/>
            </a:r>
          </a:p>
          <a:p xmlns:a="http://schemas.openxmlformats.org/drawingml/2006/main">
            <a:r>
              <a:t>We evaluated every retained prediction: 3,566 validation hours and 3,567 test hours. Validation MAE is 29.34 watts per square metre for LightGBM versus 32.47 for persistence. On the test period, that reverses: 14.27 versus 12.26. Test precision, recall and F1 also favour persistence. The model's test F1 is 0.9655; persistence reaches 0.9777.</a:t>
            </a:r>
          </a:p>
          <a:p xmlns:a="http://schemas.openxmlformats.org/drawingml/2006/main">
            <a:r>
              <a:t/>
            </a:r>
          </a:p>
          <a:p xmlns:a="http://schemas.openxmlformats.org/drawingml/2006/main">
            <a:r>
              <a:t>Validation informed early stopping, and the original validation and test files come from different model fits. The adjacent original splits also lack a 24-hour prediction-horizon purge. These limits stay in the benchmark. Radiation above 600 watts per square metre defines the label; it is not observed grid curtailment.</a:t>
            </a:r>
          </a:p>
          <a:p xmlns:a="http://schemas.openxmlformats.org/drawingml/2006/main">
            <a:r>
              <a:t/>
            </a:r>
          </a:p>
          <a:p xmlns:a="http://schemas.openxmlformats.org/drawingml/2006/main">
            <a:r>
              <a:t>Source cue: `app/handoff/ACTINABENCH.md`; full MAE, RMSE, precision, recall, F1, confusion counts and month/hour breakdowns are retained. Partial boundary days remain in full-period results.</a:t>
            </a:r>
          </a:p>
          <a:p xmlns:a="http://schemas.openxmlformats.org/drawingml/2006/main">
            <a:r>
              <a:t/>
            </a:r>
          </a:p>
          <a:p xmlns:a="http://schemas.openxmlformats.org/drawingml/2006/main">
            <a:r>
              <a:t/>
            </a:r>
          </a:p>
          <a:p xmlns:a="http://schemas.openxmlformats.org/drawingml/2006/main">
            <a:r>
              <a:t>Data and artifact provenance: delivery/Aktina-Deck-Source/inputs.sha256.json. Historical original remains unchanged.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8: More detections, more false alarms</a:t>
            </a:r>
          </a:p>
          <a:p xmlns:a="http://schemas.openxmlformats.org/drawingml/2006/main">
            <a:r>
              <a:t/>
            </a:r>
          </a:p>
          <a:p xmlns:a="http://schemas.openxmlformats.org/drawingml/2006/main">
            <a:r>
              <a:t>Research comparison</a:t>
            </a:r>
          </a:p>
          <a:p xmlns:a="http://schemas.openxmlformats.org/drawingml/2006/main">
            <a:r>
              <a:t/>
            </a:r>
          </a:p>
          <a:p xmlns:a="http://schemas.openxmlformats.org/drawingml/2006/main">
            <a:r>
              <a:t>We ran six separate fixed experiments while preserving the original model. The validation-selected direct classifier misses 15 positive test hours instead of persistence's 25. But it raises false alarms from 20 to 37, lowering precision from 98.01 to 96.41 percent. Its F1 remains lower than persistence. The neural candidate also loses.</a:t>
            </a:r>
          </a:p>
          <a:p xmlns:a="http://schemas.openxmlformats.org/drawingml/2006/main">
            <a:r>
              <a:t/>
            </a:r>
          </a:p>
          <a:p xmlns:a="http://schemas.openxmlformats.org/drawingml/2006/main">
            <a:r>
              <a:t>The roadmap prioritises precision because a false surplus prediction can be costly. Higher recall alone is not enough to promote this candidate. The experiments purge 24 hours at the training boundary, but this test period was already inspected. We need fresh held-out evidence before claiming a better next model.</a:t>
            </a:r>
          </a:p>
          <a:p xmlns:a="http://schemas.openxmlformats.org/drawingml/2006/main">
            <a:r>
              <a:t/>
            </a:r>
          </a:p>
          <a:p xmlns:a="http://schemas.openxmlformats.org/drawingml/2006/main">
            <a:r>
              <a:t>Source cue: `app/experiments/f1-001/README.md`. Direct classifier: F1 0.974535, precision 0.964147, recall 0.985149; persistence: 0.977667, 0.980100, 0.975248. No candidate wins all three.</a:t>
            </a:r>
          </a:p>
          <a:p xmlns:a="http://schemas.openxmlformats.org/drawingml/2006/main">
            <a:r>
              <a:t/>
            </a:r>
          </a:p>
          <a:p xmlns:a="http://schemas.openxmlformats.org/drawingml/2006/main">
            <a:r>
              <a:t/>
            </a:r>
          </a:p>
          <a:p xmlns:a="http://schemas.openxmlformats.org/drawingml/2006/main">
            <a:r>
              <a:t>Data and artifact provenance: delivery/Aktina-Deck-Source/inputs.sha256.json. Historical original remains unchanged.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9: Business hypotheses</a:t>
            </a:r>
          </a:p>
          <a:p xmlns:a="http://schemas.openxmlformats.org/drawingml/2006/main">
            <a:r>
              <a:t/>
            </a:r>
          </a:p>
          <a:p xmlns:a="http://schemas.openxmlformats.org/drawingml/2006/main">
            <a:r>
              <a:t>Business hypotheses</a:t>
            </a:r>
          </a:p>
          <a:p xmlns:a="http://schemas.openxmlformats.org/drawingml/2006/main">
            <a:r>
              <a:t/>
            </a:r>
          </a:p>
          <a:p xmlns:a="http://schemas.openxmlformats.org/drawingml/2006/main">
            <a:r>
              <a:t>The canvas separates potential Grid customers from Sites customers. Water operators would need integration and evidence that a plan fits their operations. Hotels or managed gardens would need usable meters and a measurable water-management problem. Setup fees, subscriptions and support are revenue hypotheses. We have not established pricing, willingness to pay, margins or customer agreements. Those assumptions need to be tested with prospective users.</a:t>
            </a:r>
          </a:p>
          <a:p xmlns:a="http://schemas.openxmlformats.org/drawingml/2006/main">
            <a:r>
              <a:t/>
            </a:r>
          </a:p>
          <a:p xmlns:a="http://schemas.openxmlformats.org/drawingml/2006/main">
            <a:r>
              <a:t>Presenter cue: show the updated one-page business model canvas; older PDF exports are excluded from the current review pack.</a:t>
            </a:r>
          </a:p>
          <a:p xmlns:a="http://schemas.openxmlformats.org/drawingml/2006/main">
            <a:r>
              <a:t/>
            </a:r>
          </a:p>
          <a:p xmlns:a="http://schemas.openxmlformats.org/drawingml/2006/main">
            <a:r>
              <a:t/>
            </a:r>
          </a:p>
          <a:p xmlns:a="http://schemas.openxmlformats.org/drawingml/2006/main">
            <a:r>
              <a:t>Data and artifact provenance: delivery/Aktina-Deck-Source/inputs.sha256.json. Historical original remains unchanged.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10: What the model does not establish</a:t>
            </a:r>
          </a:p>
          <a:p xmlns:a="http://schemas.openxmlformats.org/drawingml/2006/main">
            <a:r>
              <a:t/>
            </a:r>
          </a:p>
          <a:p xmlns:a="http://schemas.openxmlformats.org/drawingml/2006/main">
            <a:r>
              <a:t>What remains outside the model</a:t>
            </a:r>
          </a:p>
          <a:p xmlns:a="http://schemas.openxmlformats.org/drawingml/2006/main">
            <a:r>
              <a:t/>
            </a:r>
          </a:p>
          <a:p xmlns:a="http://schemas.openxmlformats.org/drawingml/2006/main">
            <a:r>
              <a:t>The supplied scheduler uses illustrative production, demand, tank and electricity assumptions. Demand includes the target day's recorded temperature, so this is a retrospective scenario. Pressure, flushing, water quality, ramps and maintenance are not established by these charts. A real operator would need to supply those constraints and approve any trial. There is no plant control connection, and no measured electricity-bill saving or solar recovery is claimed.</a:t>
            </a:r>
          </a:p>
          <a:p xmlns:a="http://schemas.openxmlformats.org/drawingml/2006/main">
            <a:r>
              <a:t/>
            </a:r>
          </a:p>
          <a:p xmlns:a="http://schemas.openxmlformats.org/drawingml/2006/main">
            <a:r>
              <a:t>Source cue: original `model/scheduler.py`; production 100–400 m³/h, tank 4,000 m³, minimum 800 m³, start 2,000 m³ at each period. Keep hourly endpoints distinct from continuous physical safety.</a:t>
            </a:r>
          </a:p>
          <a:p xmlns:a="http://schemas.openxmlformats.org/drawingml/2006/main">
            <a:r>
              <a:t/>
            </a:r>
          </a:p>
          <a:p xmlns:a="http://schemas.openxmlformats.org/drawingml/2006/main">
            <a:r>
              <a:t/>
            </a:r>
          </a:p>
          <a:p xmlns:a="http://schemas.openxmlformats.org/drawingml/2006/main">
            <a:r>
              <a:t>Data and artifact provenance: delivery/Aktina-Deck-Source/inputs.sha256.json. Historical original remains unchanged.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11: Next evidence</a:t>
            </a:r>
          </a:p>
          <a:p xmlns:a="http://schemas.openxmlformats.org/drawingml/2006/main">
            <a:r>
              <a:t/>
            </a:r>
          </a:p>
          <a:p xmlns:a="http://schemas.openxmlformats.org/drawingml/2006/main">
            <a:r>
              <a:t>Next evidence</a:t>
            </a:r>
          </a:p>
          <a:p xmlns:a="http://schemas.openxmlformats.org/drawingml/2006/main">
            <a:r>
              <a:t/>
            </a:r>
          </a:p>
          <a:p xmlns:a="http://schemas.openxmlformats.org/drawingml/2006/main">
            <a:r>
              <a:t>First, confirm which retained schedule should be submitted and rehearse the offline demo together. For the next model, controlled comparisons can test solar geometry, clear-sky normalisation and forecasts of tomorrow's cloud that were available today. Each addition needs a controlled comparison, fixed time boundaries and a fresh holdout. Difficult test hours must stay in the evaluation.</a:t>
            </a:r>
          </a:p>
          <a:p xmlns:a="http://schemas.openxmlformats.org/drawingml/2006/main">
            <a:r>
              <a:t/>
            </a:r>
          </a:p>
          <a:p xmlns:a="http://schemas.openxmlformats.org/drawingml/2006/main">
            <a:r>
              <a:t>For a pilot, we need an operator, a data contact and an agreed measurement plan. We would check plant constraints, demand, tariffs and available curtailment signals before considering an operational trial. The business case should follow measured results rather than assumed savings.</a:t>
            </a:r>
          </a:p>
          <a:p xmlns:a="http://schemas.openxmlformats.org/drawingml/2006/main">
            <a:r>
              <a:t/>
            </a:r>
          </a:p>
          <a:p xmlns:a="http://schemas.openxmlformats.org/drawingml/2006/main">
            <a:r>
              <a:t>Source cue: `app/handoff/MODEL-V2-FEEDBACK.md`. These are proposed v2 directions, not a completed v2 model or guaranteed gains. Two team rehearsals remain uncompleted.</a:t>
            </a:r>
          </a:p>
          <a:p xmlns:a="http://schemas.openxmlformats.org/drawingml/2006/main">
            <a:r>
              <a:t/>
            </a:r>
          </a:p>
          <a:p xmlns:a="http://schemas.openxmlformats.org/drawingml/2006/main">
            <a:r>
              <a:t/>
            </a:r>
          </a:p>
          <a:p xmlns:a="http://schemas.openxmlformats.org/drawingml/2006/main">
            <a:r>
              <a:t>Data and artifact provenance: delivery/Aktina-Deck-Source/inputs.sha256.json. Historical original remains unchanged.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12: The team and the ask</a:t>
            </a:r>
          </a:p>
          <a:p xmlns:a="http://schemas.openxmlformats.org/drawingml/2006/main">
            <a:r>
              <a:t/>
            </a:r>
          </a:p>
          <a:p xmlns:a="http://schemas.openxmlformats.org/drawingml/2006/main">
            <a:r>
              <a:t>Team and ask</a:t>
            </a:r>
          </a:p>
          <a:p xmlns:a="http://schemas.openxmlformats.org/drawingml/2006/main">
            <a:r>
              <a:t/>
            </a:r>
          </a:p>
          <a:p xmlns:a="http://schemas.openxmlformats.org/drawingml/2006/main">
            <a:r>
              <a:t>Our team is Loukas Louka, Stefanos Bordea, Andreas Nikolaides and Cleopas Cleopa. We are asking for a Paphos operator and a data contact to help test the idea against real operating needs. The current evidence gives us a reviewable starting point, with its limits visible.</a:t>
            </a:r>
          </a:p>
          <a:p xmlns:a="http://schemas.openxmlformats.org/drawingml/2006/main">
            <a:r>
              <a:t/>
            </a:r>
          </a:p>
          <a:p xmlns:a="http://schemas.openxmlformats.org/drawingml/2006/main">
            <a:r>
              <a:t>Preparation checks: confirm the team contact, final slide alignment, required competition declarations and intended schedule before submission. Keep the original source credits and third-party licences. Keep the earlier reference experiment distinct from the original model.</a:t>
            </a:r>
          </a:p>
          <a:p xmlns:a="http://schemas.openxmlformats.org/drawingml/2006/main">
            <a:r>
              <a:t/>
            </a:r>
          </a:p>
          <a:p xmlns:a="http://schemas.openxmlformats.org/drawingml/2006/main">
            <a:r>
              <a:t/>
            </a:r>
          </a:p>
          <a:p xmlns:a="http://schemas.openxmlformats.org/drawingml/2006/main">
            <a:r>
              <a:t>Data and artifact provenance: delivery/Aktina-Deck-Source/inputs.sha256.json. Historical original remains unchanged.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163fd572298e478f"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69aa0adf285447fa" /><Relationship Type="http://schemas.openxmlformats.org/officeDocument/2006/relationships/slideLayout" Target="/ppt/slideLayouts/slideLayout1.xml" Id="R3ee7606006de4f1b"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ee7606006de4f1b"/>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eda417c1f7004d32" /><Relationship Type="http://schemas.openxmlformats.org/officeDocument/2006/relationships/notesSlide" Target="/ppt/notesSlides/notesSlide1.xml" Id="R6daed0aacbee47f1"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6b772e4c8960495e" /><Relationship Type="http://schemas.openxmlformats.org/officeDocument/2006/relationships/notesSlide" Target="/ppt/notesSlides/notesSlide2.xml" Id="Reb11c55bf64e4b5c"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9dd474eb2fc24564" /><Relationship Type="http://schemas.openxmlformats.org/officeDocument/2006/relationships/notesSlide" Target="/ppt/notesSlides/notesSlide3.xml" Id="R1a102cdf0c104858"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d2ced42d42b64ba3" /><Relationship Type="http://schemas.openxmlformats.org/officeDocument/2006/relationships/notesSlide" Target="/ppt/notesSlides/notesSlide4.xml" Id="Re55f4c3627f549ed"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5d39326f3ee04904" /><Relationship Type="http://schemas.openxmlformats.org/officeDocument/2006/relationships/chart" Target="/ppt/slides/charts/chart1.xml" Id="R8062a601069e46f0" /><Relationship Type="http://schemas.openxmlformats.org/officeDocument/2006/relationships/chart" Target="/ppt/slides/charts/chart2.xml" Id="Rcc505643e9444667" /><Relationship Type="http://schemas.openxmlformats.org/officeDocument/2006/relationships/notesSlide" Target="/ppt/notesSlides/notesSlide5.xml" Id="R93f94c699b784d5c"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468cc43930964be2" /><Relationship Type="http://schemas.openxmlformats.org/officeDocument/2006/relationships/image" Target="/ppt/media/image.jpeg" Id="R969b1f90c25d49d6" /><Relationship Type="http://schemas.openxmlformats.org/officeDocument/2006/relationships/notesSlide" Target="/ppt/notesSlides/notesSlide6.xml" Id="Ra92783eac65d491b"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f2bcd137cd084940" /><Relationship Type="http://schemas.openxmlformats.org/officeDocument/2006/relationships/chart" Target="/ppt/slides/charts/chart3.xml" Id="Rf9c4a06f65114eac" /><Relationship Type="http://schemas.openxmlformats.org/officeDocument/2006/relationships/notesSlide" Target="/ppt/notesSlides/notesSlide7.xml" Id="Ra986f0be0a314a54"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e681f22398cb4145" /><Relationship Type="http://schemas.openxmlformats.org/officeDocument/2006/relationships/chart" Target="/ppt/slides/charts/chart4.xml" Id="R584b516242374d4a" /><Relationship Type="http://schemas.openxmlformats.org/officeDocument/2006/relationships/notesSlide" Target="/ppt/notesSlides/notesSlide8.xml" Id="Rd2fdff4593d9401d"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b51fbefe50684c3f" /><Relationship Type="http://schemas.openxmlformats.org/officeDocument/2006/relationships/notesSlide" Target="/ppt/notesSlides/notesSlide9.xml" Id="Rbe97cb90bca848c3"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8473afb8c45842a6" /><Relationship Type="http://schemas.openxmlformats.org/officeDocument/2006/relationships/notesSlide" Target="/ppt/notesSlides/notesSlide10.xml" Id="R14b709e399414ffc"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d7c87b4001b3417f" /><Relationship Type="http://schemas.openxmlformats.org/officeDocument/2006/relationships/notesSlide" Target="/ppt/notesSlides/notesSlide11.xml" Id="R2e34b99f831647bd"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f997a3f3c2014443" /><Relationship Type="http://schemas.openxmlformats.org/officeDocument/2006/relationships/notesSlide" Target="/ppt/notesSlides/notesSlide12.xml" Id="R4af6a9c91a6f4bdd"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_rels/chart4.xml.rels><Relationships xmlns="http://schemas.openxmlformats.org/package/2006/relationships"><Relationship Id="rIdChartSnapshot1" Type="http://schemas.openxmlformats.org/officeDocument/2006/relationships/package" Target="../../embeddings/chart-data-snapshot-004.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Flat</c:v>
          </c:tx>
          <c:spPr>
            <a:solidFill xmlns:a="http://schemas.openxmlformats.org/drawingml/2006/main">
              <a:srgbClr val="A0A0A0"/>
            </a:solidFill>
          </c:spPr>
          <c:cat>
            <c:numRef>
              <c:f>'Chart Data'!$A$2:$A$25</c:f>
              <c:numCache>
                <c:formatCode>General</c:formatCode>
                <c:ptCount val="24"/>
                <c:pt idx="0">
                  <c:v>00</c:v>
                </c:pt>
                <c:pt idx="1">
                  <c:v>01</c:v>
                </c:pt>
                <c:pt idx="2">
                  <c:v>02</c:v>
                </c:pt>
                <c:pt idx="3">
                  <c:v>03</c:v>
                </c:pt>
                <c:pt idx="4">
                  <c:v>04</c:v>
                </c:pt>
                <c:pt idx="5">
                  <c:v>05</c:v>
                </c:pt>
                <c:pt idx="6">
                  <c:v>06</c:v>
                </c:pt>
                <c:pt idx="7">
                  <c:v>07</c:v>
                </c:pt>
                <c:pt idx="8">
                  <c:v>08</c:v>
                </c:pt>
                <c:pt idx="9">
                  <c:v>09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numCache>
            </c:numRef>
          </c:cat>
          <c:val>
            <c:numRef>
              <c:f>'Chart Data'!$B$2:$B$25</c:f>
              <c:numCache>
                <c:formatCode>General</c:formatCode>
                <c:ptCount val="24"/>
                <c:pt idx="0">
                  <c:v>235.75</c:v>
                </c:pt>
                <c:pt idx="1">
                  <c:v>235.75</c:v>
                </c:pt>
                <c:pt idx="2">
                  <c:v>235.75</c:v>
                </c:pt>
                <c:pt idx="3">
                  <c:v>235.75</c:v>
                </c:pt>
                <c:pt idx="4">
                  <c:v>235.75</c:v>
                </c:pt>
                <c:pt idx="5">
                  <c:v>235.75</c:v>
                </c:pt>
                <c:pt idx="6">
                  <c:v>235.75</c:v>
                </c:pt>
                <c:pt idx="7">
                  <c:v>235.75</c:v>
                </c:pt>
                <c:pt idx="8">
                  <c:v>235.75</c:v>
                </c:pt>
                <c:pt idx="9">
                  <c:v>235.75</c:v>
                </c:pt>
                <c:pt idx="10">
                  <c:v>235.75</c:v>
                </c:pt>
                <c:pt idx="11">
                  <c:v>235.75</c:v>
                </c:pt>
                <c:pt idx="12">
                  <c:v>235.75</c:v>
                </c:pt>
                <c:pt idx="13">
                  <c:v>235.75</c:v>
                </c:pt>
                <c:pt idx="14">
                  <c:v>235.75</c:v>
                </c:pt>
                <c:pt idx="15">
                  <c:v>235.75</c:v>
                </c:pt>
                <c:pt idx="16">
                  <c:v>235.75</c:v>
                </c:pt>
                <c:pt idx="17">
                  <c:v>235.75</c:v>
                </c:pt>
                <c:pt idx="18">
                  <c:v>235.75</c:v>
                </c:pt>
                <c:pt idx="19">
                  <c:v>235.75</c:v>
                </c:pt>
                <c:pt idx="20">
                  <c:v>235.75</c:v>
                </c:pt>
                <c:pt idx="21">
                  <c:v>235.75</c:v>
                </c:pt>
                <c:pt idx="22">
                  <c:v>235.75</c:v>
                </c:pt>
                <c:pt idx="23">
                  <c:v>235.75</c:v>
                </c:pt>
              </c:numCache>
            </c:numRef>
          </c:val>
        </c:ser>
        <c:ser>
          <c:idx val="1"/>
          <c:order val="1"/>
          <c:tx>
            <c:v>Supplied</c:v>
          </c:tx>
          <c:spPr>
            <a:solidFill xmlns:a="http://schemas.openxmlformats.org/drawingml/2006/main">
              <a:srgbClr val="141414"/>
            </a:solidFill>
          </c:spPr>
          <c:cat>
            <c:numRef>
              <c:f>'Chart Data'!$C$2:$C$25</c:f>
              <c:numCache>
                <c:formatCode>General</c:formatCode>
                <c:ptCount val="24"/>
                <c:pt idx="0">
                  <c:v>00</c:v>
                </c:pt>
                <c:pt idx="1">
                  <c:v>01</c:v>
                </c:pt>
                <c:pt idx="2">
                  <c:v>02</c:v>
                </c:pt>
                <c:pt idx="3">
                  <c:v>03</c:v>
                </c:pt>
                <c:pt idx="4">
                  <c:v>04</c:v>
                </c:pt>
                <c:pt idx="5">
                  <c:v>05</c:v>
                </c:pt>
                <c:pt idx="6">
                  <c:v>06</c:v>
                </c:pt>
                <c:pt idx="7">
                  <c:v>07</c:v>
                </c:pt>
                <c:pt idx="8">
                  <c:v>08</c:v>
                </c:pt>
                <c:pt idx="9">
                  <c:v>09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numCache>
            </c:numRef>
          </c:cat>
          <c:val>
            <c:numRef>
              <c:f>'Chart Data'!$D$2:$D$25</c:f>
              <c:numCache>
                <c:formatCode>General</c:formatCode>
                <c:ptCount val="24"/>
                <c:pt idx="0">
                  <c:v>162</c:v>
                </c:pt>
                <c:pt idx="1">
                  <c:v>100</c:v>
                </c:pt>
                <c:pt idx="2">
                  <c:v>100</c:v>
                </c:pt>
                <c:pt idx="3">
                  <c:v>100</c:v>
                </c:pt>
                <c:pt idx="4">
                  <c:v>100</c:v>
                </c:pt>
                <c:pt idx="5">
                  <c:v>100</c:v>
                </c:pt>
                <c:pt idx="6">
                  <c:v>299</c:v>
                </c:pt>
                <c:pt idx="7">
                  <c:v>299</c:v>
                </c:pt>
                <c:pt idx="8">
                  <c:v>299</c:v>
                </c:pt>
                <c:pt idx="9">
                  <c:v>299</c:v>
                </c:pt>
                <c:pt idx="10">
                  <c:v>400</c:v>
                </c:pt>
                <c:pt idx="11">
                  <c:v>400</c:v>
                </c:pt>
                <c:pt idx="12">
                  <c:v>400</c:v>
                </c:pt>
                <c:pt idx="13">
                  <c:v>400</c:v>
                </c:pt>
                <c:pt idx="14">
                  <c:v>400</c:v>
                </c:pt>
                <c:pt idx="15">
                  <c:v>400</c:v>
                </c:pt>
                <c:pt idx="16">
                  <c:v>400</c:v>
                </c:pt>
                <c:pt idx="17">
                  <c:v>400</c:v>
                </c:pt>
                <c:pt idx="18">
                  <c:v>100</c:v>
                </c:pt>
                <c:pt idx="19">
                  <c:v>100</c:v>
                </c:pt>
                <c:pt idx="20">
                  <c:v>100</c:v>
                </c:pt>
                <c:pt idx="21">
                  <c:v>100</c:v>
                </c:pt>
                <c:pt idx="22">
                  <c:v>100</c:v>
                </c:pt>
                <c:pt idx="23">
                  <c:v>100</c:v>
                </c:pt>
              </c:numCache>
            </c:numRef>
          </c: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gapWidth val="9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8D8D8"/>
            </a:solidFill>
          </a:ln>
        </c:spPr>
        <c:txPr>
          <a:bodyPr xmlns:a="http://schemas.openxmlformats.org/drawingml/2006/main" anchorCtr="1"/>
          <a:lstStyle xmlns:a="http://schemas.openxmlformats.org/drawingml/2006/main"/>
          <a:p xmlns:a="http://schemas.openxmlformats.org/drawingml/2006/main">
            <a:pPr>
              <a:defRPr sz="1350">
                <a:solidFill>
                  <a:srgbClr val="626262"/>
                </a:solidFill>
                <a:latin typeface="Arial"/>
                <a:ea typeface="Arial"/>
                <a:cs typeface="Arial"/>
              </a:defRPr>
            </a:pPr>
          </a:p>
        </c:txPr>
        <c:crossAx val="48672768"/>
      </c:catAx>
      <c:valAx>
        <c:axId val="48672768"/>
        <c:scaling>
          <c:orientation val="minMax"/>
          <c:max val="400"/>
          <c:min val="0"/>
        </c:scaling>
        <c:delete val="0"/>
        <c:axPos val="l"/>
        <c:majorGridlines>
          <c:spPr>
            <a:ln xmlns:a="http://schemas.openxmlformats.org/drawingml/2006/main" w="9525">
              <a:solidFill>
                <a:srgbClr val="D8D8D8"/>
              </a:solidFill>
            </a:ln>
          </c:spPr>
        </c:majorGridlines>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26262"/>
                </a:solidFill>
                <a:latin typeface="Arial"/>
                <a:ea typeface="Arial"/>
                <a:cs typeface="Arial"/>
              </a:defRPr>
            </a:pPr>
          </a:p>
        </c:txPr>
        <c:crossAx val="48650112"/>
        <c:crossBetween val="between"/>
        <c:majorUnit val="200"/>
      </c:valAx>
      <c:spPr>
        <a:noFill xmlns:a="http://schemas.openxmlformats.org/drawingml/2006/main"/>
        <a:ln xmlns:a="http://schemas.openxmlformats.org/drawingml/2006/main" w="0">
          <a:noFill/>
        </a:ln>
      </c:spPr>
    </c:plotArea>
    <c:legend>
      <c:legendPos val="b"/>
      <c:overlay val="0"/>
      <c:txPr>
        <a:bodyPr xmlns:a="http://schemas.openxmlformats.org/drawingml/2006/main" anchorCtr="1"/>
        <a:lstStyle xmlns:a="http://schemas.openxmlformats.org/drawingml/2006/main"/>
        <a:p xmlns:a="http://schemas.openxmlformats.org/drawingml/2006/main">
          <a:pPr>
            <a:defRPr sz="1500">
              <a:solidFill>
                <a:srgbClr val="141414"/>
              </a:solidFill>
              <a:latin typeface="Arial"/>
              <a:ea typeface="Arial"/>
              <a:cs typeface="Arial"/>
            </a:defRPr>
          </a:pPr>
        </a:p>
      </c:txPr>
    </c:legend>
    <c:plotVisOnly val="1"/>
  </c:chart>
  <c:spPr>
    <a:noFill xmlns:a="http://schemas.openxmlformats.org/drawingml/2006/main"/>
    <a:ln xmlns:a="http://schemas.openxmlformats.org/drawingml/2006/main" w="0">
      <a:noFill/>
    </a:ln>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lineChart>
        <c:grouping val="standard"/>
        <c:varyColors val="0"/>
        <c:ser>
          <c:idx val="0"/>
          <c:order val="0"/>
          <c:tx>
            <c:v>Tank</c:v>
          </c:tx>
          <c:spPr>
            <a:ln xmlns:a="http://schemas.openxmlformats.org/drawingml/2006/main" w="28575">
              <a:solidFill>
                <a:srgbClr val="141414"/>
              </a:solidFill>
            </a:ln>
          </c:spPr>
          <c:marker>
            <c:symbol val="none"/>
          </c:marker>
          <c:cat>
            <c:numRef>
              <c:f>'Chart Data'!$A$2:$A$26</c:f>
              <c:numCache>
                <c:formatCode>General</c:formatCode>
                <c:ptCount val="25"/>
                <c:pt idx="0">
                  <c:v>00</c:v>
                </c:pt>
                <c:pt idx="1">
                  <c:v>01</c:v>
                </c:pt>
                <c:pt idx="2">
                  <c:v>02</c:v>
                </c:pt>
                <c:pt idx="3">
                  <c:v>03</c:v>
                </c:pt>
                <c:pt idx="4">
                  <c:v>04</c:v>
                </c:pt>
                <c:pt idx="5">
                  <c:v>05</c:v>
                </c:pt>
                <c:pt idx="6">
                  <c:v>06</c:v>
                </c:pt>
                <c:pt idx="7">
                  <c:v>07</c:v>
                </c:pt>
                <c:pt idx="8">
                  <c:v>08</c:v>
                </c:pt>
                <c:pt idx="9">
                  <c:v>09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numCache>
            </c:numRef>
          </c:cat>
          <c:val>
            <c:numRef>
              <c:f>'Chart Data'!$B$2:$B$26</c:f>
              <c:numCache>
                <c:formatCode>General</c:formatCode>
                <c:ptCount val="25"/>
                <c:pt idx="0">
                  <c:v>966</c:v>
                </c:pt>
                <c:pt idx="1">
                  <c:v>990</c:v>
                </c:pt>
                <c:pt idx="2">
                  <c:v>952</c:v>
                </c:pt>
                <c:pt idx="3">
                  <c:v>914</c:v>
                </c:pt>
                <c:pt idx="4">
                  <c:v>876</c:v>
                </c:pt>
                <c:pt idx="5">
                  <c:v>838</c:v>
                </c:pt>
                <c:pt idx="6">
                  <c:v>800</c:v>
                </c:pt>
                <c:pt idx="7">
                  <c:v>800</c:v>
                </c:pt>
                <c:pt idx="8">
                  <c:v>800</c:v>
                </c:pt>
                <c:pt idx="9">
                  <c:v>800</c:v>
                </c:pt>
                <c:pt idx="10">
                  <c:v>800</c:v>
                </c:pt>
                <c:pt idx="11">
                  <c:v>970</c:v>
                </c:pt>
                <c:pt idx="12">
                  <c:v>1140</c:v>
                </c:pt>
                <c:pt idx="13">
                  <c:v>1310</c:v>
                </c:pt>
                <c:pt idx="14">
                  <c:v>1480</c:v>
                </c:pt>
                <c:pt idx="15">
                  <c:v>1650</c:v>
                </c:pt>
                <c:pt idx="16">
                  <c:v>1820</c:v>
                </c:pt>
                <c:pt idx="17">
                  <c:v>1990</c:v>
                </c:pt>
                <c:pt idx="18">
                  <c:v>2160</c:v>
                </c:pt>
                <c:pt idx="19">
                  <c:v>1938</c:v>
                </c:pt>
                <c:pt idx="20">
                  <c:v>1716</c:v>
                </c:pt>
                <c:pt idx="21">
                  <c:v>1494</c:v>
                </c:pt>
                <c:pt idx="22">
                  <c:v>1272</c:v>
                </c:pt>
                <c:pt idx="23">
                  <c:v>1050</c:v>
                </c:pt>
                <c:pt idx="24">
                  <c:v>966</c:v>
                </c:pt>
              </c:numCache>
            </c:numRef>
          </c:val>
          <c:smooth val="0"/>
        </c:ser>
        <c:ser>
          <c:idx val="1"/>
          <c:order val="1"/>
          <c:tx>
            <c:v>Minimum</c:v>
          </c:tx>
          <c:spPr>
            <a:ln xmlns:a="http://schemas.openxmlformats.org/drawingml/2006/main" w="9525">
              <a:solidFill>
                <a:srgbClr val="999999"/>
              </a:solidFill>
            </a:ln>
          </c:spPr>
          <c:marker>
            <c:symbol val="none"/>
          </c:marker>
          <c:cat>
            <c:numRef>
              <c:f>'Chart Data'!$C$2:$C$26</c:f>
              <c:numCache>
                <c:formatCode>General</c:formatCode>
                <c:ptCount val="25"/>
                <c:pt idx="0">
                  <c:v>00</c:v>
                </c:pt>
                <c:pt idx="1">
                  <c:v>01</c:v>
                </c:pt>
                <c:pt idx="2">
                  <c:v>02</c:v>
                </c:pt>
                <c:pt idx="3">
                  <c:v>03</c:v>
                </c:pt>
                <c:pt idx="4">
                  <c:v>04</c:v>
                </c:pt>
                <c:pt idx="5">
                  <c:v>05</c:v>
                </c:pt>
                <c:pt idx="6">
                  <c:v>06</c:v>
                </c:pt>
                <c:pt idx="7">
                  <c:v>07</c:v>
                </c:pt>
                <c:pt idx="8">
                  <c:v>08</c:v>
                </c:pt>
                <c:pt idx="9">
                  <c:v>09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numCache>
            </c:numRef>
          </c:cat>
          <c:val>
            <c:numRef>
              <c:f>'Chart Data'!$D$2:$D$26</c:f>
              <c:numCache>
                <c:formatCode>General</c:formatCode>
                <c:ptCount val="25"/>
                <c:pt idx="0">
                  <c:v>800</c:v>
                </c:pt>
                <c:pt idx="1">
                  <c:v>800</c:v>
                </c:pt>
                <c:pt idx="2">
                  <c:v>800</c:v>
                </c:pt>
                <c:pt idx="3">
                  <c:v>800</c:v>
                </c:pt>
                <c:pt idx="4">
                  <c:v>800</c:v>
                </c:pt>
                <c:pt idx="5">
                  <c:v>800</c:v>
                </c:pt>
                <c:pt idx="6">
                  <c:v>800</c:v>
                </c:pt>
                <c:pt idx="7">
                  <c:v>800</c:v>
                </c:pt>
                <c:pt idx="8">
                  <c:v>800</c:v>
                </c:pt>
                <c:pt idx="9">
                  <c:v>800</c:v>
                </c:pt>
                <c:pt idx="10">
                  <c:v>800</c:v>
                </c:pt>
                <c:pt idx="11">
                  <c:v>800</c:v>
                </c:pt>
                <c:pt idx="12">
                  <c:v>800</c:v>
                </c:pt>
                <c:pt idx="13">
                  <c:v>800</c:v>
                </c:pt>
                <c:pt idx="14">
                  <c:v>800</c:v>
                </c:pt>
                <c:pt idx="15">
                  <c:v>800</c:v>
                </c:pt>
                <c:pt idx="16">
                  <c:v>800</c:v>
                </c:pt>
                <c:pt idx="17">
                  <c:v>800</c:v>
                </c:pt>
                <c:pt idx="18">
                  <c:v>800</c:v>
                </c:pt>
                <c:pt idx="19">
                  <c:v>800</c:v>
                </c:pt>
                <c:pt idx="20">
                  <c:v>800</c:v>
                </c:pt>
                <c:pt idx="21">
                  <c:v>800</c:v>
                </c:pt>
                <c:pt idx="22">
                  <c:v>800</c:v>
                </c:pt>
                <c:pt idx="23">
                  <c:v>800</c:v>
                </c:pt>
                <c:pt idx="24">
                  <c:v>800</c:v>
                </c:pt>
              </c:numCache>
            </c:numRef>
          </c: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smooth val="0"/>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D8D8D8"/>
            </a:solidFill>
          </a:ln>
        </c:spPr>
        <c:txPr>
          <a:bodyPr xmlns:a="http://schemas.openxmlformats.org/drawingml/2006/main" anchorCtr="1"/>
          <a:lstStyle xmlns:a="http://schemas.openxmlformats.org/drawingml/2006/main"/>
          <a:p xmlns:a="http://schemas.openxmlformats.org/drawingml/2006/main">
            <a:pPr>
              <a:defRPr sz="1350">
                <a:solidFill>
                  <a:srgbClr val="626262"/>
                </a:solidFill>
                <a:latin typeface="Arial"/>
                <a:ea typeface="Arial"/>
                <a:cs typeface="Arial"/>
              </a:defRPr>
            </a:pPr>
          </a:p>
        </c:txPr>
        <c:crossAx val="48672768"/>
      </c:catAx>
      <c:valAx>
        <c:axId val="48672768"/>
        <c:scaling>
          <c:orientation val="minMax"/>
          <c:max val="4000"/>
          <c:min val="0"/>
        </c:scaling>
        <c:delete val="0"/>
        <c:axPos val="l"/>
        <c:majorGridlines>
          <c:spPr>
            <a:ln xmlns:a="http://schemas.openxmlformats.org/drawingml/2006/main" w="9525">
              <a:solidFill>
                <a:srgbClr val="D8D8D8"/>
              </a:solidFill>
            </a:ln>
          </c:spPr>
        </c:majorGridlines>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26262"/>
                </a:solidFill>
                <a:latin typeface="Arial"/>
                <a:ea typeface="Arial"/>
                <a:cs typeface="Arial"/>
              </a:defRPr>
            </a:pPr>
          </a:p>
        </c:txPr>
        <c:crossAx val="48650112"/>
        <c:crossBetween val="between"/>
        <c:majorUnit val="2000"/>
      </c:valAx>
      <c:spPr>
        <a:noFill xmlns:a="http://schemas.openxmlformats.org/drawingml/2006/main"/>
        <a:ln xmlns:a="http://schemas.openxmlformats.org/drawingml/2006/main" w="0">
          <a:noFill/>
        </a:ln>
      </c:spPr>
    </c:plotArea>
    <c:plotVisOnly val="1"/>
  </c:chart>
  <c:spPr>
    <a:noFill xmlns:a="http://schemas.openxmlformats.org/drawingml/2006/main"/>
    <a:ln xmlns:a="http://schemas.openxmlformats.org/drawingml/2006/main" w="0">
      <a:noFill/>
    </a:ln>
  </c:spPr>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LightGBM</c:v>
          </c:tx>
          <c:spPr>
            <a:solidFill xmlns:a="http://schemas.openxmlformats.org/drawingml/2006/main">
              <a:srgbClr val="141414"/>
            </a:solidFill>
          </c:spPr>
          <c:cat>
            <c:strRef>
              <c:f>'Chart Data'!$A$2:$A$3</c:f>
              <c:strCache>
                <c:ptCount val="2"/>
                <c:pt idx="0">
                  <c:v>Validation</c:v>
                </c:pt>
                <c:pt idx="1">
                  <c:v>Test</c:v>
                </c:pt>
              </c:strCache>
            </c:strRef>
          </c:cat>
          <c:val>
            <c:numRef>
              <c:f>'Chart Data'!$B$2:$B$3</c:f>
              <c:numCache>
                <c:formatCode>0.00</c:formatCode>
                <c:ptCount val="2"/>
                <c:pt idx="0">
                  <c:v>29.337469</c:v>
                </c:pt>
                <c:pt idx="1">
                  <c:v>14.265815</c:v>
                </c:pt>
              </c:numCache>
            </c:numRef>
          </c:val>
        </c:ser>
        <c:ser>
          <c:idx val="1"/>
          <c:order val="1"/>
          <c:tx>
            <c:v>Persistence</c:v>
          </c:tx>
          <c:spPr>
            <a:solidFill xmlns:a="http://schemas.openxmlformats.org/drawingml/2006/main">
              <a:srgbClr val="999999"/>
            </a:solidFill>
          </c:spPr>
          <c:cat>
            <c:strRef>
              <c:f>'Chart Data'!$C$2:$C$3</c:f>
              <c:strCache>
                <c:ptCount val="2"/>
                <c:pt idx="0">
                  <c:v>Validation</c:v>
                </c:pt>
                <c:pt idx="1">
                  <c:v>Test</c:v>
                </c:pt>
              </c:strCache>
            </c:strRef>
          </c:cat>
          <c:val>
            <c:numRef>
              <c:f>'Chart Data'!$D$2:$D$3</c:f>
              <c:numCache>
                <c:formatCode>0.00</c:formatCode>
                <c:ptCount val="2"/>
                <c:pt idx="0">
                  <c:v>32.469434</c:v>
                </c:pt>
                <c:pt idx="1">
                  <c:v>12.259322</c:v>
                </c:pt>
              </c:numCache>
            </c:numRef>
          </c:val>
        </c:ser>
        <c:dLbls>
          <c:txPr>
            <a:bodyPr xmlns:a="http://schemas.openxmlformats.org/drawingml/2006/main" anchorCtr="1"/>
            <a:lstStyle xmlns:a="http://schemas.openxmlformats.org/drawingml/2006/main"/>
            <a:p xmlns:a="http://schemas.openxmlformats.org/drawingml/2006/main">
              <a:pPr>
                <a:defRPr sz="1875">
                  <a:solidFill>
                    <a:srgbClr val="141414"/>
                  </a:solidFill>
                  <a:latin typeface="Arial"/>
                  <a:ea typeface="Arial"/>
                  <a:cs typeface="Arial"/>
                </a:defRPr>
              </a:pPr>
            </a:p>
          </c:txPr>
          <c:dLblPos val="outEnd"/>
          <c:showLegendKey val="0"/>
          <c:showVal val="1"/>
          <c:showCatName val="0"/>
          <c:showSerName val="0"/>
          <c:showPercent val="0"/>
          <c:showBubbleSize val="0"/>
          <c:showLeaderLines val="0"/>
        </c:dLbls>
        <c:gapWidth val="9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8D8D8"/>
            </a:solidFill>
          </a:ln>
        </c:spPr>
        <c:txPr>
          <a:bodyPr xmlns:a="http://schemas.openxmlformats.org/drawingml/2006/main" anchorCtr="1"/>
          <a:lstStyle xmlns:a="http://schemas.openxmlformats.org/drawingml/2006/main"/>
          <a:p xmlns:a="http://schemas.openxmlformats.org/drawingml/2006/main">
            <a:pPr>
              <a:defRPr sz="1350">
                <a:solidFill>
                  <a:srgbClr val="626262"/>
                </a:solidFill>
                <a:latin typeface="Arial"/>
                <a:ea typeface="Arial"/>
                <a:cs typeface="Arial"/>
              </a:defRPr>
            </a:pPr>
          </a:p>
        </c:txPr>
        <c:crossAx val="48672768"/>
      </c:catAx>
      <c:valAx>
        <c:axId val="48672768"/>
        <c:scaling>
          <c:orientation val="minMax"/>
          <c:max val="40"/>
          <c:min val="0"/>
        </c:scaling>
        <c:delete val="0"/>
        <c:axPos val="l"/>
        <c:majorGridlines>
          <c:spPr>
            <a:ln xmlns:a="http://schemas.openxmlformats.org/drawingml/2006/main" w="9525">
              <a:solidFill>
                <a:srgbClr val="D8D8D8"/>
              </a:solidFill>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75">
                <a:solidFill>
                  <a:srgbClr val="626262"/>
                </a:solidFill>
                <a:latin typeface="Arial"/>
                <a:ea typeface="Arial"/>
                <a:cs typeface="Arial"/>
              </a:defRPr>
            </a:pPr>
          </a:p>
        </c:txPr>
        <c:crossAx val="48650112"/>
        <c:crossBetween val="between"/>
        <c:majorUnit val="10"/>
      </c:valAx>
      <c:spPr>
        <a:noFill xmlns:a="http://schemas.openxmlformats.org/drawingml/2006/main"/>
        <a:ln xmlns:a="http://schemas.openxmlformats.org/drawingml/2006/main" w="0">
          <a:noFill/>
        </a:ln>
      </c:spPr>
    </c:plotArea>
    <c:legend>
      <c:legendPos val="b"/>
      <c:overlay val="0"/>
      <c:txPr>
        <a:bodyPr xmlns:a="http://schemas.openxmlformats.org/drawingml/2006/main" anchorCtr="1"/>
        <a:lstStyle xmlns:a="http://schemas.openxmlformats.org/drawingml/2006/main"/>
        <a:p xmlns:a="http://schemas.openxmlformats.org/drawingml/2006/main">
          <a:pPr>
            <a:defRPr sz="1500">
              <a:solidFill>
                <a:srgbClr val="141414"/>
              </a:solidFill>
              <a:latin typeface="Arial"/>
              <a:ea typeface="Arial"/>
              <a:cs typeface="Arial"/>
            </a:defRPr>
          </a:pPr>
        </a:p>
      </c:txPr>
    </c:legend>
    <c:plotVisOnly val="1"/>
  </c:chart>
  <c:spPr>
    <a:noFill xmlns:a="http://schemas.openxmlformats.org/drawingml/2006/main"/>
    <a:ln xmlns:a="http://schemas.openxmlformats.org/drawingml/2006/main" w="0">
      <a:noFill/>
    </a:ln>
  </c:spPr>
  <c:externalData r:id="rIdChartSnapshot1">
    <c:autoUpdate val="0"/>
  </c:externalData>
</c:chartSpace>
</file>

<file path=ppt/slides/charts/chart4.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Persistence</c:v>
          </c:tx>
          <c:spPr>
            <a:solidFill xmlns:a="http://schemas.openxmlformats.org/drawingml/2006/main">
              <a:srgbClr val="999999"/>
            </a:solidFill>
          </c:spPr>
          <c:cat>
            <c:strRef>
              <c:f>'Chart Data'!$A$2:$A$3</c:f>
              <c:strCache>
                <c:ptCount val="2"/>
                <c:pt idx="0">
                  <c:v>Missed positive hours</c:v>
                </c:pt>
                <c:pt idx="1">
                  <c:v>False alarms</c:v>
                </c:pt>
              </c:strCache>
            </c:strRef>
          </c:cat>
          <c:val>
            <c:numRef>
              <c:f>'Chart Data'!$B$2:$B$3</c:f>
              <c:numCache>
                <c:formatCode>0</c:formatCode>
                <c:ptCount val="2"/>
                <c:pt idx="0">
                  <c:v>25</c:v>
                </c:pt>
                <c:pt idx="1">
                  <c:v>20</c:v>
                </c:pt>
              </c:numCache>
            </c:numRef>
          </c:val>
        </c:ser>
        <c:ser>
          <c:idx val="1"/>
          <c:order val="1"/>
          <c:tx>
            <c:v>Direct classifier</c:v>
          </c:tx>
          <c:spPr>
            <a:solidFill xmlns:a="http://schemas.openxmlformats.org/drawingml/2006/main">
              <a:srgbClr val="141414"/>
            </a:solidFill>
          </c:spPr>
          <c:cat>
            <c:strRef>
              <c:f>'Chart Data'!$C$2:$C$3</c:f>
              <c:strCache>
                <c:ptCount val="2"/>
                <c:pt idx="0">
                  <c:v>Missed positive hours</c:v>
                </c:pt>
                <c:pt idx="1">
                  <c:v>False alarms</c:v>
                </c:pt>
              </c:strCache>
            </c:strRef>
          </c:cat>
          <c:val>
            <c:numRef>
              <c:f>'Chart Data'!$D$2:$D$3</c:f>
              <c:numCache>
                <c:formatCode>0</c:formatCode>
                <c:ptCount val="2"/>
                <c:pt idx="0">
                  <c:v>15</c:v>
                </c:pt>
                <c:pt idx="1">
                  <c:v>37</c:v>
                </c:pt>
              </c:numCache>
            </c:numRef>
          </c:val>
        </c:ser>
        <c:dLbls>
          <c:txPr>
            <a:bodyPr xmlns:a="http://schemas.openxmlformats.org/drawingml/2006/main" anchorCtr="1"/>
            <a:lstStyle xmlns:a="http://schemas.openxmlformats.org/drawingml/2006/main"/>
            <a:p xmlns:a="http://schemas.openxmlformats.org/drawingml/2006/main">
              <a:pPr>
                <a:defRPr sz="1875">
                  <a:solidFill>
                    <a:srgbClr val="141414"/>
                  </a:solidFill>
                  <a:latin typeface="Arial"/>
                  <a:ea typeface="Arial"/>
                  <a:cs typeface="Arial"/>
                </a:defRPr>
              </a:pPr>
            </a:p>
          </c:txPr>
          <c:dLblPos val="outEnd"/>
          <c:showLegendKey val="0"/>
          <c:showVal val="1"/>
          <c:showCatName val="0"/>
          <c:showSerName val="0"/>
          <c:showPercent val="0"/>
          <c:showBubbleSize val="0"/>
          <c:showLeaderLines val="0"/>
        </c:dLbls>
        <c:gapWidth val="9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8D8D8"/>
            </a:solidFill>
          </a:ln>
        </c:spPr>
        <c:txPr>
          <a:bodyPr xmlns:a="http://schemas.openxmlformats.org/drawingml/2006/main" anchorCtr="1"/>
          <a:lstStyle xmlns:a="http://schemas.openxmlformats.org/drawingml/2006/main"/>
          <a:p xmlns:a="http://schemas.openxmlformats.org/drawingml/2006/main">
            <a:pPr>
              <a:defRPr sz="1350">
                <a:solidFill>
                  <a:srgbClr val="626262"/>
                </a:solidFill>
                <a:latin typeface="Arial"/>
                <a:ea typeface="Arial"/>
                <a:cs typeface="Arial"/>
              </a:defRPr>
            </a:pPr>
          </a:p>
        </c:txPr>
        <c:crossAx val="48672768"/>
      </c:catAx>
      <c:valAx>
        <c:axId val="48672768"/>
        <c:scaling>
          <c:orientation val="minMax"/>
          <c:max val="40"/>
          <c:min val="0"/>
        </c:scaling>
        <c:delete val="0"/>
        <c:axPos val="l"/>
        <c:majorGridlines>
          <c:spPr>
            <a:ln xmlns:a="http://schemas.openxmlformats.org/drawingml/2006/main" w="9525">
              <a:solidFill>
                <a:srgbClr val="D8D8D8"/>
              </a:solidFill>
            </a:ln>
          </c:spPr>
        </c:majorGridlines>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75">
                <a:solidFill>
                  <a:srgbClr val="626262"/>
                </a:solidFill>
                <a:latin typeface="Arial"/>
                <a:ea typeface="Arial"/>
                <a:cs typeface="Arial"/>
              </a:defRPr>
            </a:pPr>
          </a:p>
        </c:txPr>
        <c:crossAx val="48650112"/>
        <c:crossBetween val="between"/>
        <c:majorUnit val="10"/>
      </c:valAx>
      <c:spPr>
        <a:noFill xmlns:a="http://schemas.openxmlformats.org/drawingml/2006/main"/>
        <a:ln xmlns:a="http://schemas.openxmlformats.org/drawingml/2006/main" w="0">
          <a:noFill/>
        </a:ln>
      </c:spPr>
    </c:plotArea>
    <c:legend>
      <c:legendPos val="b"/>
      <c:overlay val="0"/>
      <c:txPr>
        <a:bodyPr xmlns:a="http://schemas.openxmlformats.org/drawingml/2006/main" anchorCtr="1"/>
        <a:lstStyle xmlns:a="http://schemas.openxmlformats.org/drawingml/2006/main"/>
        <a:p xmlns:a="http://schemas.openxmlformats.org/drawingml/2006/main">
          <a:pPr>
            <a:defRPr sz="1500">
              <a:solidFill>
                <a:srgbClr val="141414"/>
              </a:solidFill>
              <a:latin typeface="Arial"/>
              <a:ea typeface="Arial"/>
              <a:cs typeface="Arial"/>
            </a:defRPr>
          </a:pPr>
        </a:p>
      </c:txPr>
    </c:legend>
    <c:plotVisOnly val="1"/>
  </c:chart>
  <c:spPr>
    <a:noFill xmlns:a="http://schemas.openxmlformats.org/drawingml/2006/main"/>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101010"/>
        </a:solidFill>
      </p:bgPr>
    </p:bg>
    <p:spTree>
      <p:nvGrpSpPr>
        <p:cNvPr id="1" name=""/>
        <p:cNvGrpSpPr/>
        <p:nvPr/>
      </p:nvGrpSpPr>
      <p:grpSpPr>
        <a:xfrm xmlns:a="http://schemas.openxmlformats.org/drawingml/2006/main"/>
      </p:grpSpPr>
      <p:sp>
        <p:nvSpPr>
          <p:cNvPr id="7" name="slide-number">
            <a:extLst xmlns:a="http://schemas.openxmlformats.org/drawingml/2006/main">
              <a:ext uri="{FF2B5EF4-FFF2-40B4-BE49-F238E27FC236}">
                <a16:creationId xmlns:a16="http://schemas.microsoft.com/office/drawing/2014/main" id="{79FCE4B9-895E-4808-B494-17B7145EF60A}"/>
              </a:ext>
            </a:extLst>
          </p:cNvPr>
          <p:cNvSpPr>
            <a:spLocks xmlns:a="http://schemas.openxmlformats.org/drawingml/2006/main" noGrp="1"/>
          </p:cNvSpPr>
          <p:nvPr/>
        </p:nvSpPr>
        <p:spPr>
          <a:xfrm xmlns:a="http://schemas.openxmlformats.org/drawingml/2006/main">
            <a:off x="10668000" y="6381750"/>
            <a:ext cx="914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r">
              <a:buNone/>
              <a:defRPr sz="1350" b="0">
                <a:solidFill>
                  <a:srgbClr val="DADADA"/>
                </a:solidFill>
                <a:latin typeface="Arial"/>
                <a:ea typeface="Arial"/>
                <a:cs typeface="Arial"/>
              </a:defRPr>
            </a:pPr>
            <a:r>
              <a:rPr sz="1350" b="0">
                <a:solidFill>
                  <a:srgbClr val="DADADA"/>
                </a:solidFill>
                <a:latin typeface="Arial"/>
                <a:ea typeface="Arial"/>
                <a:cs typeface="Arial"/>
              </a:rPr>
              <a:t>01 / 12</a:t>
            </a:r>
          </a:p>
        </p:txBody>
      </p:sp>
      <p:sp>
        <p:nvSpPr>
          <p:cNvPr id="8" name="">
            <a:extLst xmlns:a="http://schemas.openxmlformats.org/drawingml/2006/main">
              <a:ext uri="{FF2B5EF4-FFF2-40B4-BE49-F238E27FC236}">
                <a16:creationId xmlns:a16="http://schemas.microsoft.com/office/drawing/2014/main" id="{5DDAFDB1-3F56-4986-842F-91E42579FC05}"/>
              </a:ext>
            </a:extLst>
          </p:cNvPr>
          <p:cNvSpPr>
            <a:spLocks xmlns:a="http://schemas.openxmlformats.org/drawingml/2006/main" noGrp="1"/>
          </p:cNvSpPr>
          <p:nvPr/>
        </p:nvSpPr>
        <p:spPr>
          <a:xfrm xmlns:a="http://schemas.openxmlformats.org/drawingml/2006/main">
            <a:off x="609600" y="647700"/>
            <a:ext cx="66675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850" b="1">
                <a:solidFill>
                  <a:srgbClr val="FFFFFF"/>
                </a:solidFill>
                <a:latin typeface="Arial"/>
                <a:ea typeface="Arial"/>
                <a:cs typeface="Arial"/>
              </a:defRPr>
            </a:pPr>
            <a:r>
              <a:rPr sz="2850" b="1">
                <a:solidFill>
                  <a:srgbClr val="FFFFFF"/>
                </a:solidFill>
                <a:latin typeface="Arial"/>
                <a:ea typeface="Arial"/>
                <a:cs typeface="Arial"/>
              </a:rPr>
              <a:t>Aktina</a:t>
            </a:r>
          </a:p>
        </p:txBody>
      </p:sp>
      <p:sp>
        <p:nvSpPr>
          <p:cNvPr id="9" name="">
            <a:extLst xmlns:a="http://schemas.openxmlformats.org/drawingml/2006/main">
              <a:ext uri="{FF2B5EF4-FFF2-40B4-BE49-F238E27FC236}">
                <a16:creationId xmlns:a16="http://schemas.microsoft.com/office/drawing/2014/main" id="{1BB37A81-A5EE-4F3A-85B4-15B19659FA88}"/>
              </a:ext>
            </a:extLst>
          </p:cNvPr>
          <p:cNvSpPr>
            <a:spLocks xmlns:a="http://schemas.openxmlformats.org/drawingml/2006/main" noGrp="1"/>
          </p:cNvSpPr>
          <p:nvPr/>
        </p:nvSpPr>
        <p:spPr>
          <a:xfrm xmlns:a="http://schemas.openxmlformats.org/drawingml/2006/main">
            <a:off x="609600" y="1733550"/>
            <a:ext cx="10953750" cy="2114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6150" b="1">
                <a:solidFill>
                  <a:srgbClr val="FFFFFF"/>
                </a:solidFill>
                <a:latin typeface="Arial"/>
                <a:ea typeface="Arial"/>
                <a:cs typeface="Arial"/>
              </a:defRPr>
            </a:pPr>
            <a:r>
              <a:rPr sz="6150" b="1">
                <a:solidFill>
                  <a:srgbClr val="FFFFFF"/>
                </a:solidFill>
                <a:latin typeface="Arial"/>
                <a:ea typeface="Arial"/>
                <a:cs typeface="Arial"/>
              </a:rPr>
              <a:t>Solar power.</a:t>
            </a:r>
          </a:p>
          <a:p xmlns:a="http://schemas.openxmlformats.org/drawingml/2006/main">
            <a:pPr>
              <a:defRPr sz="6150" b="1">
                <a:solidFill>
                  <a:srgbClr val="FFFFFF"/>
                </a:solidFill>
                <a:latin typeface="Arial"/>
                <a:ea typeface="Arial"/>
                <a:cs typeface="Arial"/>
              </a:defRPr>
            </a:pPr>
            <a:r>
              <a:rPr sz="6150" b="1">
                <a:solidFill>
                  <a:srgbClr val="FFFFFF"/>
                </a:solidFill>
                <a:latin typeface="Arial"/>
                <a:ea typeface="Arial"/>
                <a:cs typeface="Arial"/>
              </a:rPr>
              <a:t>Water for later.</a:t>
            </a:r>
          </a:p>
        </p:txBody>
      </p:sp>
      <p:sp>
        <p:nvSpPr>
          <p:cNvPr id="10" name="">
            <a:extLst xmlns:a="http://schemas.openxmlformats.org/drawingml/2006/main">
              <a:ext uri="{FF2B5EF4-FFF2-40B4-BE49-F238E27FC236}">
                <a16:creationId xmlns:a16="http://schemas.microsoft.com/office/drawing/2014/main" id="{7C9D743C-22E4-45BA-9BA6-7640694E137D}"/>
              </a:ext>
            </a:extLst>
          </p:cNvPr>
          <p:cNvSpPr>
            <a:spLocks xmlns:a="http://schemas.openxmlformats.org/drawingml/2006/main" noGrp="1"/>
          </p:cNvSpPr>
          <p:nvPr/>
        </p:nvSpPr>
        <p:spPr>
          <a:xfrm xmlns:a="http://schemas.openxmlformats.org/drawingml/2006/main">
            <a:off x="647700" y="4286250"/>
            <a:ext cx="1047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700" b="0">
                <a:solidFill>
                  <a:srgbClr val="D8D8D8"/>
                </a:solidFill>
                <a:latin typeface="Arial"/>
                <a:ea typeface="Arial"/>
                <a:cs typeface="Arial"/>
              </a:defRPr>
            </a:pPr>
            <a:r>
              <a:rPr sz="2700" b="0">
                <a:solidFill>
                  <a:srgbClr val="D8D8D8"/>
                </a:solidFill>
                <a:latin typeface="Arial"/>
                <a:ea typeface="Arial"/>
                <a:cs typeface="Arial"/>
              </a:rPr>
              <a:t>Desalination with otherwise curtailed solar</a:t>
            </a:r>
          </a:p>
        </p:txBody>
      </p:sp>
      <p:sp>
        <p:nvSpPr>
          <p:cNvPr id="11" name="">
            <a:extLst xmlns:a="http://schemas.openxmlformats.org/drawingml/2006/main">
              <a:ext uri="{FF2B5EF4-FFF2-40B4-BE49-F238E27FC236}">
                <a16:creationId xmlns:a16="http://schemas.microsoft.com/office/drawing/2014/main" id="{A4117CD7-CD14-4AF4-93EA-9536CA471F7F}"/>
              </a:ext>
            </a:extLst>
          </p:cNvPr>
          <p:cNvSpPr>
            <a:spLocks xmlns:a="http://schemas.openxmlformats.org/drawingml/2006/main" noGrp="1"/>
          </p:cNvSpPr>
          <p:nvPr/>
        </p:nvSpPr>
        <p:spPr>
          <a:xfrm xmlns:a="http://schemas.openxmlformats.org/drawingml/2006/main">
            <a:off x="647700" y="5886450"/>
            <a:ext cx="100965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0">
                <a:solidFill>
                  <a:srgbClr val="D8D8D8"/>
                </a:solidFill>
                <a:latin typeface="Arial"/>
                <a:ea typeface="Arial"/>
                <a:cs typeface="Arial"/>
              </a:defRPr>
            </a:pPr>
            <a:r>
              <a:rPr sz="1650" b="0">
                <a:solidFill>
                  <a:srgbClr val="D8D8D8"/>
                </a:solidFill>
                <a:latin typeface="Arial"/>
                <a:ea typeface="Arial"/>
                <a:cs typeface="Arial"/>
              </a:rPr>
              <a:t>Pafos 2.0 University category, October 2026</a:t>
            </a:r>
          </a:p>
          <a:p xmlns:a="http://schemas.openxmlformats.org/drawingml/2006/main">
            <a:pPr>
              <a:defRPr sz="1650" b="0">
                <a:solidFill>
                  <a:srgbClr val="D8D8D8"/>
                </a:solidFill>
                <a:latin typeface="Arial"/>
                <a:ea typeface="Arial"/>
                <a:cs typeface="Arial"/>
              </a:defRPr>
            </a:pPr>
            <a:r>
              <a:rPr sz="1650" b="0">
                <a:solidFill>
                  <a:srgbClr val="D8D8D8"/>
                </a:solidFill>
                <a:latin typeface="Arial"/>
                <a:ea typeface="Arial"/>
                <a:cs typeface="Arial"/>
              </a:rPr>
              <a:t>Prototype. Actual curtailment recovery remains unproven.</a:t>
            </a:r>
          </a:p>
        </p:txBody>
      </p:sp>
    </p:spTree>
    <p:extLst>
      <p:ext uri="{BB962C8B-B14F-4D97-AF65-F5344CB8AC3E}">
        <p14:creationId xmlns:p14="http://schemas.microsoft.com/office/powerpoint/2010/main" val="305372981"/>
      </p:ext>
    </p:extLst>
  </p:cSld>
</p:sld>
</file>

<file path=ppt/slides/slide2.xml><?xml version="1.0" encoding="utf-8"?>
<p:sld xmlns:p="http://schemas.openxmlformats.org/presentationml/2006/main">
  <p:cSld>
    <p:bg>
      <p:bgPr>
        <a:solidFill xmlns:a="http://schemas.openxmlformats.org/drawingml/2006/main">
          <a:srgbClr val="FAFAFA"/>
        </a:solidFill>
      </p:bgPr>
    </p:bg>
    <p:spTree>
      <p:nvGrpSpPr>
        <p:cNvPr id="1" name=""/>
        <p:cNvGrpSpPr/>
        <p:nvPr/>
      </p:nvGrpSpPr>
      <p:grpSpPr>
        <a:xfrm xmlns:a="http://schemas.openxmlformats.org/drawingml/2006/main"/>
      </p:grpSpPr>
      <p:sp>
        <p:nvSpPr>
          <p:cNvPr id="9" name="slide-title">
            <a:extLst xmlns:a="http://schemas.openxmlformats.org/drawingml/2006/main">
              <a:ext uri="{FF2B5EF4-FFF2-40B4-BE49-F238E27FC236}">
                <a16:creationId xmlns:a16="http://schemas.microsoft.com/office/drawing/2014/main" id="{E63FBA2E-32E4-46B7-AA17-AF81FBB9F349}"/>
              </a:ext>
            </a:extLst>
          </p:cNvPr>
          <p:cNvSpPr>
            <a:spLocks xmlns:a="http://schemas.openxmlformats.org/drawingml/2006/main" noGrp="1"/>
          </p:cNvSpPr>
          <p:nvPr/>
        </p:nvSpPr>
        <p:spPr>
          <a:xfrm xmlns:a="http://schemas.openxmlformats.org/drawingml/2006/main">
            <a:off x="609600" y="40005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buNone/>
              <a:defRPr sz="3600" b="1">
                <a:solidFill>
                  <a:srgbClr val="101010"/>
                </a:solidFill>
                <a:latin typeface="Arial"/>
                <a:ea typeface="Arial"/>
                <a:cs typeface="Arial"/>
              </a:defRPr>
            </a:pPr>
            <a:r>
              <a:rPr sz="3600" b="1">
                <a:solidFill>
                  <a:srgbClr val="101010"/>
                </a:solidFill>
                <a:latin typeface="Arial"/>
                <a:ea typeface="Arial"/>
                <a:cs typeface="Arial"/>
              </a:rPr>
              <a:t>Why water storage matters</a:t>
            </a:r>
          </a:p>
        </p:txBody>
      </p:sp>
      <p:sp>
        <p:nvSpPr>
          <p:cNvPr id="2" name="slide-number">
            <a:extLst xmlns:a="http://schemas.openxmlformats.org/drawingml/2006/main">
              <a:ext uri="{FF2B5EF4-FFF2-40B4-BE49-F238E27FC236}">
                <a16:creationId xmlns:a16="http://schemas.microsoft.com/office/drawing/2014/main" id="{EA054607-D5C9-4C28-BB17-5DE28308861F}"/>
              </a:ext>
            </a:extLst>
          </p:cNvPr>
          <p:cNvSpPr>
            <a:spLocks xmlns:a="http://schemas.openxmlformats.org/drawingml/2006/main" noGrp="1"/>
          </p:cNvSpPr>
          <p:nvPr/>
        </p:nvSpPr>
        <p:spPr>
          <a:xfrm xmlns:a="http://schemas.openxmlformats.org/drawingml/2006/main">
            <a:off x="10668000" y="6381750"/>
            <a:ext cx="914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r">
              <a:buNone/>
              <a:defRPr sz="1350" b="0">
                <a:solidFill>
                  <a:srgbClr val="737373"/>
                </a:solidFill>
                <a:latin typeface="Arial"/>
                <a:ea typeface="Arial"/>
                <a:cs typeface="Arial"/>
              </a:defRPr>
            </a:pPr>
            <a:r>
              <a:rPr sz="1350" b="0">
                <a:solidFill>
                  <a:srgbClr val="737373"/>
                </a:solidFill>
                <a:latin typeface="Arial"/>
                <a:ea typeface="Arial"/>
                <a:cs typeface="Arial"/>
              </a:rPr>
              <a:t>02 / 12</a:t>
            </a:r>
          </a:p>
        </p:txBody>
      </p:sp>
      <p:sp>
        <p:nvSpPr>
          <p:cNvPr id="10" name="">
            <a:extLst xmlns:a="http://schemas.openxmlformats.org/drawingml/2006/main">
              <a:ext uri="{FF2B5EF4-FFF2-40B4-BE49-F238E27FC236}">
                <a16:creationId xmlns:a16="http://schemas.microsoft.com/office/drawing/2014/main" id="{12B79DF5-E495-4070-B302-AA236F1B925B}"/>
              </a:ext>
            </a:extLst>
          </p:cNvPr>
          <p:cNvSpPr>
            <a:spLocks xmlns:a="http://schemas.openxmlformats.org/drawingml/2006/main" noGrp="1"/>
          </p:cNvSpPr>
          <p:nvPr/>
        </p:nvSpPr>
        <p:spPr>
          <a:xfrm xmlns:a="http://schemas.openxmlformats.org/drawingml/2006/main">
            <a:off x="647700" y="1590675"/>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850" b="1">
                <a:solidFill>
                  <a:srgbClr val="141414"/>
                </a:solidFill>
                <a:latin typeface="Arial"/>
                <a:ea typeface="Arial"/>
                <a:cs typeface="Arial"/>
              </a:defRPr>
            </a:pPr>
            <a:r>
              <a:rPr sz="2850" b="1">
                <a:solidFill>
                  <a:srgbClr val="141414"/>
                </a:solidFill>
                <a:latin typeface="Arial"/>
                <a:ea typeface="Arial"/>
                <a:cs typeface="Arial"/>
              </a:rPr>
              <a:t>Production can move between hours</a:t>
            </a:r>
          </a:p>
        </p:txBody>
      </p:sp>
      <p:sp>
        <p:nvSpPr>
          <p:cNvPr id="11" name="">
            <a:extLst xmlns:a="http://schemas.openxmlformats.org/drawingml/2006/main">
              <a:ext uri="{FF2B5EF4-FFF2-40B4-BE49-F238E27FC236}">
                <a16:creationId xmlns:a16="http://schemas.microsoft.com/office/drawing/2014/main" id="{F29FFE02-654B-49E9-A84A-21A4C1075C9C}"/>
              </a:ext>
            </a:extLst>
          </p:cNvPr>
          <p:cNvSpPr>
            <a:spLocks xmlns:a="http://schemas.openxmlformats.org/drawingml/2006/main" noGrp="1"/>
          </p:cNvSpPr>
          <p:nvPr/>
        </p:nvSpPr>
        <p:spPr>
          <a:xfrm xmlns:a="http://schemas.openxmlformats.org/drawingml/2006/main">
            <a:off x="647700" y="2838450"/>
            <a:ext cx="2333625" cy="1028700"/>
          </a:xfrm>
          <a:prstGeom xmlns:a="http://schemas.openxmlformats.org/drawingml/2006/main" prst="rect">
            <a:avLst/>
          </a:prstGeom>
          <a:noFill xmlns:a="http://schemas.openxmlformats.org/drawingml/2006/main"/>
          <a:ln xmlns:a="http://schemas.openxmlformats.org/drawingml/2006/main" w="14288">
            <a:solidFill>
              <a:srgbClr val="141414"/>
            </a:solidFill>
          </a:ln>
        </p:spPr>
      </p:sp>
      <p:sp>
        <p:nvSpPr>
          <p:cNvPr id="12" name="">
            <a:extLst xmlns:a="http://schemas.openxmlformats.org/drawingml/2006/main">
              <a:ext uri="{FF2B5EF4-FFF2-40B4-BE49-F238E27FC236}">
                <a16:creationId xmlns:a16="http://schemas.microsoft.com/office/drawing/2014/main" id="{93C9AE23-223E-4CB6-87DB-4BC536C377DA}"/>
              </a:ext>
            </a:extLst>
          </p:cNvPr>
          <p:cNvSpPr>
            <a:spLocks xmlns:a="http://schemas.openxmlformats.org/drawingml/2006/main" noGrp="1"/>
          </p:cNvSpPr>
          <p:nvPr/>
        </p:nvSpPr>
        <p:spPr>
          <a:xfrm xmlns:a="http://schemas.openxmlformats.org/drawingml/2006/main">
            <a:off x="781050" y="3152775"/>
            <a:ext cx="2095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1">
                <a:solidFill>
                  <a:srgbClr val="141414"/>
                </a:solidFill>
                <a:latin typeface="Arial"/>
                <a:ea typeface="Arial"/>
                <a:cs typeface="Arial"/>
              </a:defRPr>
            </a:pPr>
            <a:r>
              <a:rPr sz="2025" b="1">
                <a:solidFill>
                  <a:srgbClr val="141414"/>
                </a:solidFill>
                <a:latin typeface="Arial"/>
                <a:ea typeface="Arial"/>
                <a:cs typeface="Arial"/>
              </a:rPr>
              <a:t>Solar power</a:t>
            </a:r>
          </a:p>
        </p:txBody>
      </p:sp>
      <p:sp>
        <p:nvSpPr>
          <p:cNvPr id="13" name="">
            <a:extLst xmlns:a="http://schemas.openxmlformats.org/drawingml/2006/main">
              <a:ext uri="{FF2B5EF4-FFF2-40B4-BE49-F238E27FC236}">
                <a16:creationId xmlns:a16="http://schemas.microsoft.com/office/drawing/2014/main" id="{BFB9FD1E-5A9E-4B6F-97AA-E78BF799039B}"/>
              </a:ext>
            </a:extLst>
          </p:cNvPr>
          <p:cNvSpPr>
            <a:spLocks xmlns:a="http://schemas.openxmlformats.org/drawingml/2006/main" noGrp="1"/>
          </p:cNvSpPr>
          <p:nvPr/>
        </p:nvSpPr>
        <p:spPr>
          <a:xfrm xmlns:a="http://schemas.openxmlformats.org/drawingml/2006/main">
            <a:off x="647700" y="4181475"/>
            <a:ext cx="233362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a:solidFill>
                  <a:srgbClr val="626262"/>
                </a:solidFill>
                <a:latin typeface="Arial"/>
                <a:ea typeface="Arial"/>
                <a:cs typeface="Arial"/>
              </a:defRPr>
            </a:pPr>
            <a:r>
              <a:rPr sz="1875" b="0">
                <a:solidFill>
                  <a:srgbClr val="626262"/>
                </a:solidFill>
                <a:latin typeface="Arial"/>
                <a:ea typeface="Arial"/>
                <a:cs typeface="Arial"/>
              </a:rPr>
              <a:t>Available to the plant</a:t>
            </a:r>
          </a:p>
        </p:txBody>
      </p:sp>
      <p:sp>
        <p:nvSpPr>
          <p:cNvPr id="14" name="">
            <a:extLst xmlns:a="http://schemas.openxmlformats.org/drawingml/2006/main">
              <a:ext uri="{FF2B5EF4-FFF2-40B4-BE49-F238E27FC236}">
                <a16:creationId xmlns:a16="http://schemas.microsoft.com/office/drawing/2014/main" id="{769ECA9E-69D5-4C35-AEF3-519EBDEFC305}"/>
              </a:ext>
            </a:extLst>
          </p:cNvPr>
          <p:cNvSpPr>
            <a:spLocks xmlns:a="http://schemas.openxmlformats.org/drawingml/2006/main" noGrp="1"/>
          </p:cNvSpPr>
          <p:nvPr/>
        </p:nvSpPr>
        <p:spPr>
          <a:xfrm xmlns:a="http://schemas.openxmlformats.org/drawingml/2006/main">
            <a:off x="3409950" y="2838450"/>
            <a:ext cx="2333625" cy="1028700"/>
          </a:xfrm>
          <a:prstGeom xmlns:a="http://schemas.openxmlformats.org/drawingml/2006/main" prst="rect">
            <a:avLst/>
          </a:prstGeom>
          <a:noFill xmlns:a="http://schemas.openxmlformats.org/drawingml/2006/main"/>
          <a:ln xmlns:a="http://schemas.openxmlformats.org/drawingml/2006/main" w="14288">
            <a:solidFill>
              <a:srgbClr val="141414"/>
            </a:solidFill>
          </a:ln>
        </p:spPr>
      </p:sp>
      <p:sp>
        <p:nvSpPr>
          <p:cNvPr id="15" name="">
            <a:extLst xmlns:a="http://schemas.openxmlformats.org/drawingml/2006/main">
              <a:ext uri="{FF2B5EF4-FFF2-40B4-BE49-F238E27FC236}">
                <a16:creationId xmlns:a16="http://schemas.microsoft.com/office/drawing/2014/main" id="{13BEC2F2-8E2A-4E42-9330-A556A02030C0}"/>
              </a:ext>
            </a:extLst>
          </p:cNvPr>
          <p:cNvSpPr>
            <a:spLocks xmlns:a="http://schemas.openxmlformats.org/drawingml/2006/main" noGrp="1"/>
          </p:cNvSpPr>
          <p:nvPr/>
        </p:nvSpPr>
        <p:spPr>
          <a:xfrm xmlns:a="http://schemas.openxmlformats.org/drawingml/2006/main">
            <a:off x="3543300" y="3152775"/>
            <a:ext cx="2095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1">
                <a:solidFill>
                  <a:srgbClr val="141414"/>
                </a:solidFill>
                <a:latin typeface="Arial"/>
                <a:ea typeface="Arial"/>
                <a:cs typeface="Arial"/>
              </a:defRPr>
            </a:pPr>
            <a:r>
              <a:rPr sz="2025" b="1">
                <a:solidFill>
                  <a:srgbClr val="141414"/>
                </a:solidFill>
                <a:latin typeface="Arial"/>
                <a:ea typeface="Arial"/>
                <a:cs typeface="Arial"/>
              </a:rPr>
              <a:t>Desalination</a:t>
            </a:r>
          </a:p>
        </p:txBody>
      </p:sp>
      <p:sp>
        <p:nvSpPr>
          <p:cNvPr id="16" name="">
            <a:extLst xmlns:a="http://schemas.openxmlformats.org/drawingml/2006/main">
              <a:ext uri="{FF2B5EF4-FFF2-40B4-BE49-F238E27FC236}">
                <a16:creationId xmlns:a16="http://schemas.microsoft.com/office/drawing/2014/main" id="{75764950-5410-462F-A963-CDF0B90A66DD}"/>
              </a:ext>
            </a:extLst>
          </p:cNvPr>
          <p:cNvSpPr>
            <a:spLocks xmlns:a="http://schemas.openxmlformats.org/drawingml/2006/main" noGrp="1"/>
          </p:cNvSpPr>
          <p:nvPr/>
        </p:nvSpPr>
        <p:spPr>
          <a:xfrm xmlns:a="http://schemas.openxmlformats.org/drawingml/2006/main">
            <a:off x="3409950" y="4181475"/>
            <a:ext cx="233362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a:solidFill>
                  <a:srgbClr val="626262"/>
                </a:solidFill>
                <a:latin typeface="Arial"/>
                <a:ea typeface="Arial"/>
                <a:cs typeface="Arial"/>
              </a:defRPr>
            </a:pPr>
            <a:r>
              <a:rPr sz="1875" b="0">
                <a:solidFill>
                  <a:srgbClr val="626262"/>
                </a:solidFill>
                <a:latin typeface="Arial"/>
                <a:ea typeface="Arial"/>
                <a:cs typeface="Arial"/>
              </a:rPr>
              <a:t>Production within limits</a:t>
            </a:r>
          </a:p>
        </p:txBody>
      </p:sp>
      <p:sp>
        <p:nvSpPr>
          <p:cNvPr id="17" name="">
            <a:extLst xmlns:a="http://schemas.openxmlformats.org/drawingml/2006/main">
              <a:ext uri="{FF2B5EF4-FFF2-40B4-BE49-F238E27FC236}">
                <a16:creationId xmlns:a16="http://schemas.microsoft.com/office/drawing/2014/main" id="{2D539192-6BAA-4A5D-992E-BDB9799573B8}"/>
              </a:ext>
            </a:extLst>
          </p:cNvPr>
          <p:cNvSpPr>
            <a:spLocks xmlns:a="http://schemas.openxmlformats.org/drawingml/2006/main" noGrp="1"/>
          </p:cNvSpPr>
          <p:nvPr/>
        </p:nvSpPr>
        <p:spPr>
          <a:xfrm xmlns:a="http://schemas.openxmlformats.org/drawingml/2006/main">
            <a:off x="6172200" y="2838450"/>
            <a:ext cx="2333625" cy="1028700"/>
          </a:xfrm>
          <a:prstGeom xmlns:a="http://schemas.openxmlformats.org/drawingml/2006/main" prst="rect">
            <a:avLst/>
          </a:prstGeom>
          <a:noFill xmlns:a="http://schemas.openxmlformats.org/drawingml/2006/main"/>
          <a:ln xmlns:a="http://schemas.openxmlformats.org/drawingml/2006/main" w="14288">
            <a:solidFill>
              <a:srgbClr val="141414"/>
            </a:solidFill>
          </a:ln>
        </p:spPr>
      </p:sp>
      <p:sp>
        <p:nvSpPr>
          <p:cNvPr id="18" name="">
            <a:extLst xmlns:a="http://schemas.openxmlformats.org/drawingml/2006/main">
              <a:ext uri="{FF2B5EF4-FFF2-40B4-BE49-F238E27FC236}">
                <a16:creationId xmlns:a16="http://schemas.microsoft.com/office/drawing/2014/main" id="{1FB37406-5F45-4899-AAB0-D192E08BE381}"/>
              </a:ext>
            </a:extLst>
          </p:cNvPr>
          <p:cNvSpPr>
            <a:spLocks xmlns:a="http://schemas.openxmlformats.org/drawingml/2006/main" noGrp="1"/>
          </p:cNvSpPr>
          <p:nvPr/>
        </p:nvSpPr>
        <p:spPr>
          <a:xfrm xmlns:a="http://schemas.openxmlformats.org/drawingml/2006/main">
            <a:off x="6305550" y="3152775"/>
            <a:ext cx="2095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1">
                <a:solidFill>
                  <a:srgbClr val="141414"/>
                </a:solidFill>
                <a:latin typeface="Arial"/>
                <a:ea typeface="Arial"/>
                <a:cs typeface="Arial"/>
              </a:defRPr>
            </a:pPr>
            <a:r>
              <a:rPr sz="2025" b="1">
                <a:solidFill>
                  <a:srgbClr val="141414"/>
                </a:solidFill>
                <a:latin typeface="Arial"/>
                <a:ea typeface="Arial"/>
                <a:cs typeface="Arial"/>
              </a:rPr>
              <a:t>Water storage</a:t>
            </a:r>
          </a:p>
        </p:txBody>
      </p:sp>
      <p:sp>
        <p:nvSpPr>
          <p:cNvPr id="19" name="">
            <a:extLst xmlns:a="http://schemas.openxmlformats.org/drawingml/2006/main">
              <a:ext uri="{FF2B5EF4-FFF2-40B4-BE49-F238E27FC236}">
                <a16:creationId xmlns:a16="http://schemas.microsoft.com/office/drawing/2014/main" id="{B858DFE2-A6F2-44E1-928A-46CC38DED476}"/>
              </a:ext>
            </a:extLst>
          </p:cNvPr>
          <p:cNvSpPr>
            <a:spLocks xmlns:a="http://schemas.openxmlformats.org/drawingml/2006/main" noGrp="1"/>
          </p:cNvSpPr>
          <p:nvPr/>
        </p:nvSpPr>
        <p:spPr>
          <a:xfrm xmlns:a="http://schemas.openxmlformats.org/drawingml/2006/main">
            <a:off x="6172200" y="4181475"/>
            <a:ext cx="233362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a:solidFill>
                  <a:srgbClr val="626262"/>
                </a:solidFill>
                <a:latin typeface="Arial"/>
                <a:ea typeface="Arial"/>
                <a:cs typeface="Arial"/>
              </a:defRPr>
            </a:pPr>
            <a:r>
              <a:rPr sz="1875" b="0">
                <a:solidFill>
                  <a:srgbClr val="626262"/>
                </a:solidFill>
                <a:latin typeface="Arial"/>
                <a:ea typeface="Arial"/>
                <a:cs typeface="Arial"/>
              </a:rPr>
              <a:t>Supply carried forward</a:t>
            </a:r>
          </a:p>
        </p:txBody>
      </p:sp>
      <p:sp>
        <p:nvSpPr>
          <p:cNvPr id="20" name="">
            <a:extLst xmlns:a="http://schemas.openxmlformats.org/drawingml/2006/main">
              <a:ext uri="{FF2B5EF4-FFF2-40B4-BE49-F238E27FC236}">
                <a16:creationId xmlns:a16="http://schemas.microsoft.com/office/drawing/2014/main" id="{998EEAED-9069-46D7-A646-6E99D1C0FAEF}"/>
              </a:ext>
            </a:extLst>
          </p:cNvPr>
          <p:cNvSpPr>
            <a:spLocks xmlns:a="http://schemas.openxmlformats.org/drawingml/2006/main" noGrp="1"/>
          </p:cNvSpPr>
          <p:nvPr/>
        </p:nvSpPr>
        <p:spPr>
          <a:xfrm xmlns:a="http://schemas.openxmlformats.org/drawingml/2006/main">
            <a:off x="8934450" y="2838450"/>
            <a:ext cx="2333625" cy="1028700"/>
          </a:xfrm>
          <a:prstGeom xmlns:a="http://schemas.openxmlformats.org/drawingml/2006/main" prst="rect">
            <a:avLst/>
          </a:prstGeom>
          <a:noFill xmlns:a="http://schemas.openxmlformats.org/drawingml/2006/main"/>
          <a:ln xmlns:a="http://schemas.openxmlformats.org/drawingml/2006/main" w="14288">
            <a:solidFill>
              <a:srgbClr val="141414"/>
            </a:solidFill>
          </a:ln>
        </p:spPr>
      </p:sp>
      <p:sp>
        <p:nvSpPr>
          <p:cNvPr id="21" name="">
            <a:extLst xmlns:a="http://schemas.openxmlformats.org/drawingml/2006/main">
              <a:ext uri="{FF2B5EF4-FFF2-40B4-BE49-F238E27FC236}">
                <a16:creationId xmlns:a16="http://schemas.microsoft.com/office/drawing/2014/main" id="{DB6BE832-C622-41D7-96F1-914495FDE011}"/>
              </a:ext>
            </a:extLst>
          </p:cNvPr>
          <p:cNvSpPr>
            <a:spLocks xmlns:a="http://schemas.openxmlformats.org/drawingml/2006/main" noGrp="1"/>
          </p:cNvSpPr>
          <p:nvPr/>
        </p:nvSpPr>
        <p:spPr>
          <a:xfrm xmlns:a="http://schemas.openxmlformats.org/drawingml/2006/main">
            <a:off x="9067800" y="3152775"/>
            <a:ext cx="2095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1">
                <a:solidFill>
                  <a:srgbClr val="141414"/>
                </a:solidFill>
                <a:latin typeface="Arial"/>
                <a:ea typeface="Arial"/>
                <a:cs typeface="Arial"/>
              </a:defRPr>
            </a:pPr>
            <a:r>
              <a:rPr sz="2025" b="1">
                <a:solidFill>
                  <a:srgbClr val="141414"/>
                </a:solidFill>
                <a:latin typeface="Arial"/>
                <a:ea typeface="Arial"/>
                <a:cs typeface="Arial"/>
              </a:rPr>
              <a:t>Water demand</a:t>
            </a:r>
          </a:p>
        </p:txBody>
      </p:sp>
      <p:sp>
        <p:nvSpPr>
          <p:cNvPr id="22" name="">
            <a:extLst xmlns:a="http://schemas.openxmlformats.org/drawingml/2006/main">
              <a:ext uri="{FF2B5EF4-FFF2-40B4-BE49-F238E27FC236}">
                <a16:creationId xmlns:a16="http://schemas.microsoft.com/office/drawing/2014/main" id="{BE3F47C8-8D24-4C26-B28A-906161EB9285}"/>
              </a:ext>
            </a:extLst>
          </p:cNvPr>
          <p:cNvSpPr>
            <a:spLocks xmlns:a="http://schemas.openxmlformats.org/drawingml/2006/main" noGrp="1"/>
          </p:cNvSpPr>
          <p:nvPr/>
        </p:nvSpPr>
        <p:spPr>
          <a:xfrm xmlns:a="http://schemas.openxmlformats.org/drawingml/2006/main">
            <a:off x="8934450" y="4181475"/>
            <a:ext cx="233362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a:solidFill>
                  <a:srgbClr val="626262"/>
                </a:solidFill>
                <a:latin typeface="Arial"/>
                <a:ea typeface="Arial"/>
                <a:cs typeface="Arial"/>
              </a:defRPr>
            </a:pPr>
            <a:r>
              <a:rPr sz="1875" b="0">
                <a:solidFill>
                  <a:srgbClr val="626262"/>
                </a:solidFill>
                <a:latin typeface="Arial"/>
                <a:ea typeface="Arial"/>
                <a:cs typeface="Arial"/>
              </a:rPr>
              <a:t>Delivery when needed</a:t>
            </a:r>
          </a:p>
        </p:txBody>
      </p:sp>
      <p:cxnSp>
        <p:nvCxnSpPr>
          <p:cNvPr id="42" name=""/>
          <p:cNvCxnSpPr>
            <a:stCxn xmlns:a="http://schemas.openxmlformats.org/drawingml/2006/main" id="11" idx="3"/>
            <a:endCxn xmlns:a="http://schemas.openxmlformats.org/drawingml/2006/main" id="14" idx="1"/>
          </p:cNvCxnSpPr>
          <p:nvPr/>
        </p:nvCxnSpPr>
        <p:spPr>
          <a:xfrm xmlns:a="http://schemas.openxmlformats.org/drawingml/2006/main">
            <a:off x="2981325" y="3352800"/>
            <a:ext cx="428625" cy="0"/>
          </a:xfrm>
          <a:prstGeom xmlns:a="http://schemas.openxmlformats.org/drawingml/2006/main" prst="straightConnector1">
            <a:avLst/>
          </a:prstGeom>
          <a:ln xmlns:a="http://schemas.openxmlformats.org/drawingml/2006/main" w="19050">
            <a:solidFill>
              <a:srgbClr val="141414"/>
            </a:solidFill>
            <a:tailEnd type="arrow" w="med" len="med"/>
          </a:ln>
        </p:spPr>
      </p:cxnSp>
      <p:cxnSp>
        <p:nvCxnSpPr>
          <p:cNvPr id="43" name=""/>
          <p:cNvCxnSpPr>
            <a:stCxn xmlns:a="http://schemas.openxmlformats.org/drawingml/2006/main" id="14" idx="3"/>
            <a:endCxn xmlns:a="http://schemas.openxmlformats.org/drawingml/2006/main" id="17" idx="1"/>
          </p:cNvCxnSpPr>
          <p:nvPr/>
        </p:nvCxnSpPr>
        <p:spPr>
          <a:xfrm xmlns:a="http://schemas.openxmlformats.org/drawingml/2006/main">
            <a:off x="5743575" y="3352800"/>
            <a:ext cx="428625" cy="0"/>
          </a:xfrm>
          <a:prstGeom xmlns:a="http://schemas.openxmlformats.org/drawingml/2006/main" prst="straightConnector1">
            <a:avLst/>
          </a:prstGeom>
          <a:ln xmlns:a="http://schemas.openxmlformats.org/drawingml/2006/main" w="19050">
            <a:solidFill>
              <a:srgbClr val="141414"/>
            </a:solidFill>
            <a:tailEnd type="arrow" w="med" len="med"/>
          </a:ln>
        </p:spPr>
      </p:cxnSp>
      <p:cxnSp>
        <p:nvCxnSpPr>
          <p:cNvPr id="44" name=""/>
          <p:cNvCxnSpPr>
            <a:stCxn xmlns:a="http://schemas.openxmlformats.org/drawingml/2006/main" id="17" idx="3"/>
            <a:endCxn xmlns:a="http://schemas.openxmlformats.org/drawingml/2006/main" id="20" idx="1"/>
          </p:cNvCxnSpPr>
          <p:nvPr/>
        </p:nvCxnSpPr>
        <p:spPr>
          <a:xfrm xmlns:a="http://schemas.openxmlformats.org/drawingml/2006/main">
            <a:off x="8505825" y="3352800"/>
            <a:ext cx="428625" cy="0"/>
          </a:xfrm>
          <a:prstGeom xmlns:a="http://schemas.openxmlformats.org/drawingml/2006/main" prst="straightConnector1">
            <a:avLst/>
          </a:prstGeom>
          <a:ln xmlns:a="http://schemas.openxmlformats.org/drawingml/2006/main" w="19050">
            <a:solidFill>
              <a:srgbClr val="141414"/>
            </a:solidFill>
            <a:tailEnd type="arrow" w="med" len="med"/>
          </a:ln>
        </p:spPr>
      </p:cxnSp>
      <p:sp>
        <p:nvSpPr>
          <p:cNvPr id="26" name="">
            <a:extLst xmlns:a="http://schemas.openxmlformats.org/drawingml/2006/main">
              <a:ext uri="{FF2B5EF4-FFF2-40B4-BE49-F238E27FC236}">
                <a16:creationId xmlns:a16="http://schemas.microsoft.com/office/drawing/2014/main" id="{5CE3F4FD-04A7-4FB8-9149-5D396F55A464}"/>
              </a:ext>
            </a:extLst>
          </p:cNvPr>
          <p:cNvSpPr>
            <a:spLocks xmlns:a="http://schemas.openxmlformats.org/drawingml/2006/main" noGrp="1"/>
          </p:cNvSpPr>
          <p:nvPr/>
        </p:nvSpPr>
        <p:spPr>
          <a:xfrm xmlns:a="http://schemas.openxmlformats.org/drawingml/2006/main">
            <a:off x="647700" y="5934075"/>
            <a:ext cx="1057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0">
                <a:solidFill>
                  <a:srgbClr val="626262"/>
                </a:solidFill>
                <a:latin typeface="Arial"/>
                <a:ea typeface="Arial"/>
                <a:cs typeface="Arial"/>
              </a:defRPr>
            </a:pPr>
            <a:r>
              <a:rPr sz="1650" b="0">
                <a:solidFill>
                  <a:srgbClr val="626262"/>
                </a:solidFill>
                <a:latin typeface="Arial"/>
                <a:ea typeface="Arial"/>
                <a:cs typeface="Arial"/>
              </a:rPr>
              <a:t>Grid coordination determines whether curtailed electricity can reach a plant.</a:t>
            </a:r>
          </a:p>
        </p:txBody>
      </p:sp>
    </p:spTree>
    <p:extLst>
      <p:ext uri="{BB962C8B-B14F-4D97-AF65-F5344CB8AC3E}">
        <p14:creationId xmlns:p14="http://schemas.microsoft.com/office/powerpoint/2010/main" val="460833844"/>
      </p:ext>
    </p:extLst>
  </p:cSld>
</p:sld>
</file>

<file path=ppt/slides/slide3.xml><?xml version="1.0" encoding="utf-8"?>
<p:sld xmlns:p="http://schemas.openxmlformats.org/presentationml/2006/main">
  <p:cSld>
    <p:bg>
      <p:bgPr>
        <a:solidFill xmlns:a="http://schemas.openxmlformats.org/drawingml/2006/main">
          <a:srgbClr val="FAFAFA"/>
        </a:solidFill>
      </p:bgPr>
    </p:bg>
    <p:spTree>
      <p:nvGrpSpPr>
        <p:cNvPr id="1" name=""/>
        <p:cNvGrpSpPr/>
        <p:nvPr/>
      </p:nvGrpSpPr>
      <p:grpSpPr>
        <a:xfrm xmlns:a="http://schemas.openxmlformats.org/drawingml/2006/main"/>
      </p:grpSpPr>
      <p:sp>
        <p:nvSpPr>
          <p:cNvPr id="8" name="slide-title">
            <a:extLst xmlns:a="http://schemas.openxmlformats.org/drawingml/2006/main">
              <a:ext uri="{FF2B5EF4-FFF2-40B4-BE49-F238E27FC236}">
                <a16:creationId xmlns:a16="http://schemas.microsoft.com/office/drawing/2014/main" id="{FF4DD892-DD06-4960-8EA0-BF39FF47D4E4}"/>
              </a:ext>
            </a:extLst>
          </p:cNvPr>
          <p:cNvSpPr>
            <a:spLocks xmlns:a="http://schemas.openxmlformats.org/drawingml/2006/main" noGrp="1"/>
          </p:cNvSpPr>
          <p:nvPr/>
        </p:nvSpPr>
        <p:spPr>
          <a:xfrm xmlns:a="http://schemas.openxmlformats.org/drawingml/2006/main">
            <a:off x="609600" y="40005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buNone/>
              <a:defRPr sz="3600" b="1">
                <a:solidFill>
                  <a:srgbClr val="101010"/>
                </a:solidFill>
                <a:latin typeface="Arial"/>
                <a:ea typeface="Arial"/>
                <a:cs typeface="Arial"/>
              </a:defRPr>
            </a:pPr>
            <a:r>
              <a:rPr sz="3600" b="1">
                <a:solidFill>
                  <a:srgbClr val="101010"/>
                </a:solidFill>
                <a:latin typeface="Arial"/>
                <a:ea typeface="Arial"/>
                <a:cs typeface="Arial"/>
              </a:rPr>
              <a:t>Grid and Sites</a:t>
            </a:r>
          </a:p>
        </p:txBody>
      </p:sp>
      <p:sp>
        <p:nvSpPr>
          <p:cNvPr id="2" name="slide-number">
            <a:extLst xmlns:a="http://schemas.openxmlformats.org/drawingml/2006/main">
              <a:ext uri="{FF2B5EF4-FFF2-40B4-BE49-F238E27FC236}">
                <a16:creationId xmlns:a16="http://schemas.microsoft.com/office/drawing/2014/main" id="{ADCAE1ED-0E13-40F6-A129-435D153F9EE4}"/>
              </a:ext>
            </a:extLst>
          </p:cNvPr>
          <p:cNvSpPr>
            <a:spLocks xmlns:a="http://schemas.openxmlformats.org/drawingml/2006/main" noGrp="1"/>
          </p:cNvSpPr>
          <p:nvPr/>
        </p:nvSpPr>
        <p:spPr>
          <a:xfrm xmlns:a="http://schemas.openxmlformats.org/drawingml/2006/main">
            <a:off x="10668000" y="6381750"/>
            <a:ext cx="914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r">
              <a:buNone/>
              <a:defRPr sz="1350" b="0">
                <a:solidFill>
                  <a:srgbClr val="737373"/>
                </a:solidFill>
                <a:latin typeface="Arial"/>
                <a:ea typeface="Arial"/>
                <a:cs typeface="Arial"/>
              </a:defRPr>
            </a:pPr>
            <a:r>
              <a:rPr sz="1350" b="0">
                <a:solidFill>
                  <a:srgbClr val="737373"/>
                </a:solidFill>
                <a:latin typeface="Arial"/>
                <a:ea typeface="Arial"/>
                <a:cs typeface="Arial"/>
              </a:rPr>
              <a:t>03 / 12</a:t>
            </a:r>
          </a:p>
        </p:txBody>
      </p:sp>
      <p:sp>
        <p:nvSpPr>
          <p:cNvPr id="9" name="">
            <a:extLst xmlns:a="http://schemas.openxmlformats.org/drawingml/2006/main">
              <a:ext uri="{FF2B5EF4-FFF2-40B4-BE49-F238E27FC236}">
                <a16:creationId xmlns:a16="http://schemas.microsoft.com/office/drawing/2014/main" id="{A7933A88-B575-4698-9CB1-9B491BA01FAC}"/>
              </a:ext>
            </a:extLst>
          </p:cNvPr>
          <p:cNvSpPr>
            <a:spLocks xmlns:a="http://schemas.openxmlformats.org/drawingml/2006/main" noGrp="1"/>
          </p:cNvSpPr>
          <p:nvPr/>
        </p:nvSpPr>
        <p:spPr>
          <a:xfrm xmlns:a="http://schemas.openxmlformats.org/drawingml/2006/main">
            <a:off x="647700" y="1781175"/>
            <a:ext cx="5048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a:solidFill>
                  <a:srgbClr val="141414"/>
                </a:solidFill>
                <a:latin typeface="Arial"/>
                <a:ea typeface="Arial"/>
                <a:cs typeface="Arial"/>
              </a:defRPr>
            </a:pPr>
            <a:r>
              <a:rPr sz="3600" b="1">
                <a:solidFill>
                  <a:srgbClr val="141414"/>
                </a:solidFill>
                <a:latin typeface="Arial"/>
                <a:ea typeface="Arial"/>
                <a:cs typeface="Arial"/>
              </a:rPr>
              <a:t>Grid</a:t>
            </a:r>
          </a:p>
        </p:txBody>
      </p:sp>
      <p:sp>
        <p:nvSpPr>
          <p:cNvPr id="10" name="">
            <a:extLst xmlns:a="http://schemas.openxmlformats.org/drawingml/2006/main">
              <a:ext uri="{FF2B5EF4-FFF2-40B4-BE49-F238E27FC236}">
                <a16:creationId xmlns:a16="http://schemas.microsoft.com/office/drawing/2014/main" id="{096793DA-363A-490F-B2D1-63C96CC39A7A}"/>
              </a:ext>
            </a:extLst>
          </p:cNvPr>
          <p:cNvSpPr>
            <a:spLocks xmlns:a="http://schemas.openxmlformats.org/drawingml/2006/main" noGrp="1"/>
          </p:cNvSpPr>
          <p:nvPr/>
        </p:nvSpPr>
        <p:spPr>
          <a:xfrm xmlns:a="http://schemas.openxmlformats.org/drawingml/2006/main">
            <a:off x="647700" y="2695575"/>
            <a:ext cx="4953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550" b="0">
                <a:solidFill>
                  <a:srgbClr val="141414"/>
                </a:solidFill>
                <a:latin typeface="Arial"/>
                <a:ea typeface="Arial"/>
                <a:cs typeface="Arial"/>
              </a:defRPr>
            </a:pPr>
            <a:r>
              <a:rPr sz="2550" b="0">
                <a:solidFill>
                  <a:srgbClr val="141414"/>
                </a:solidFill>
                <a:latin typeface="Arial"/>
                <a:ea typeface="Arial"/>
                <a:cs typeface="Arial"/>
              </a:rPr>
              <a:t>Desalination and stored water</a:t>
            </a:r>
          </a:p>
        </p:txBody>
      </p:sp>
      <p:sp>
        <p:nvSpPr>
          <p:cNvPr id="11" name="">
            <a:extLst xmlns:a="http://schemas.openxmlformats.org/drawingml/2006/main">
              <a:ext uri="{FF2B5EF4-FFF2-40B4-BE49-F238E27FC236}">
                <a16:creationId xmlns:a16="http://schemas.microsoft.com/office/drawing/2014/main" id="{8B274214-EF3D-4CE7-87FC-05279A1BF1D9}"/>
              </a:ext>
            </a:extLst>
          </p:cNvPr>
          <p:cNvSpPr>
            <a:spLocks xmlns:a="http://schemas.openxmlformats.org/drawingml/2006/main" noGrp="1"/>
          </p:cNvSpPr>
          <p:nvPr/>
        </p:nvSpPr>
        <p:spPr>
          <a:xfrm xmlns:a="http://schemas.openxmlformats.org/drawingml/2006/main">
            <a:off x="647700" y="4019550"/>
            <a:ext cx="49530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0">
                <a:solidFill>
                  <a:srgbClr val="626262"/>
                </a:solidFill>
                <a:latin typeface="Arial"/>
                <a:ea typeface="Arial"/>
                <a:cs typeface="Arial"/>
              </a:defRPr>
            </a:pPr>
            <a:r>
              <a:rPr sz="2100" b="0">
                <a:solidFill>
                  <a:srgbClr val="626262"/>
                </a:solidFill>
                <a:latin typeface="Arial"/>
                <a:ea typeface="Arial"/>
                <a:cs typeface="Arial"/>
              </a:rPr>
              <a:t>Supplied model and schedule</a:t>
            </a:r>
          </a:p>
          <a:p xmlns:a="http://schemas.openxmlformats.org/drawingml/2006/main">
            <a:pPr>
              <a:defRPr sz="2100" b="0">
                <a:solidFill>
                  <a:srgbClr val="626262"/>
                </a:solidFill>
                <a:latin typeface="Arial"/>
                <a:ea typeface="Arial"/>
                <a:cs typeface="Arial"/>
              </a:defRPr>
            </a:pPr>
            <a:r>
              <a:rPr sz="2100" b="0">
                <a:solidFill>
                  <a:srgbClr val="626262"/>
                </a:solidFill>
                <a:latin typeface="Arial"/>
                <a:ea typeface="Arial"/>
                <a:cs typeface="Arial"/>
              </a:rPr>
              <a:t>Operator review</a:t>
            </a:r>
          </a:p>
        </p:txBody>
      </p:sp>
      <p:sp>
        <p:nvSpPr>
          <p:cNvPr id="12" name="">
            <a:extLst xmlns:a="http://schemas.openxmlformats.org/drawingml/2006/main">
              <a:ext uri="{FF2B5EF4-FFF2-40B4-BE49-F238E27FC236}">
                <a16:creationId xmlns:a16="http://schemas.microsoft.com/office/drawing/2014/main" id="{151586B8-D22D-48F7-A74B-84AD063B06A3}"/>
              </a:ext>
            </a:extLst>
          </p:cNvPr>
          <p:cNvSpPr>
            <a:spLocks xmlns:a="http://schemas.openxmlformats.org/drawingml/2006/main" noGrp="1"/>
          </p:cNvSpPr>
          <p:nvPr/>
        </p:nvSpPr>
        <p:spPr>
          <a:xfrm xmlns:a="http://schemas.openxmlformats.org/drawingml/2006/main">
            <a:off x="6477000" y="1781175"/>
            <a:ext cx="5048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a:solidFill>
                  <a:srgbClr val="141414"/>
                </a:solidFill>
                <a:latin typeface="Arial"/>
                <a:ea typeface="Arial"/>
                <a:cs typeface="Arial"/>
              </a:defRPr>
            </a:pPr>
            <a:r>
              <a:rPr sz="3600" b="1">
                <a:solidFill>
                  <a:srgbClr val="141414"/>
                </a:solidFill>
                <a:latin typeface="Arial"/>
                <a:ea typeface="Arial"/>
                <a:cs typeface="Arial"/>
              </a:rPr>
              <a:t>Sites</a:t>
            </a:r>
          </a:p>
        </p:txBody>
      </p:sp>
      <p:sp>
        <p:nvSpPr>
          <p:cNvPr id="13" name="">
            <a:extLst xmlns:a="http://schemas.openxmlformats.org/drawingml/2006/main">
              <a:ext uri="{FF2B5EF4-FFF2-40B4-BE49-F238E27FC236}">
                <a16:creationId xmlns:a16="http://schemas.microsoft.com/office/drawing/2014/main" id="{C7048703-DCB9-4A75-9AC3-DB4E13447077}"/>
              </a:ext>
            </a:extLst>
          </p:cNvPr>
          <p:cNvSpPr>
            <a:spLocks xmlns:a="http://schemas.openxmlformats.org/drawingml/2006/main" noGrp="1"/>
          </p:cNvSpPr>
          <p:nvPr/>
        </p:nvSpPr>
        <p:spPr>
          <a:xfrm xmlns:a="http://schemas.openxmlformats.org/drawingml/2006/main">
            <a:off x="6477000" y="2695575"/>
            <a:ext cx="4857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550" b="0">
                <a:solidFill>
                  <a:srgbClr val="141414"/>
                </a:solidFill>
                <a:latin typeface="Arial"/>
                <a:ea typeface="Arial"/>
                <a:cs typeface="Arial"/>
              </a:defRPr>
            </a:pPr>
            <a:r>
              <a:rPr sz="2550" b="0">
                <a:solidFill>
                  <a:srgbClr val="141414"/>
                </a:solidFill>
                <a:latin typeface="Arial"/>
                <a:ea typeface="Arial"/>
                <a:cs typeface="Arial"/>
              </a:rPr>
              <a:t>Irrigation and unusual night flow</a:t>
            </a:r>
          </a:p>
        </p:txBody>
      </p:sp>
      <p:sp>
        <p:nvSpPr>
          <p:cNvPr id="14" name="">
            <a:extLst xmlns:a="http://schemas.openxmlformats.org/drawingml/2006/main">
              <a:ext uri="{FF2B5EF4-FFF2-40B4-BE49-F238E27FC236}">
                <a16:creationId xmlns:a16="http://schemas.microsoft.com/office/drawing/2014/main" id="{83B2995C-8CD3-4A9A-B724-B42130640933}"/>
              </a:ext>
            </a:extLst>
          </p:cNvPr>
          <p:cNvSpPr>
            <a:spLocks xmlns:a="http://schemas.openxmlformats.org/drawingml/2006/main" noGrp="1"/>
          </p:cNvSpPr>
          <p:nvPr/>
        </p:nvSpPr>
        <p:spPr>
          <a:xfrm xmlns:a="http://schemas.openxmlformats.org/drawingml/2006/main">
            <a:off x="6477000" y="4019550"/>
            <a:ext cx="485775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0">
                <a:solidFill>
                  <a:srgbClr val="626262"/>
                </a:solidFill>
                <a:latin typeface="Arial"/>
                <a:ea typeface="Arial"/>
                <a:cs typeface="Arial"/>
              </a:defRPr>
            </a:pPr>
            <a:r>
              <a:rPr sz="2100" b="0">
                <a:solidFill>
                  <a:srgbClr val="626262"/>
                </a:solidFill>
                <a:latin typeface="Arial"/>
                <a:ea typeface="Arial"/>
                <a:cs typeface="Arial"/>
              </a:rPr>
              <a:t>Separate prototype</a:t>
            </a:r>
          </a:p>
          <a:p xmlns:a="http://schemas.openxmlformats.org/drawingml/2006/main">
            <a:pPr>
              <a:defRPr sz="2100" b="0">
                <a:solidFill>
                  <a:srgbClr val="626262"/>
                </a:solidFill>
                <a:latin typeface="Arial"/>
                <a:ea typeface="Arial"/>
                <a:cs typeface="Arial"/>
              </a:defRPr>
            </a:pPr>
            <a:r>
              <a:rPr sz="2100" b="0">
                <a:solidFill>
                  <a:srgbClr val="626262"/>
                </a:solidFill>
                <a:latin typeface="Arial"/>
                <a:ea typeface="Arial"/>
                <a:cs typeface="Arial"/>
              </a:rPr>
              <a:t>Synthetic meter examples</a:t>
            </a:r>
          </a:p>
        </p:txBody>
      </p:sp>
      <p:sp>
        <p:nvSpPr>
          <p:cNvPr id="15" name="">
            <a:extLst xmlns:a="http://schemas.openxmlformats.org/drawingml/2006/main">
              <a:ext uri="{FF2B5EF4-FFF2-40B4-BE49-F238E27FC236}">
                <a16:creationId xmlns:a16="http://schemas.microsoft.com/office/drawing/2014/main" id="{3BB50B44-3DD3-41F1-BC99-FF10CE706ACC}"/>
              </a:ext>
            </a:extLst>
          </p:cNvPr>
          <p:cNvSpPr>
            <a:spLocks xmlns:a="http://schemas.openxmlformats.org/drawingml/2006/main" noGrp="1"/>
          </p:cNvSpPr>
          <p:nvPr/>
        </p:nvSpPr>
        <p:spPr>
          <a:xfrm xmlns:a="http://schemas.openxmlformats.org/drawingml/2006/main">
            <a:off x="647700" y="5934075"/>
            <a:ext cx="1057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0">
                <a:solidFill>
                  <a:srgbClr val="626262"/>
                </a:solidFill>
                <a:latin typeface="Arial"/>
                <a:ea typeface="Arial"/>
                <a:cs typeface="Arial"/>
              </a:defRPr>
            </a:pPr>
            <a:r>
              <a:rPr sz="1650" b="0">
                <a:solidFill>
                  <a:srgbClr val="626262"/>
                </a:solidFill>
                <a:latin typeface="Arial"/>
                <a:ea typeface="Arial"/>
                <a:cs typeface="Arial"/>
              </a:rPr>
              <a:t>Today’s supplied evidence covers Grid. Neither prototype controls equipment.</a:t>
            </a:r>
          </a:p>
        </p:txBody>
      </p:sp>
    </p:spTree>
    <p:extLst>
      <p:ext uri="{BB962C8B-B14F-4D97-AF65-F5344CB8AC3E}">
        <p14:creationId xmlns:p14="http://schemas.microsoft.com/office/powerpoint/2010/main" val="1712237533"/>
      </p:ext>
    </p:extLst>
  </p:cSld>
</p:sld>
</file>

<file path=ppt/slides/slide4.xml><?xml version="1.0" encoding="utf-8"?>
<p:sld xmlns:p="http://schemas.openxmlformats.org/presentationml/2006/main">
  <p:cSld>
    <p:bg>
      <p:bgPr>
        <a:solidFill xmlns:a="http://schemas.openxmlformats.org/drawingml/2006/main">
          <a:srgbClr val="FAFAFA"/>
        </a:solidFill>
      </p:bgPr>
    </p:bg>
    <p:spTree>
      <p:nvGrpSpPr>
        <p:cNvPr id="1" name=""/>
        <p:cNvGrpSpPr/>
        <p:nvPr/>
      </p:nvGrpSpPr>
      <p:grpSpPr>
        <a:xfrm xmlns:a="http://schemas.openxmlformats.org/drawingml/2006/main"/>
      </p:grpSpPr>
      <p:sp>
        <p:nvSpPr>
          <p:cNvPr id="15" name="slide-title">
            <a:extLst xmlns:a="http://schemas.openxmlformats.org/drawingml/2006/main">
              <a:ext uri="{FF2B5EF4-FFF2-40B4-BE49-F238E27FC236}">
                <a16:creationId xmlns:a16="http://schemas.microsoft.com/office/drawing/2014/main" id="{A36F5EBA-9B14-4914-BEA5-62F44EBECCF5}"/>
              </a:ext>
            </a:extLst>
          </p:cNvPr>
          <p:cNvSpPr>
            <a:spLocks xmlns:a="http://schemas.openxmlformats.org/drawingml/2006/main" noGrp="1"/>
          </p:cNvSpPr>
          <p:nvPr/>
        </p:nvSpPr>
        <p:spPr>
          <a:xfrm xmlns:a="http://schemas.openxmlformats.org/drawingml/2006/main">
            <a:off x="609600" y="40005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buNone/>
              <a:defRPr sz="3600" b="1">
                <a:solidFill>
                  <a:srgbClr val="101010"/>
                </a:solidFill>
                <a:latin typeface="Arial"/>
                <a:ea typeface="Arial"/>
                <a:cs typeface="Arial"/>
              </a:defRPr>
            </a:pPr>
            <a:r>
              <a:rPr sz="3600" b="1">
                <a:solidFill>
                  <a:srgbClr val="101010"/>
                </a:solidFill>
                <a:latin typeface="Arial"/>
                <a:ea typeface="Arial"/>
                <a:cs typeface="Arial"/>
              </a:rPr>
              <a:t>The supplied demonstration</a:t>
            </a:r>
          </a:p>
        </p:txBody>
      </p:sp>
      <p:sp>
        <p:nvSpPr>
          <p:cNvPr id="2" name="slide-number">
            <a:extLst xmlns:a="http://schemas.openxmlformats.org/drawingml/2006/main">
              <a:ext uri="{FF2B5EF4-FFF2-40B4-BE49-F238E27FC236}">
                <a16:creationId xmlns:a16="http://schemas.microsoft.com/office/drawing/2014/main" id="{252327A5-4DD5-4466-A9BA-A892957CFF81}"/>
              </a:ext>
            </a:extLst>
          </p:cNvPr>
          <p:cNvSpPr>
            <a:spLocks xmlns:a="http://schemas.openxmlformats.org/drawingml/2006/main" noGrp="1"/>
          </p:cNvSpPr>
          <p:nvPr/>
        </p:nvSpPr>
        <p:spPr>
          <a:xfrm xmlns:a="http://schemas.openxmlformats.org/drawingml/2006/main">
            <a:off x="10668000" y="6381750"/>
            <a:ext cx="914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r">
              <a:buNone/>
              <a:defRPr sz="1350" b="0">
                <a:solidFill>
                  <a:srgbClr val="737373"/>
                </a:solidFill>
                <a:latin typeface="Arial"/>
                <a:ea typeface="Arial"/>
                <a:cs typeface="Arial"/>
              </a:defRPr>
            </a:pPr>
            <a:r>
              <a:rPr sz="1350" b="0">
                <a:solidFill>
                  <a:srgbClr val="737373"/>
                </a:solidFill>
                <a:latin typeface="Arial"/>
                <a:ea typeface="Arial"/>
                <a:cs typeface="Arial"/>
              </a:rPr>
              <a:t>04 / 12</a:t>
            </a:r>
          </a:p>
        </p:txBody>
      </p:sp>
      <p:sp>
        <p:nvSpPr>
          <p:cNvPr id="16" name="">
            <a:extLst xmlns:a="http://schemas.openxmlformats.org/drawingml/2006/main">
              <a:ext uri="{FF2B5EF4-FFF2-40B4-BE49-F238E27FC236}">
                <a16:creationId xmlns:a16="http://schemas.microsoft.com/office/drawing/2014/main" id="{E65B596A-51FA-4FC3-AD81-B8F2808BE793}"/>
              </a:ext>
            </a:extLst>
          </p:cNvPr>
          <p:cNvSpPr>
            <a:spLocks xmlns:a="http://schemas.openxmlformats.org/drawingml/2006/main" noGrp="1"/>
          </p:cNvSpPr>
          <p:nvPr/>
        </p:nvSpPr>
        <p:spPr>
          <a:xfrm xmlns:a="http://schemas.openxmlformats.org/drawingml/2006/main">
            <a:off x="647700" y="1504950"/>
            <a:ext cx="5524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8400" b="1">
                <a:solidFill>
                  <a:srgbClr val="141414"/>
                </a:solidFill>
                <a:latin typeface="Arial"/>
                <a:ea typeface="Arial"/>
                <a:cs typeface="Arial"/>
              </a:defRPr>
            </a:pPr>
            <a:r>
              <a:rPr sz="8400" b="1">
                <a:solidFill>
                  <a:srgbClr val="141414"/>
                </a:solidFill>
                <a:latin typeface="Arial"/>
                <a:ea typeface="Arial"/>
                <a:cs typeface="Arial"/>
              </a:rPr>
              <a:t>296</a:t>
            </a:r>
          </a:p>
        </p:txBody>
      </p:sp>
      <p:sp>
        <p:nvSpPr>
          <p:cNvPr id="17" name="">
            <a:extLst xmlns:a="http://schemas.openxmlformats.org/drawingml/2006/main">
              <a:ext uri="{FF2B5EF4-FFF2-40B4-BE49-F238E27FC236}">
                <a16:creationId xmlns:a16="http://schemas.microsoft.com/office/drawing/2014/main" id="{01475F89-E6AB-43C2-91D0-059042795AB9}"/>
              </a:ext>
            </a:extLst>
          </p:cNvPr>
          <p:cNvSpPr>
            <a:spLocks xmlns:a="http://schemas.openxmlformats.org/drawingml/2006/main" noGrp="1"/>
          </p:cNvSpPr>
          <p:nvPr/>
        </p:nvSpPr>
        <p:spPr>
          <a:xfrm xmlns:a="http://schemas.openxmlformats.org/drawingml/2006/main">
            <a:off x="704850" y="3019425"/>
            <a:ext cx="5619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700" b="0">
                <a:solidFill>
                  <a:srgbClr val="141414"/>
                </a:solidFill>
                <a:latin typeface="Arial"/>
                <a:ea typeface="Arial"/>
                <a:cs typeface="Arial"/>
              </a:defRPr>
            </a:pPr>
            <a:r>
              <a:rPr sz="2700" b="0">
                <a:solidFill>
                  <a:srgbClr val="141414"/>
                </a:solidFill>
                <a:latin typeface="Arial"/>
                <a:ea typeface="Arial"/>
                <a:cs typeface="Arial"/>
              </a:rPr>
              <a:t>complete schedule days</a:t>
            </a:r>
          </a:p>
        </p:txBody>
      </p:sp>
      <p:sp>
        <p:nvSpPr>
          <p:cNvPr id="18" name="">
            <a:extLst xmlns:a="http://schemas.openxmlformats.org/drawingml/2006/main">
              <a:ext uri="{FF2B5EF4-FFF2-40B4-BE49-F238E27FC236}">
                <a16:creationId xmlns:a16="http://schemas.microsoft.com/office/drawing/2014/main" id="{78FE37B4-1BBA-4908-8E8B-D47D009337F4}"/>
              </a:ext>
            </a:extLst>
          </p:cNvPr>
          <p:cNvSpPr>
            <a:spLocks xmlns:a="http://schemas.openxmlformats.org/drawingml/2006/main" noGrp="1"/>
          </p:cNvSpPr>
          <p:nvPr/>
        </p:nvSpPr>
        <p:spPr>
          <a:xfrm xmlns:a="http://schemas.openxmlformats.org/drawingml/2006/main">
            <a:off x="704850" y="3895725"/>
            <a:ext cx="55245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0">
                <a:solidFill>
                  <a:srgbClr val="626262"/>
                </a:solidFill>
                <a:latin typeface="Arial"/>
                <a:ea typeface="Arial"/>
                <a:cs typeface="Arial"/>
              </a:defRPr>
            </a:pPr>
            <a:r>
              <a:rPr sz="2100" b="0">
                <a:solidFill>
                  <a:srgbClr val="626262"/>
                </a:solidFill>
                <a:latin typeface="Arial"/>
                <a:ea typeface="Arial"/>
                <a:cs typeface="Arial"/>
              </a:rPr>
              <a:t>6 December 2025 to 28 September 2026</a:t>
            </a:r>
          </a:p>
        </p:txBody>
      </p:sp>
      <p:sp>
        <p:nvSpPr>
          <p:cNvPr id="19" name="">
            <a:extLst xmlns:a="http://schemas.openxmlformats.org/drawingml/2006/main">
              <a:ext uri="{FF2B5EF4-FFF2-40B4-BE49-F238E27FC236}">
                <a16:creationId xmlns:a16="http://schemas.microsoft.com/office/drawing/2014/main" id="{C28C51B3-09B0-46AE-9EDB-0F8F1023FF06}"/>
              </a:ext>
            </a:extLst>
          </p:cNvPr>
          <p:cNvSpPr>
            <a:spLocks xmlns:a="http://schemas.openxmlformats.org/drawingml/2006/main" noGrp="1"/>
          </p:cNvSpPr>
          <p:nvPr/>
        </p:nvSpPr>
        <p:spPr>
          <a:xfrm xmlns:a="http://schemas.openxmlformats.org/drawingml/2006/main">
            <a:off x="7067550" y="1762125"/>
            <a:ext cx="4476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750" b="1">
                <a:solidFill>
                  <a:srgbClr val="141414"/>
                </a:solidFill>
                <a:latin typeface="Arial"/>
                <a:ea typeface="Arial"/>
                <a:cs typeface="Arial"/>
              </a:defRPr>
            </a:pPr>
            <a:r>
              <a:rPr sz="3750" b="1">
                <a:solidFill>
                  <a:srgbClr val="141414"/>
                </a:solidFill>
                <a:latin typeface="Arial"/>
                <a:ea typeface="Arial"/>
                <a:cs typeface="Arial"/>
              </a:rPr>
              <a:t>7,104 rows</a:t>
            </a:r>
          </a:p>
        </p:txBody>
      </p:sp>
      <p:sp>
        <p:nvSpPr>
          <p:cNvPr id="20" name="">
            <a:extLst xmlns:a="http://schemas.openxmlformats.org/drawingml/2006/main">
              <a:ext uri="{FF2B5EF4-FFF2-40B4-BE49-F238E27FC236}">
                <a16:creationId xmlns:a16="http://schemas.microsoft.com/office/drawing/2014/main" id="{EF8A1040-A018-4F33-B13C-E3086EBEBCA4}"/>
              </a:ext>
            </a:extLst>
          </p:cNvPr>
          <p:cNvSpPr>
            <a:spLocks xmlns:a="http://schemas.openxmlformats.org/drawingml/2006/main" noGrp="1"/>
          </p:cNvSpPr>
          <p:nvPr/>
        </p:nvSpPr>
        <p:spPr>
          <a:xfrm xmlns:a="http://schemas.openxmlformats.org/drawingml/2006/main">
            <a:off x="7105650" y="2819400"/>
            <a:ext cx="42862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325" b="0">
                <a:solidFill>
                  <a:srgbClr val="141414"/>
                </a:solidFill>
                <a:latin typeface="Arial"/>
                <a:ea typeface="Arial"/>
                <a:cs typeface="Arial"/>
              </a:defRPr>
            </a:pPr>
            <a:r>
              <a:rPr sz="2325" b="0">
                <a:solidFill>
                  <a:srgbClr val="141414"/>
                </a:solidFill>
                <a:latin typeface="Arial"/>
                <a:ea typeface="Arial"/>
                <a:cs typeface="Arial"/>
              </a:rPr>
              <a:t>Forecast column matches</a:t>
            </a:r>
          </a:p>
          <a:p xmlns:a="http://schemas.openxmlformats.org/drawingml/2006/main">
            <a:pPr>
              <a:defRPr sz="2325" b="0">
                <a:solidFill>
                  <a:srgbClr val="141414"/>
                </a:solidFill>
                <a:latin typeface="Arial"/>
                <a:ea typeface="Arial"/>
                <a:cs typeface="Arial"/>
              </a:defRPr>
            </a:pPr>
            <a:r>
              <a:rPr sz="2325" b="0">
                <a:solidFill>
                  <a:srgbClr val="141414"/>
                </a:solidFill>
                <a:latin typeface="Arial"/>
                <a:ea typeface="Arial"/>
                <a:cs typeface="Arial"/>
              </a:rPr>
              <a:t>persistence in every row</a:t>
            </a:r>
          </a:p>
        </p:txBody>
      </p:sp>
      <p:sp>
        <p:nvSpPr>
          <p:cNvPr id="21" name="">
            <a:extLst xmlns:a="http://schemas.openxmlformats.org/drawingml/2006/main">
              <a:ext uri="{FF2B5EF4-FFF2-40B4-BE49-F238E27FC236}">
                <a16:creationId xmlns:a16="http://schemas.microsoft.com/office/drawing/2014/main" id="{80393DE7-3118-40BE-8712-7A4ED7948D32}"/>
              </a:ext>
            </a:extLst>
          </p:cNvPr>
          <p:cNvSpPr>
            <a:spLocks xmlns:a="http://schemas.openxmlformats.org/drawingml/2006/main" noGrp="1"/>
          </p:cNvSpPr>
          <p:nvPr/>
        </p:nvSpPr>
        <p:spPr>
          <a:xfrm xmlns:a="http://schemas.openxmlformats.org/drawingml/2006/main">
            <a:off x="7105650" y="4362450"/>
            <a:ext cx="43815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0">
                <a:solidFill>
                  <a:srgbClr val="626262"/>
                </a:solidFill>
                <a:latin typeface="Arial"/>
                <a:ea typeface="Arial"/>
                <a:cs typeface="Arial"/>
              </a:defRPr>
            </a:pPr>
            <a:r>
              <a:rPr sz="2025" b="0">
                <a:solidFill>
                  <a:srgbClr val="626262"/>
                </a:solidFill>
                <a:latin typeface="Arial"/>
                <a:ea typeface="Arial"/>
                <a:cs typeface="Arial"/>
              </a:rPr>
              <a:t>Original LightGBM shown separately</a:t>
            </a:r>
          </a:p>
          <a:p xmlns:a="http://schemas.openxmlformats.org/drawingml/2006/main">
            <a:pPr>
              <a:defRPr sz="2025" b="0">
                <a:solidFill>
                  <a:srgbClr val="626262"/>
                </a:solidFill>
                <a:latin typeface="Arial"/>
                <a:ea typeface="Arial"/>
                <a:cs typeface="Arial"/>
              </a:defRPr>
            </a:pPr>
            <a:r>
              <a:rPr sz="2025" b="0">
                <a:solidFill>
                  <a:srgbClr val="626262"/>
                </a:solidFill>
                <a:latin typeface="Arial"/>
                <a:ea typeface="Arial"/>
                <a:cs typeface="Arial"/>
              </a:rPr>
              <a:t>Intended schedule version pending</a:t>
            </a:r>
          </a:p>
        </p:txBody>
      </p:sp>
      <p:sp>
        <p:nvSpPr>
          <p:cNvPr id="22" name="">
            <a:extLst xmlns:a="http://schemas.openxmlformats.org/drawingml/2006/main">
              <a:ext uri="{FF2B5EF4-FFF2-40B4-BE49-F238E27FC236}">
                <a16:creationId xmlns:a16="http://schemas.microsoft.com/office/drawing/2014/main" id="{DB84004E-82B0-4C23-ACEE-E10C05ED6DAE}"/>
              </a:ext>
            </a:extLst>
          </p:cNvPr>
          <p:cNvSpPr>
            <a:spLocks xmlns:a="http://schemas.openxmlformats.org/drawingml/2006/main" noGrp="1"/>
          </p:cNvSpPr>
          <p:nvPr/>
        </p:nvSpPr>
        <p:spPr>
          <a:xfrm xmlns:a="http://schemas.openxmlformats.org/drawingml/2006/main">
            <a:off x="647700" y="5934075"/>
            <a:ext cx="1057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0">
                <a:solidFill>
                  <a:srgbClr val="626262"/>
                </a:solidFill>
                <a:latin typeface="Arial"/>
                <a:ea typeface="Arial"/>
                <a:cs typeface="Arial"/>
              </a:defRPr>
            </a:pPr>
            <a:r>
              <a:rPr sz="1650" b="0">
                <a:solidFill>
                  <a:srgbClr val="626262"/>
                </a:solidFill>
                <a:latin typeface="Arial"/>
                <a:ea typeface="Arial"/>
                <a:cs typeface="Arial"/>
              </a:rPr>
              <a:t>The demo runs offline with its retained data, scripts and fonts.</a:t>
            </a:r>
          </a:p>
        </p:txBody>
      </p:sp>
    </p:spTree>
    <p:extLst>
      <p:ext uri="{BB962C8B-B14F-4D97-AF65-F5344CB8AC3E}">
        <p14:creationId xmlns:p14="http://schemas.microsoft.com/office/powerpoint/2010/main" val="1881502233"/>
      </p:ext>
    </p:extLst>
  </p:cSld>
</p:sld>
</file>

<file path=ppt/slides/slide5.xml><?xml version="1.0" encoding="utf-8"?>
<p:sld xmlns:p="http://schemas.openxmlformats.org/presentationml/2006/main">
  <p:cSld>
    <p:bg>
      <p:bgPr>
        <a:solidFill xmlns:a="http://schemas.openxmlformats.org/drawingml/2006/main">
          <a:srgbClr val="FAFAFA"/>
        </a:solidFill>
      </p:bgPr>
    </p:bg>
    <p:spTree>
      <p:nvGrpSpPr>
        <p:cNvPr id="1" name=""/>
        <p:cNvGrpSpPr/>
        <p:nvPr/>
      </p:nvGrpSpPr>
      <p:grpSpPr>
        <a:xfrm xmlns:a="http://schemas.openxmlformats.org/drawingml/2006/main"/>
      </p:grpSpPr>
      <p:sp>
        <p:nvSpPr>
          <p:cNvPr id="8" name="slide-title">
            <a:extLst xmlns:a="http://schemas.openxmlformats.org/drawingml/2006/main">
              <a:ext uri="{FF2B5EF4-FFF2-40B4-BE49-F238E27FC236}">
                <a16:creationId xmlns:a16="http://schemas.microsoft.com/office/drawing/2014/main" id="{961C43A6-ED64-43C3-8D40-87D334F1B5F3}"/>
              </a:ext>
            </a:extLst>
          </p:cNvPr>
          <p:cNvSpPr>
            <a:spLocks xmlns:a="http://schemas.openxmlformats.org/drawingml/2006/main" noGrp="1"/>
          </p:cNvSpPr>
          <p:nvPr/>
        </p:nvSpPr>
        <p:spPr>
          <a:xfrm xmlns:a="http://schemas.openxmlformats.org/drawingml/2006/main">
            <a:off x="609600" y="40005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buNone/>
              <a:defRPr sz="3600" b="1">
                <a:solidFill>
                  <a:srgbClr val="101010"/>
                </a:solidFill>
                <a:latin typeface="Arial"/>
                <a:ea typeface="Arial"/>
                <a:cs typeface="Arial"/>
              </a:defRPr>
            </a:pPr>
            <a:r>
              <a:rPr sz="3600" b="1">
                <a:solidFill>
                  <a:srgbClr val="101010"/>
                </a:solidFill>
                <a:latin typeface="Arial"/>
                <a:ea typeface="Arial"/>
                <a:cs typeface="Arial"/>
              </a:rPr>
              <a:t>3 July 2026</a:t>
            </a:r>
          </a:p>
        </p:txBody>
      </p:sp>
      <p:sp>
        <p:nvSpPr>
          <p:cNvPr id="2" name="slide-number">
            <a:extLst xmlns:a="http://schemas.openxmlformats.org/drawingml/2006/main">
              <a:ext uri="{FF2B5EF4-FFF2-40B4-BE49-F238E27FC236}">
                <a16:creationId xmlns:a16="http://schemas.microsoft.com/office/drawing/2014/main" id="{78E002B1-EE31-4594-91DD-76EFE0126198}"/>
              </a:ext>
            </a:extLst>
          </p:cNvPr>
          <p:cNvSpPr>
            <a:spLocks xmlns:a="http://schemas.openxmlformats.org/drawingml/2006/main" noGrp="1"/>
          </p:cNvSpPr>
          <p:nvPr/>
        </p:nvSpPr>
        <p:spPr>
          <a:xfrm xmlns:a="http://schemas.openxmlformats.org/drawingml/2006/main">
            <a:off x="10668000" y="6381750"/>
            <a:ext cx="914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r">
              <a:buNone/>
              <a:defRPr sz="1350" b="0">
                <a:solidFill>
                  <a:srgbClr val="737373"/>
                </a:solidFill>
                <a:latin typeface="Arial"/>
                <a:ea typeface="Arial"/>
                <a:cs typeface="Arial"/>
              </a:defRPr>
            </a:pPr>
            <a:r>
              <a:rPr sz="1350" b="0">
                <a:solidFill>
                  <a:srgbClr val="737373"/>
                </a:solidFill>
                <a:latin typeface="Arial"/>
                <a:ea typeface="Arial"/>
                <a:cs typeface="Arial"/>
              </a:rPr>
              <a:t>05 / 12</a:t>
            </a:r>
          </a:p>
        </p:txBody>
      </p:sp>
      <p:sp>
        <p:nvSpPr>
          <p:cNvPr id="9" name="">
            <a:extLst xmlns:a="http://schemas.openxmlformats.org/drawingml/2006/main">
              <a:ext uri="{FF2B5EF4-FFF2-40B4-BE49-F238E27FC236}">
                <a16:creationId xmlns:a16="http://schemas.microsoft.com/office/drawing/2014/main" id="{EA7A2003-11F8-4B4D-A9F2-2E20030B0EDC}"/>
              </a:ext>
            </a:extLst>
          </p:cNvPr>
          <p:cNvSpPr>
            <a:spLocks xmlns:a="http://schemas.openxmlformats.org/drawingml/2006/main" noGrp="1"/>
          </p:cNvSpPr>
          <p:nvPr/>
        </p:nvSpPr>
        <p:spPr>
          <a:xfrm xmlns:a="http://schemas.openxmlformats.org/drawingml/2006/main">
            <a:off x="666750" y="1238250"/>
            <a:ext cx="7620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1">
                <a:solidFill>
                  <a:srgbClr val="141414"/>
                </a:solidFill>
                <a:latin typeface="Arial"/>
                <a:ea typeface="Arial"/>
                <a:cs typeface="Arial"/>
              </a:defRPr>
            </a:pPr>
            <a:r>
              <a:rPr sz="1950" b="1">
                <a:solidFill>
                  <a:srgbClr val="141414"/>
                </a:solidFill>
                <a:latin typeface="Arial"/>
                <a:ea typeface="Arial"/>
                <a:cs typeface="Arial"/>
              </a:rPr>
              <a:t>Hourly production, m³</a:t>
            </a:r>
          </a:p>
        </p:txBody>
      </p:sp>
      <p:graphicFrame>
        <p:nvGraphicFramePr>
          <p:cNvPr id="21" name="Chart"/>
          <p:cNvGraphicFramePr/>
          <p:nvPr/>
        </p:nvGraphicFramePr>
        <p:xfrm>
          <a:off xmlns:a="http://schemas.openxmlformats.org/drawingml/2006/main" x="552450" y="1609725"/>
          <a:ext xmlns:a="http://schemas.openxmlformats.org/drawingml/2006/main" cx="7524750" cy="2190750"/>
        </p:xfrm>
        <a:graphic xmlns:a="http://schemas.openxmlformats.org/drawingml/2006/main">
          <a:graphicData uri="http://schemas.openxmlformats.org/drawingml/2006/chart">
            <c:chart xmlns:r="http://schemas.openxmlformats.org/officeDocument/2006/relationships" xmlns:c="http://schemas.openxmlformats.org/drawingml/2006/chart" r:id="R8062a601069e46f0"/>
          </a:graphicData>
        </a:graphic>
      </p:graphicFrame>
      <p:sp>
        <p:nvSpPr>
          <p:cNvPr id="11" name="">
            <a:extLst xmlns:a="http://schemas.openxmlformats.org/drawingml/2006/main">
              <a:ext uri="{FF2B5EF4-FFF2-40B4-BE49-F238E27FC236}">
                <a16:creationId xmlns:a16="http://schemas.microsoft.com/office/drawing/2014/main" id="{51FF5DF6-5142-45A5-9A77-77FD813AA6A7}"/>
              </a:ext>
            </a:extLst>
          </p:cNvPr>
          <p:cNvSpPr>
            <a:spLocks xmlns:a="http://schemas.openxmlformats.org/drawingml/2006/main" noGrp="1"/>
          </p:cNvSpPr>
          <p:nvPr/>
        </p:nvSpPr>
        <p:spPr>
          <a:xfrm xmlns:a="http://schemas.openxmlformats.org/drawingml/2006/main">
            <a:off x="666750" y="3848100"/>
            <a:ext cx="7620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1">
                <a:solidFill>
                  <a:srgbClr val="141414"/>
                </a:solidFill>
                <a:latin typeface="Arial"/>
                <a:ea typeface="Arial"/>
                <a:cs typeface="Arial"/>
              </a:defRPr>
            </a:pPr>
            <a:r>
              <a:rPr sz="1875" b="1">
                <a:solidFill>
                  <a:srgbClr val="141414"/>
                </a:solidFill>
                <a:latin typeface="Arial"/>
                <a:ea typeface="Arial"/>
                <a:cs typeface="Arial"/>
              </a:rPr>
              <a:t>Tank, m³ at hour endpoints. Minimum 800 m³.</a:t>
            </a:r>
          </a:p>
        </p:txBody>
      </p:sp>
      <p:graphicFrame>
        <p:nvGraphicFramePr>
          <p:cNvPr id="23" name="Chart"/>
          <p:cNvGraphicFramePr/>
          <p:nvPr/>
        </p:nvGraphicFramePr>
        <p:xfrm>
          <a:off xmlns:a="http://schemas.openxmlformats.org/drawingml/2006/main" x="552450" y="4238625"/>
          <a:ext xmlns:a="http://schemas.openxmlformats.org/drawingml/2006/main" cx="7524750" cy="1743075"/>
        </p:xfrm>
        <a:graphic xmlns:a="http://schemas.openxmlformats.org/drawingml/2006/main">
          <a:graphicData uri="http://schemas.openxmlformats.org/drawingml/2006/chart">
            <c:chart xmlns:r="http://schemas.openxmlformats.org/officeDocument/2006/relationships" xmlns:c="http://schemas.openxmlformats.org/drawingml/2006/chart" r:id="Rcc505643e9444667"/>
          </a:graphicData>
        </a:graphic>
      </p:graphicFrame>
      <p:sp>
        <p:nvSpPr>
          <p:cNvPr id="13" name="">
            <a:extLst xmlns:a="http://schemas.openxmlformats.org/drawingml/2006/main">
              <a:ext uri="{FF2B5EF4-FFF2-40B4-BE49-F238E27FC236}">
                <a16:creationId xmlns:a16="http://schemas.microsoft.com/office/drawing/2014/main" id="{F56CA11A-A1CB-4DF7-A64D-D64887D8B849}"/>
              </a:ext>
            </a:extLst>
          </p:cNvPr>
          <p:cNvSpPr>
            <a:spLocks xmlns:a="http://schemas.openxmlformats.org/drawingml/2006/main" noGrp="1"/>
          </p:cNvSpPr>
          <p:nvPr/>
        </p:nvSpPr>
        <p:spPr>
          <a:xfrm xmlns:a="http://schemas.openxmlformats.org/drawingml/2006/main">
            <a:off x="8496300" y="1628775"/>
            <a:ext cx="3048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4950" b="1">
                <a:solidFill>
                  <a:srgbClr val="141414"/>
                </a:solidFill>
                <a:latin typeface="Arial"/>
                <a:ea typeface="Arial"/>
                <a:cs typeface="Arial"/>
              </a:defRPr>
            </a:pPr>
            <a:r>
              <a:rPr sz="4950" b="1">
                <a:solidFill>
                  <a:srgbClr val="141414"/>
                </a:solidFill>
                <a:latin typeface="Arial"/>
                <a:ea typeface="Arial"/>
                <a:cs typeface="Arial"/>
              </a:rPr>
              <a:t>12.23%</a:t>
            </a:r>
          </a:p>
        </p:txBody>
      </p:sp>
      <p:sp>
        <p:nvSpPr>
          <p:cNvPr id="14" name="">
            <a:extLst xmlns:a="http://schemas.openxmlformats.org/drawingml/2006/main">
              <a:ext uri="{FF2B5EF4-FFF2-40B4-BE49-F238E27FC236}">
                <a16:creationId xmlns:a16="http://schemas.microsoft.com/office/drawing/2014/main" id="{BF859D8E-4CFA-40BC-9DBC-C084999409F7}"/>
              </a:ext>
            </a:extLst>
          </p:cNvPr>
          <p:cNvSpPr>
            <a:spLocks xmlns:a="http://schemas.openxmlformats.org/drawingml/2006/main" noGrp="1"/>
          </p:cNvSpPr>
          <p:nvPr/>
        </p:nvSpPr>
        <p:spPr>
          <a:xfrm xmlns:a="http://schemas.openxmlformats.org/drawingml/2006/main">
            <a:off x="8534400" y="2609850"/>
            <a:ext cx="29146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0">
                <a:solidFill>
                  <a:srgbClr val="141414"/>
                </a:solidFill>
                <a:latin typeface="Arial"/>
                <a:ea typeface="Arial"/>
                <a:cs typeface="Arial"/>
              </a:defRPr>
            </a:pPr>
            <a:r>
              <a:rPr sz="2100" b="0">
                <a:solidFill>
                  <a:srgbClr val="141414"/>
                </a:solidFill>
                <a:latin typeface="Arial"/>
                <a:ea typeface="Arial"/>
                <a:cs typeface="Arial"/>
              </a:rPr>
              <a:t>Lower illustrative tariff cost</a:t>
            </a:r>
          </a:p>
        </p:txBody>
      </p:sp>
      <p:sp>
        <p:nvSpPr>
          <p:cNvPr id="15" name="">
            <a:extLst xmlns:a="http://schemas.openxmlformats.org/drawingml/2006/main">
              <a:ext uri="{FF2B5EF4-FFF2-40B4-BE49-F238E27FC236}">
                <a16:creationId xmlns:a16="http://schemas.microsoft.com/office/drawing/2014/main" id="{2AB9924E-84AE-4F51-B888-3451C8CF62CD}"/>
              </a:ext>
            </a:extLst>
          </p:cNvPr>
          <p:cNvSpPr>
            <a:spLocks xmlns:a="http://schemas.openxmlformats.org/drawingml/2006/main" noGrp="1"/>
          </p:cNvSpPr>
          <p:nvPr/>
        </p:nvSpPr>
        <p:spPr>
          <a:xfrm xmlns:a="http://schemas.openxmlformats.org/drawingml/2006/main">
            <a:off x="8534400" y="3724275"/>
            <a:ext cx="2857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325" b="1">
                <a:solidFill>
                  <a:srgbClr val="141414"/>
                </a:solidFill>
                <a:latin typeface="Arial"/>
                <a:ea typeface="Arial"/>
                <a:cs typeface="Arial"/>
              </a:defRPr>
            </a:pPr>
            <a:r>
              <a:rPr sz="2325" b="1">
                <a:solidFill>
                  <a:srgbClr val="141414"/>
                </a:solidFill>
                <a:latin typeface="Arial"/>
                <a:ea typeface="Arial"/>
                <a:cs typeface="Arial"/>
              </a:rPr>
              <a:t>5,658 m³</a:t>
            </a:r>
          </a:p>
          <a:p xmlns:a="http://schemas.openxmlformats.org/drawingml/2006/main">
            <a:pPr>
              <a:defRPr sz="2325" b="1">
                <a:solidFill>
                  <a:srgbClr val="141414"/>
                </a:solidFill>
                <a:latin typeface="Arial"/>
                <a:ea typeface="Arial"/>
                <a:cs typeface="Arial"/>
              </a:defRPr>
            </a:pPr>
            <a:r>
              <a:rPr sz="2325" b="1">
                <a:solidFill>
                  <a:srgbClr val="141414"/>
                </a:solidFill>
                <a:latin typeface="Arial"/>
                <a:ea typeface="Arial"/>
                <a:cs typeface="Arial"/>
              </a:rPr>
              <a:t>19,237.2 kWh</a:t>
            </a:r>
          </a:p>
        </p:txBody>
      </p:sp>
      <p:sp>
        <p:nvSpPr>
          <p:cNvPr id="16" name="">
            <a:extLst xmlns:a="http://schemas.openxmlformats.org/drawingml/2006/main">
              <a:ext uri="{FF2B5EF4-FFF2-40B4-BE49-F238E27FC236}">
                <a16:creationId xmlns:a16="http://schemas.microsoft.com/office/drawing/2014/main" id="{B9D51DD9-1DC1-4DB4-B62B-28A9348F7F2E}"/>
              </a:ext>
            </a:extLst>
          </p:cNvPr>
          <p:cNvSpPr>
            <a:spLocks xmlns:a="http://schemas.openxmlformats.org/drawingml/2006/main" noGrp="1"/>
          </p:cNvSpPr>
          <p:nvPr/>
        </p:nvSpPr>
        <p:spPr>
          <a:xfrm xmlns:a="http://schemas.openxmlformats.org/drawingml/2006/main">
            <a:off x="8534400" y="4914900"/>
            <a:ext cx="29337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00" b="0">
                <a:solidFill>
                  <a:srgbClr val="626262"/>
                </a:solidFill>
                <a:latin typeface="Arial"/>
                <a:ea typeface="Arial"/>
                <a:cs typeface="Arial"/>
              </a:defRPr>
            </a:pPr>
            <a:r>
              <a:rPr sz="1800" b="0">
                <a:solidFill>
                  <a:srgbClr val="626262"/>
                </a:solidFill>
                <a:latin typeface="Arial"/>
                <a:ea typeface="Arial"/>
                <a:cs typeface="Arial"/>
              </a:rPr>
              <a:t>Equal water and energy</a:t>
            </a:r>
          </a:p>
          <a:p xmlns:a="http://schemas.openxmlformats.org/drawingml/2006/main">
            <a:pPr>
              <a:defRPr sz="1800" b="0">
                <a:solidFill>
                  <a:srgbClr val="626262"/>
                </a:solidFill>
                <a:latin typeface="Arial"/>
                <a:ea typeface="Arial"/>
                <a:cs typeface="Arial"/>
              </a:defRPr>
            </a:pPr>
            <a:r>
              <a:rPr sz="1800" b="0">
                <a:solidFill>
                  <a:srgbClr val="626262"/>
                </a:solidFill>
                <a:latin typeface="Arial"/>
                <a:ea typeface="Arial"/>
                <a:cs typeface="Arial"/>
              </a:rPr>
              <a:t>Start and end: 966 m³</a:t>
            </a:r>
          </a:p>
          <a:p xmlns:a="http://schemas.openxmlformats.org/drawingml/2006/main">
            <a:pPr>
              <a:defRPr sz="1800" b="0">
                <a:solidFill>
                  <a:srgbClr val="626262"/>
                </a:solidFill>
                <a:latin typeface="Arial"/>
                <a:ea typeface="Arial"/>
                <a:cs typeface="Arial"/>
              </a:defRPr>
            </a:pPr>
            <a:r>
              <a:rPr sz="1800" b="0">
                <a:solidFill>
                  <a:srgbClr val="626262"/>
                </a:solidFill>
                <a:latin typeface="Arial"/>
                <a:ea typeface="Arial"/>
                <a:cs typeface="Arial"/>
              </a:rPr>
              <a:t>Tank limit: 4,000 m³</a:t>
            </a:r>
          </a:p>
        </p:txBody>
      </p:sp>
      <p:sp>
        <p:nvSpPr>
          <p:cNvPr id="17" name="">
            <a:extLst xmlns:a="http://schemas.openxmlformats.org/drawingml/2006/main">
              <a:ext uri="{FF2B5EF4-FFF2-40B4-BE49-F238E27FC236}">
                <a16:creationId xmlns:a16="http://schemas.microsoft.com/office/drawing/2014/main" id="{368EB9D8-BE89-4FB6-84AA-AD61550D6056}"/>
              </a:ext>
            </a:extLst>
          </p:cNvPr>
          <p:cNvSpPr>
            <a:spLocks xmlns:a="http://schemas.openxmlformats.org/drawingml/2006/main" noGrp="1"/>
          </p:cNvSpPr>
          <p:nvPr/>
        </p:nvSpPr>
        <p:spPr>
          <a:xfrm xmlns:a="http://schemas.openxmlformats.org/drawingml/2006/main">
            <a:off x="647700" y="6115050"/>
            <a:ext cx="1057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0">
                <a:solidFill>
                  <a:srgbClr val="626262"/>
                </a:solidFill>
                <a:latin typeface="Arial"/>
                <a:ea typeface="Arial"/>
                <a:cs typeface="Arial"/>
              </a:defRPr>
            </a:pPr>
            <a:r>
              <a:rPr sz="1650" b="0">
                <a:solidFill>
                  <a:srgbClr val="626262"/>
                </a:solidFill>
                <a:latin typeface="Arial"/>
                <a:ea typeface="Arial"/>
                <a:cs typeface="Arial"/>
              </a:rPr>
              <a:t>€101/MWh above 600 W/m², otherwise €183/MWh. No field saving or recovered-solar claim.</a:t>
            </a:r>
          </a:p>
        </p:txBody>
      </p:sp>
    </p:spTree>
    <p:extLst>
      <p:ext uri="{BB962C8B-B14F-4D97-AF65-F5344CB8AC3E}">
        <p14:creationId xmlns:p14="http://schemas.microsoft.com/office/powerpoint/2010/main" val="2141313234"/>
      </p:ext>
    </p:extLst>
  </p:cSld>
</p:sld>
</file>

<file path=ppt/slides/slide6.xml><?xml version="1.0" encoding="utf-8"?>
<p:sld xmlns:p="http://schemas.openxmlformats.org/presentationml/2006/main">
  <p:cSld>
    <p:bg>
      <p:bgPr>
        <a:solidFill xmlns:a="http://schemas.openxmlformats.org/drawingml/2006/main">
          <a:srgbClr val="FAFAFA"/>
        </a:solidFill>
      </p:bgPr>
    </p:bg>
    <p:spTree>
      <p:nvGrpSpPr>
        <p:cNvPr id="1" name=""/>
        <p:cNvGrpSpPr/>
        <p:nvPr/>
      </p:nvGrpSpPr>
      <p:grpSpPr>
        <a:xfrm xmlns:a="http://schemas.openxmlformats.org/drawingml/2006/main"/>
      </p:grpSpPr>
      <p:sp>
        <p:nvSpPr>
          <p:cNvPr id="9" name="slide-title">
            <a:extLst xmlns:a="http://schemas.openxmlformats.org/drawingml/2006/main">
              <a:ext uri="{FF2B5EF4-FFF2-40B4-BE49-F238E27FC236}">
                <a16:creationId xmlns:a16="http://schemas.microsoft.com/office/drawing/2014/main" id="{B53391AB-E610-48DD-84AE-3C4C40BED4B2}"/>
              </a:ext>
            </a:extLst>
          </p:cNvPr>
          <p:cNvSpPr>
            <a:spLocks xmlns:a="http://schemas.openxmlformats.org/drawingml/2006/main" noGrp="1"/>
          </p:cNvSpPr>
          <p:nvPr/>
        </p:nvSpPr>
        <p:spPr>
          <a:xfrm xmlns:a="http://schemas.openxmlformats.org/drawingml/2006/main">
            <a:off x="609600" y="40005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buNone/>
              <a:defRPr sz="3600" b="1">
                <a:solidFill>
                  <a:srgbClr val="101010"/>
                </a:solidFill>
                <a:latin typeface="Arial"/>
                <a:ea typeface="Arial"/>
                <a:cs typeface="Arial"/>
              </a:defRPr>
            </a:pPr>
            <a:r>
              <a:rPr sz="3600" b="1">
                <a:solidFill>
                  <a:srgbClr val="101010"/>
                </a:solidFill>
                <a:latin typeface="Arial"/>
                <a:ea typeface="Arial"/>
                <a:cs typeface="Arial"/>
              </a:rPr>
              <a:t>Inside the demonstration</a:t>
            </a:r>
          </a:p>
        </p:txBody>
      </p:sp>
      <p:sp>
        <p:nvSpPr>
          <p:cNvPr id="2" name="slide-number">
            <a:extLst xmlns:a="http://schemas.openxmlformats.org/drawingml/2006/main">
              <a:ext uri="{FF2B5EF4-FFF2-40B4-BE49-F238E27FC236}">
                <a16:creationId xmlns:a16="http://schemas.microsoft.com/office/drawing/2014/main" id="{71F67F88-D004-4166-98A2-FE61C2C032BE}"/>
              </a:ext>
            </a:extLst>
          </p:cNvPr>
          <p:cNvSpPr>
            <a:spLocks xmlns:a="http://schemas.openxmlformats.org/drawingml/2006/main" noGrp="1"/>
          </p:cNvSpPr>
          <p:nvPr/>
        </p:nvSpPr>
        <p:spPr>
          <a:xfrm xmlns:a="http://schemas.openxmlformats.org/drawingml/2006/main">
            <a:off x="10668000" y="6381750"/>
            <a:ext cx="914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r">
              <a:buNone/>
              <a:defRPr sz="1350" b="0">
                <a:solidFill>
                  <a:srgbClr val="737373"/>
                </a:solidFill>
                <a:latin typeface="Arial"/>
                <a:ea typeface="Arial"/>
                <a:cs typeface="Arial"/>
              </a:defRPr>
            </a:pPr>
            <a:r>
              <a:rPr sz="1350" b="0">
                <a:solidFill>
                  <a:srgbClr val="737373"/>
                </a:solidFill>
                <a:latin typeface="Arial"/>
                <a:ea typeface="Arial"/>
                <a:cs typeface="Arial"/>
              </a:rPr>
              <a:t>06 / 12</a:t>
            </a:r>
          </a:p>
        </p:txBody>
      </p:sp>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969b1f90c25d49d6"/>
          <a:stretch xmlns:a="http://schemas.openxmlformats.org/drawingml/2006/main"/>
        </p:blipFill>
        <p:spPr>
          <a:xfrm xmlns:a="http://schemas.openxmlformats.org/drawingml/2006/main">
            <a:off x="619125" y="1555552"/>
            <a:ext cx="7829550" cy="4404122"/>
          </a:xfrm>
          <a:prstGeom xmlns:a="http://schemas.openxmlformats.org/drawingml/2006/main" prst="rect">
            <a:avLst/>
          </a:prstGeom>
        </p:spPr>
      </p:pic>
      <p:sp>
        <p:nvSpPr>
          <p:cNvPr id="11" name="">
            <a:extLst xmlns:a="http://schemas.openxmlformats.org/drawingml/2006/main">
              <a:ext uri="{FF2B5EF4-FFF2-40B4-BE49-F238E27FC236}">
                <a16:creationId xmlns:a16="http://schemas.microsoft.com/office/drawing/2014/main" id="{AF2A2188-1FF4-47AB-8CA4-F8ABC65AE22A}"/>
              </a:ext>
            </a:extLst>
          </p:cNvPr>
          <p:cNvSpPr>
            <a:spLocks xmlns:a="http://schemas.openxmlformats.org/drawingml/2006/main" noGrp="1"/>
          </p:cNvSpPr>
          <p:nvPr/>
        </p:nvSpPr>
        <p:spPr>
          <a:xfrm xmlns:a="http://schemas.openxmlformats.org/drawingml/2006/main">
            <a:off x="8839200" y="1752600"/>
            <a:ext cx="26955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400" b="1">
                <a:solidFill>
                  <a:srgbClr val="141414"/>
                </a:solidFill>
                <a:latin typeface="Arial"/>
                <a:ea typeface="Arial"/>
                <a:cs typeface="Arial"/>
              </a:defRPr>
            </a:pPr>
            <a:r>
              <a:rPr sz="2400" b="1">
                <a:solidFill>
                  <a:srgbClr val="141414"/>
                </a:solidFill>
                <a:latin typeface="Arial"/>
                <a:ea typeface="Arial"/>
                <a:cs typeface="Arial"/>
              </a:rPr>
              <a:t>3 July</a:t>
            </a:r>
          </a:p>
        </p:txBody>
      </p:sp>
      <p:sp>
        <p:nvSpPr>
          <p:cNvPr id="12" name="">
            <a:extLst xmlns:a="http://schemas.openxmlformats.org/drawingml/2006/main">
              <a:ext uri="{FF2B5EF4-FFF2-40B4-BE49-F238E27FC236}">
                <a16:creationId xmlns:a16="http://schemas.microsoft.com/office/drawing/2014/main" id="{5EC73A61-2E34-4DA6-9E12-B378CE8EBE80}"/>
              </a:ext>
            </a:extLst>
          </p:cNvPr>
          <p:cNvSpPr>
            <a:spLocks xmlns:a="http://schemas.openxmlformats.org/drawingml/2006/main" noGrp="1"/>
          </p:cNvSpPr>
          <p:nvPr/>
        </p:nvSpPr>
        <p:spPr>
          <a:xfrm xmlns:a="http://schemas.openxmlformats.org/drawingml/2006/main">
            <a:off x="8839200" y="2247900"/>
            <a:ext cx="26574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a:solidFill>
                  <a:srgbClr val="626262"/>
                </a:solidFill>
                <a:latin typeface="Arial"/>
                <a:ea typeface="Arial"/>
                <a:cs typeface="Arial"/>
              </a:defRPr>
            </a:pPr>
            <a:r>
              <a:rPr sz="1875" b="0">
                <a:solidFill>
                  <a:srgbClr val="626262"/>
                </a:solidFill>
                <a:latin typeface="Arial"/>
                <a:ea typeface="Arial"/>
                <a:cs typeface="Arial"/>
              </a:rPr>
              <a:t>Matched daily example</a:t>
            </a:r>
          </a:p>
        </p:txBody>
      </p:sp>
      <p:sp>
        <p:nvSpPr>
          <p:cNvPr id="13" name="">
            <a:extLst xmlns:a="http://schemas.openxmlformats.org/drawingml/2006/main">
              <a:ext uri="{FF2B5EF4-FFF2-40B4-BE49-F238E27FC236}">
                <a16:creationId xmlns:a16="http://schemas.microsoft.com/office/drawing/2014/main" id="{00AE987F-D56B-4F44-BEFB-8F5EBAAA2BD1}"/>
              </a:ext>
            </a:extLst>
          </p:cNvPr>
          <p:cNvSpPr>
            <a:spLocks xmlns:a="http://schemas.openxmlformats.org/drawingml/2006/main" noGrp="1"/>
          </p:cNvSpPr>
          <p:nvPr/>
        </p:nvSpPr>
        <p:spPr>
          <a:xfrm xmlns:a="http://schemas.openxmlformats.org/drawingml/2006/main">
            <a:off x="8839200" y="3133725"/>
            <a:ext cx="27622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400" b="1">
                <a:solidFill>
                  <a:srgbClr val="141414"/>
                </a:solidFill>
                <a:latin typeface="Arial"/>
                <a:ea typeface="Arial"/>
                <a:cs typeface="Arial"/>
              </a:defRPr>
            </a:pPr>
            <a:r>
              <a:rPr sz="2400" b="1">
                <a:solidFill>
                  <a:srgbClr val="141414"/>
                </a:solidFill>
                <a:latin typeface="Arial"/>
                <a:ea typeface="Arial"/>
                <a:cs typeface="Arial"/>
              </a:rPr>
              <a:t>10 December</a:t>
            </a:r>
          </a:p>
        </p:txBody>
      </p:sp>
      <p:sp>
        <p:nvSpPr>
          <p:cNvPr id="14" name="">
            <a:extLst xmlns:a="http://schemas.openxmlformats.org/drawingml/2006/main">
              <a:ext uri="{FF2B5EF4-FFF2-40B4-BE49-F238E27FC236}">
                <a16:creationId xmlns:a16="http://schemas.microsoft.com/office/drawing/2014/main" id="{1DD6EE1B-B969-4A32-A94D-85F1D567B681}"/>
              </a:ext>
            </a:extLst>
          </p:cNvPr>
          <p:cNvSpPr>
            <a:spLocks xmlns:a="http://schemas.openxmlformats.org/drawingml/2006/main" noGrp="1"/>
          </p:cNvSpPr>
          <p:nvPr/>
        </p:nvSpPr>
        <p:spPr>
          <a:xfrm xmlns:a="http://schemas.openxmlformats.org/drawingml/2006/main">
            <a:off x="8839200" y="3619500"/>
            <a:ext cx="26574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a:solidFill>
                  <a:srgbClr val="626262"/>
                </a:solidFill>
                <a:latin typeface="Arial"/>
                <a:ea typeface="Arial"/>
                <a:cs typeface="Arial"/>
              </a:defRPr>
            </a:pPr>
            <a:r>
              <a:rPr sz="1875" b="0">
                <a:solidFill>
                  <a:srgbClr val="626262"/>
                </a:solidFill>
                <a:latin typeface="Arial"/>
                <a:ea typeface="Arial"/>
                <a:cs typeface="Arial"/>
              </a:rPr>
              <a:t>Low radiation</a:t>
            </a:r>
          </a:p>
        </p:txBody>
      </p:sp>
      <p:sp>
        <p:nvSpPr>
          <p:cNvPr id="15" name="">
            <a:extLst xmlns:a="http://schemas.openxmlformats.org/drawingml/2006/main">
              <a:ext uri="{FF2B5EF4-FFF2-40B4-BE49-F238E27FC236}">
                <a16:creationId xmlns:a16="http://schemas.microsoft.com/office/drawing/2014/main" id="{DBD389E1-ADD8-4767-85B0-E26EE90510B9}"/>
              </a:ext>
            </a:extLst>
          </p:cNvPr>
          <p:cNvSpPr>
            <a:spLocks xmlns:a="http://schemas.openxmlformats.org/drawingml/2006/main" noGrp="1"/>
          </p:cNvSpPr>
          <p:nvPr/>
        </p:nvSpPr>
        <p:spPr>
          <a:xfrm xmlns:a="http://schemas.openxmlformats.org/drawingml/2006/main">
            <a:off x="8839200" y="4505325"/>
            <a:ext cx="27622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400" b="1">
                <a:solidFill>
                  <a:srgbClr val="141414"/>
                </a:solidFill>
                <a:latin typeface="Arial"/>
                <a:ea typeface="Arial"/>
                <a:cs typeface="Arial"/>
              </a:defRPr>
            </a:pPr>
            <a:r>
              <a:rPr sz="2400" b="1">
                <a:solidFill>
                  <a:srgbClr val="141414"/>
                </a:solidFill>
                <a:latin typeface="Arial"/>
                <a:ea typeface="Arial"/>
                <a:cs typeface="Arial"/>
              </a:rPr>
              <a:t>AktinaBench</a:t>
            </a:r>
          </a:p>
        </p:txBody>
      </p:sp>
      <p:sp>
        <p:nvSpPr>
          <p:cNvPr id="16" name="">
            <a:extLst xmlns:a="http://schemas.openxmlformats.org/drawingml/2006/main">
              <a:ext uri="{FF2B5EF4-FFF2-40B4-BE49-F238E27FC236}">
                <a16:creationId xmlns:a16="http://schemas.microsoft.com/office/drawing/2014/main" id="{D450A622-5997-4B20-A0FC-A710ABD1A781}"/>
              </a:ext>
            </a:extLst>
          </p:cNvPr>
          <p:cNvSpPr>
            <a:spLocks xmlns:a="http://schemas.openxmlformats.org/drawingml/2006/main" noGrp="1"/>
          </p:cNvSpPr>
          <p:nvPr/>
        </p:nvSpPr>
        <p:spPr>
          <a:xfrm xmlns:a="http://schemas.openxmlformats.org/drawingml/2006/main">
            <a:off x="8839200" y="4991100"/>
            <a:ext cx="26574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a:solidFill>
                  <a:srgbClr val="626262"/>
                </a:solidFill>
                <a:latin typeface="Arial"/>
                <a:ea typeface="Arial"/>
                <a:cs typeface="Arial"/>
              </a:defRPr>
            </a:pPr>
            <a:r>
              <a:rPr sz="1875" b="0">
                <a:solidFill>
                  <a:srgbClr val="626262"/>
                </a:solidFill>
                <a:latin typeface="Arial"/>
                <a:ea typeface="Arial"/>
                <a:cs typeface="Arial"/>
              </a:rPr>
              <a:t>Every retained test hour</a:t>
            </a:r>
          </a:p>
        </p:txBody>
      </p:sp>
      <p:sp>
        <p:nvSpPr>
          <p:cNvPr id="17" name="">
            <a:extLst xmlns:a="http://schemas.openxmlformats.org/drawingml/2006/main">
              <a:ext uri="{FF2B5EF4-FFF2-40B4-BE49-F238E27FC236}">
                <a16:creationId xmlns:a16="http://schemas.microsoft.com/office/drawing/2014/main" id="{DB119092-136C-42CF-9821-1E302497F148}"/>
              </a:ext>
            </a:extLst>
          </p:cNvPr>
          <p:cNvSpPr>
            <a:spLocks xmlns:a="http://schemas.openxmlformats.org/drawingml/2006/main" noGrp="1"/>
          </p:cNvSpPr>
          <p:nvPr/>
        </p:nvSpPr>
        <p:spPr>
          <a:xfrm xmlns:a="http://schemas.openxmlformats.org/drawingml/2006/main">
            <a:off x="647700" y="6086475"/>
            <a:ext cx="1057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0">
                <a:solidFill>
                  <a:srgbClr val="626262"/>
                </a:solidFill>
                <a:latin typeface="Arial"/>
                <a:ea typeface="Arial"/>
                <a:cs typeface="Arial"/>
              </a:defRPr>
            </a:pPr>
            <a:r>
              <a:rPr sz="1650" b="0">
                <a:solidFill>
                  <a:srgbClr val="626262"/>
                </a:solidFill>
                <a:latin typeface="Arial"/>
                <a:ea typeface="Arial"/>
                <a:cs typeface="Arial"/>
              </a:rPr>
              <a:t>aktina-pafos-2026.vercel.app     Offline fallback: 60-second silent walkthrough</a:t>
            </a:r>
          </a:p>
        </p:txBody>
      </p:sp>
    </p:spTree>
    <p:extLst>
      <p:ext uri="{BB962C8B-B14F-4D97-AF65-F5344CB8AC3E}">
        <p14:creationId xmlns:p14="http://schemas.microsoft.com/office/powerpoint/2010/main" val="792058433"/>
      </p:ext>
    </p:extLst>
  </p:cSld>
</p:sld>
</file>

<file path=ppt/slides/slide7.xml><?xml version="1.0" encoding="utf-8"?>
<p:sld xmlns:p="http://schemas.openxmlformats.org/presentationml/2006/main">
  <p:cSld>
    <p:bg>
      <p:bgPr>
        <a:solidFill xmlns:a="http://schemas.openxmlformats.org/drawingml/2006/main">
          <a:srgbClr val="FAFAFA"/>
        </a:solidFill>
      </p:bgPr>
    </p:bg>
    <p:spTree>
      <p:nvGrpSpPr>
        <p:cNvPr id="1" name=""/>
        <p:cNvGrpSpPr/>
        <p:nvPr/>
      </p:nvGrpSpPr>
      <p:grpSpPr>
        <a:xfrm xmlns:a="http://schemas.openxmlformats.org/drawingml/2006/main"/>
      </p:grpSpPr>
      <p:sp>
        <p:nvSpPr>
          <p:cNvPr id="8" name="slide-title">
            <a:extLst xmlns:a="http://schemas.openxmlformats.org/drawingml/2006/main">
              <a:ext uri="{FF2B5EF4-FFF2-40B4-BE49-F238E27FC236}">
                <a16:creationId xmlns:a16="http://schemas.microsoft.com/office/drawing/2014/main" id="{D0DB3DCB-3A52-43AE-B4BB-1649C2EE7979}"/>
              </a:ext>
            </a:extLst>
          </p:cNvPr>
          <p:cNvSpPr>
            <a:spLocks xmlns:a="http://schemas.openxmlformats.org/drawingml/2006/main" noGrp="1"/>
          </p:cNvSpPr>
          <p:nvPr/>
        </p:nvSpPr>
        <p:spPr>
          <a:xfrm xmlns:a="http://schemas.openxmlformats.org/drawingml/2006/main">
            <a:off x="609600" y="40005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buNone/>
              <a:defRPr sz="3600" b="1">
                <a:solidFill>
                  <a:srgbClr val="101010"/>
                </a:solidFill>
                <a:latin typeface="Arial"/>
                <a:ea typeface="Arial"/>
                <a:cs typeface="Arial"/>
              </a:defRPr>
            </a:pPr>
            <a:r>
              <a:rPr sz="3600" b="1">
                <a:solidFill>
                  <a:srgbClr val="101010"/>
                </a:solidFill>
                <a:latin typeface="Arial"/>
                <a:ea typeface="Arial"/>
                <a:cs typeface="Arial"/>
              </a:rPr>
              <a:t>Original forecast against persistence</a:t>
            </a:r>
          </a:p>
        </p:txBody>
      </p:sp>
      <p:sp>
        <p:nvSpPr>
          <p:cNvPr id="2" name="slide-number">
            <a:extLst xmlns:a="http://schemas.openxmlformats.org/drawingml/2006/main">
              <a:ext uri="{FF2B5EF4-FFF2-40B4-BE49-F238E27FC236}">
                <a16:creationId xmlns:a16="http://schemas.microsoft.com/office/drawing/2014/main" id="{D735EBF6-9BA2-432D-8A96-42174EC933BA}"/>
              </a:ext>
            </a:extLst>
          </p:cNvPr>
          <p:cNvSpPr>
            <a:spLocks xmlns:a="http://schemas.openxmlformats.org/drawingml/2006/main" noGrp="1"/>
          </p:cNvSpPr>
          <p:nvPr/>
        </p:nvSpPr>
        <p:spPr>
          <a:xfrm xmlns:a="http://schemas.openxmlformats.org/drawingml/2006/main">
            <a:off x="10668000" y="6381750"/>
            <a:ext cx="914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r">
              <a:buNone/>
              <a:defRPr sz="1350" b="0">
                <a:solidFill>
                  <a:srgbClr val="737373"/>
                </a:solidFill>
                <a:latin typeface="Arial"/>
                <a:ea typeface="Arial"/>
                <a:cs typeface="Arial"/>
              </a:defRPr>
            </a:pPr>
            <a:r>
              <a:rPr sz="1350" b="0">
                <a:solidFill>
                  <a:srgbClr val="737373"/>
                </a:solidFill>
                <a:latin typeface="Arial"/>
                <a:ea typeface="Arial"/>
                <a:cs typeface="Arial"/>
              </a:rPr>
              <a:t>07 / 12</a:t>
            </a:r>
          </a:p>
        </p:txBody>
      </p:sp>
      <p:sp>
        <p:nvSpPr>
          <p:cNvPr id="9" name="">
            <a:extLst xmlns:a="http://schemas.openxmlformats.org/drawingml/2006/main">
              <a:ext uri="{FF2B5EF4-FFF2-40B4-BE49-F238E27FC236}">
                <a16:creationId xmlns:a16="http://schemas.microsoft.com/office/drawing/2014/main" id="{ABD1A03B-B680-40E5-9275-382FDE1AC739}"/>
              </a:ext>
            </a:extLst>
          </p:cNvPr>
          <p:cNvSpPr>
            <a:spLocks xmlns:a="http://schemas.openxmlformats.org/drawingml/2006/main" noGrp="1"/>
          </p:cNvSpPr>
          <p:nvPr/>
        </p:nvSpPr>
        <p:spPr>
          <a:xfrm xmlns:a="http://schemas.openxmlformats.org/drawingml/2006/main">
            <a:off x="647700" y="1362075"/>
            <a:ext cx="7620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1">
                <a:solidFill>
                  <a:srgbClr val="141414"/>
                </a:solidFill>
                <a:latin typeface="Arial"/>
                <a:ea typeface="Arial"/>
                <a:cs typeface="Arial"/>
              </a:defRPr>
            </a:pPr>
            <a:r>
              <a:rPr sz="2100" b="1">
                <a:solidFill>
                  <a:srgbClr val="141414"/>
                </a:solidFill>
                <a:latin typeface="Arial"/>
                <a:ea typeface="Arial"/>
                <a:cs typeface="Arial"/>
              </a:rPr>
              <a:t>Mean absolute error, W/m²</a:t>
            </a:r>
          </a:p>
        </p:txBody>
      </p:sp>
      <p:graphicFrame>
        <p:nvGraphicFramePr>
          <p:cNvPr id="18" name="Chart"/>
          <p:cNvGraphicFramePr/>
          <p:nvPr/>
        </p:nvGraphicFramePr>
        <p:xfrm>
          <a:off xmlns:a="http://schemas.openxmlformats.org/drawingml/2006/main" x="571500" y="1981200"/>
          <a:ext xmlns:a="http://schemas.openxmlformats.org/drawingml/2006/main" cx="7572375" cy="3619500"/>
        </p:xfrm>
        <a:graphic xmlns:a="http://schemas.openxmlformats.org/drawingml/2006/main">
          <a:graphicData uri="http://schemas.openxmlformats.org/drawingml/2006/chart">
            <c:chart xmlns:r="http://schemas.openxmlformats.org/officeDocument/2006/relationships" xmlns:c="http://schemas.openxmlformats.org/drawingml/2006/chart" r:id="Rf9c4a06f65114eac"/>
          </a:graphicData>
        </a:graphic>
      </p:graphicFrame>
      <p:sp>
        <p:nvSpPr>
          <p:cNvPr id="11" name="">
            <a:extLst xmlns:a="http://schemas.openxmlformats.org/drawingml/2006/main">
              <a:ext uri="{FF2B5EF4-FFF2-40B4-BE49-F238E27FC236}">
                <a16:creationId xmlns:a16="http://schemas.microsoft.com/office/drawing/2014/main" id="{EFBD4BE8-927B-48C7-9E3F-9D69D51AFDED}"/>
              </a:ext>
            </a:extLst>
          </p:cNvPr>
          <p:cNvSpPr>
            <a:spLocks xmlns:a="http://schemas.openxmlformats.org/drawingml/2006/main" noGrp="1"/>
          </p:cNvSpPr>
          <p:nvPr/>
        </p:nvSpPr>
        <p:spPr>
          <a:xfrm xmlns:a="http://schemas.openxmlformats.org/drawingml/2006/main">
            <a:off x="8734425" y="1800225"/>
            <a:ext cx="27622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325" b="1">
                <a:solidFill>
                  <a:srgbClr val="141414"/>
                </a:solidFill>
                <a:latin typeface="Arial"/>
                <a:ea typeface="Arial"/>
                <a:cs typeface="Arial"/>
              </a:defRPr>
            </a:pPr>
            <a:r>
              <a:rPr sz="2325" b="1">
                <a:solidFill>
                  <a:srgbClr val="141414"/>
                </a:solidFill>
                <a:latin typeface="Arial"/>
                <a:ea typeface="Arial"/>
                <a:cs typeface="Arial"/>
              </a:rPr>
              <a:t>Test F1</a:t>
            </a:r>
          </a:p>
        </p:txBody>
      </p:sp>
      <p:sp>
        <p:nvSpPr>
          <p:cNvPr id="12" name="">
            <a:extLst xmlns:a="http://schemas.openxmlformats.org/drawingml/2006/main">
              <a:ext uri="{FF2B5EF4-FFF2-40B4-BE49-F238E27FC236}">
                <a16:creationId xmlns:a16="http://schemas.microsoft.com/office/drawing/2014/main" id="{166FE6A4-8A35-40F0-BFE0-100EAB646D45}"/>
              </a:ext>
            </a:extLst>
          </p:cNvPr>
          <p:cNvSpPr>
            <a:spLocks xmlns:a="http://schemas.openxmlformats.org/drawingml/2006/main" noGrp="1"/>
          </p:cNvSpPr>
          <p:nvPr/>
        </p:nvSpPr>
        <p:spPr>
          <a:xfrm xmlns:a="http://schemas.openxmlformats.org/drawingml/2006/main">
            <a:off x="8734425" y="2514600"/>
            <a:ext cx="281940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a:solidFill>
                  <a:srgbClr val="141414"/>
                </a:solidFill>
                <a:latin typeface="Arial"/>
                <a:ea typeface="Arial"/>
                <a:cs typeface="Arial"/>
              </a:defRPr>
            </a:pPr>
            <a:r>
              <a:rPr sz="1875" b="0">
                <a:solidFill>
                  <a:srgbClr val="141414"/>
                </a:solidFill>
                <a:latin typeface="Arial"/>
                <a:ea typeface="Arial"/>
                <a:cs typeface="Arial"/>
              </a:rPr>
              <a:t>LightGBM   0.9655</a:t>
            </a:r>
          </a:p>
          <a:p xmlns:a="http://schemas.openxmlformats.org/drawingml/2006/main">
            <a:pPr>
              <a:defRPr sz="1875" b="0">
                <a:solidFill>
                  <a:srgbClr val="141414"/>
                </a:solidFill>
                <a:latin typeface="Arial"/>
                <a:ea typeface="Arial"/>
                <a:cs typeface="Arial"/>
              </a:defRPr>
            </a:pPr>
            <a:r>
              <a:rPr sz="1875" b="0">
                <a:solidFill>
                  <a:srgbClr val="141414"/>
                </a:solidFill>
                <a:latin typeface="Arial"/>
                <a:ea typeface="Arial"/>
                <a:cs typeface="Arial"/>
              </a:rPr>
              <a:t>Persistence  0.9777</a:t>
            </a:r>
          </a:p>
        </p:txBody>
      </p:sp>
      <p:sp>
        <p:nvSpPr>
          <p:cNvPr id="13" name="">
            <a:extLst xmlns:a="http://schemas.openxmlformats.org/drawingml/2006/main">
              <a:ext uri="{FF2B5EF4-FFF2-40B4-BE49-F238E27FC236}">
                <a16:creationId xmlns:a16="http://schemas.microsoft.com/office/drawing/2014/main" id="{FB09BDD8-3BF4-4CB8-ACC9-4B5EDEFCBAEF}"/>
              </a:ext>
            </a:extLst>
          </p:cNvPr>
          <p:cNvSpPr>
            <a:spLocks xmlns:a="http://schemas.openxmlformats.org/drawingml/2006/main" noGrp="1"/>
          </p:cNvSpPr>
          <p:nvPr/>
        </p:nvSpPr>
        <p:spPr>
          <a:xfrm xmlns:a="http://schemas.openxmlformats.org/drawingml/2006/main">
            <a:off x="8734425" y="4048125"/>
            <a:ext cx="276225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550" b="1">
                <a:solidFill>
                  <a:srgbClr val="141414"/>
                </a:solidFill>
                <a:latin typeface="Arial"/>
                <a:ea typeface="Arial"/>
                <a:cs typeface="Arial"/>
              </a:defRPr>
            </a:pPr>
            <a:r>
              <a:rPr sz="2550" b="1">
                <a:solidFill>
                  <a:srgbClr val="141414"/>
                </a:solidFill>
                <a:latin typeface="Arial"/>
                <a:ea typeface="Arial"/>
                <a:cs typeface="Arial"/>
              </a:rPr>
              <a:t>Test winner:</a:t>
            </a:r>
          </a:p>
          <a:p xmlns:a="http://schemas.openxmlformats.org/drawingml/2006/main">
            <a:pPr>
              <a:defRPr sz="2550" b="1">
                <a:solidFill>
                  <a:srgbClr val="141414"/>
                </a:solidFill>
                <a:latin typeface="Arial"/>
                <a:ea typeface="Arial"/>
                <a:cs typeface="Arial"/>
              </a:defRPr>
            </a:pPr>
            <a:r>
              <a:rPr sz="2550" b="1">
                <a:solidFill>
                  <a:srgbClr val="141414"/>
                </a:solidFill>
                <a:latin typeface="Arial"/>
                <a:ea typeface="Arial"/>
                <a:cs typeface="Arial"/>
              </a:rPr>
              <a:t>persistence</a:t>
            </a:r>
          </a:p>
        </p:txBody>
      </p:sp>
      <p:sp>
        <p:nvSpPr>
          <p:cNvPr id="14" name="">
            <a:extLst xmlns:a="http://schemas.openxmlformats.org/drawingml/2006/main">
              <a:ext uri="{FF2B5EF4-FFF2-40B4-BE49-F238E27FC236}">
                <a16:creationId xmlns:a16="http://schemas.microsoft.com/office/drawing/2014/main" id="{2E6E2D44-519C-432B-AD85-12C0B0D010F9}"/>
              </a:ext>
            </a:extLst>
          </p:cNvPr>
          <p:cNvSpPr>
            <a:spLocks xmlns:a="http://schemas.openxmlformats.org/drawingml/2006/main" noGrp="1"/>
          </p:cNvSpPr>
          <p:nvPr/>
        </p:nvSpPr>
        <p:spPr>
          <a:xfrm xmlns:a="http://schemas.openxmlformats.org/drawingml/2006/main">
            <a:off x="647700" y="5934075"/>
            <a:ext cx="1057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0">
                <a:solidFill>
                  <a:srgbClr val="626262"/>
                </a:solidFill>
                <a:latin typeface="Arial"/>
                <a:ea typeface="Arial"/>
                <a:cs typeface="Arial"/>
              </a:defRPr>
            </a:pPr>
            <a:r>
              <a:rPr sz="1650" b="0">
                <a:solidFill>
                  <a:srgbClr val="626262"/>
                </a:solidFill>
                <a:latin typeface="Arial"/>
                <a:ea typeface="Arial"/>
                <a:cs typeface="Arial"/>
              </a:rPr>
              <a:t>3,566 validation and 3,567 test hours. Validation informed fitting. Original splits lack a 24-hour purge.</a:t>
            </a:r>
          </a:p>
        </p:txBody>
      </p:sp>
    </p:spTree>
    <p:extLst>
      <p:ext uri="{BB962C8B-B14F-4D97-AF65-F5344CB8AC3E}">
        <p14:creationId xmlns:p14="http://schemas.microsoft.com/office/powerpoint/2010/main" val="1297954874"/>
      </p:ext>
    </p:extLst>
  </p:cSld>
</p:sld>
</file>

<file path=ppt/slides/slide8.xml><?xml version="1.0" encoding="utf-8"?>
<p:sld xmlns:p="http://schemas.openxmlformats.org/presentationml/2006/main">
  <p:cSld>
    <p:bg>
      <p:bgPr>
        <a:solidFill xmlns:a="http://schemas.openxmlformats.org/drawingml/2006/main">
          <a:srgbClr val="FAFAFA"/>
        </a:solidFill>
      </p:bgPr>
    </p:bg>
    <p:spTree>
      <p:nvGrpSpPr>
        <p:cNvPr id="1" name=""/>
        <p:cNvGrpSpPr/>
        <p:nvPr/>
      </p:nvGrpSpPr>
      <p:grpSpPr>
        <a:xfrm xmlns:a="http://schemas.openxmlformats.org/drawingml/2006/main"/>
      </p:grpSpPr>
      <p:sp>
        <p:nvSpPr>
          <p:cNvPr id="9" name="slide-title">
            <a:extLst xmlns:a="http://schemas.openxmlformats.org/drawingml/2006/main">
              <a:ext uri="{FF2B5EF4-FFF2-40B4-BE49-F238E27FC236}">
                <a16:creationId xmlns:a16="http://schemas.microsoft.com/office/drawing/2014/main" id="{D2912C27-C7F3-4728-AFFE-31EC17DD0701}"/>
              </a:ext>
            </a:extLst>
          </p:cNvPr>
          <p:cNvSpPr>
            <a:spLocks xmlns:a="http://schemas.openxmlformats.org/drawingml/2006/main" noGrp="1"/>
          </p:cNvSpPr>
          <p:nvPr/>
        </p:nvSpPr>
        <p:spPr>
          <a:xfrm xmlns:a="http://schemas.openxmlformats.org/drawingml/2006/main">
            <a:off x="609600" y="40005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buNone/>
              <a:defRPr sz="3600" b="1">
                <a:solidFill>
                  <a:srgbClr val="101010"/>
                </a:solidFill>
                <a:latin typeface="Arial"/>
                <a:ea typeface="Arial"/>
                <a:cs typeface="Arial"/>
              </a:defRPr>
            </a:pPr>
            <a:r>
              <a:rPr sz="3600" b="1">
                <a:solidFill>
                  <a:srgbClr val="101010"/>
                </a:solidFill>
                <a:latin typeface="Arial"/>
                <a:ea typeface="Arial"/>
                <a:cs typeface="Arial"/>
              </a:rPr>
              <a:t>More detections, more false alarms</a:t>
            </a:r>
          </a:p>
        </p:txBody>
      </p:sp>
      <p:sp>
        <p:nvSpPr>
          <p:cNvPr id="2" name="slide-number">
            <a:extLst xmlns:a="http://schemas.openxmlformats.org/drawingml/2006/main">
              <a:ext uri="{FF2B5EF4-FFF2-40B4-BE49-F238E27FC236}">
                <a16:creationId xmlns:a16="http://schemas.microsoft.com/office/drawing/2014/main" id="{778C6679-0133-434E-AFB4-216C2EE97845}"/>
              </a:ext>
            </a:extLst>
          </p:cNvPr>
          <p:cNvSpPr>
            <a:spLocks xmlns:a="http://schemas.openxmlformats.org/drawingml/2006/main" noGrp="1"/>
          </p:cNvSpPr>
          <p:nvPr/>
        </p:nvSpPr>
        <p:spPr>
          <a:xfrm xmlns:a="http://schemas.openxmlformats.org/drawingml/2006/main">
            <a:off x="10668000" y="6381750"/>
            <a:ext cx="914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r">
              <a:buNone/>
              <a:defRPr sz="1350" b="0">
                <a:solidFill>
                  <a:srgbClr val="737373"/>
                </a:solidFill>
                <a:latin typeface="Arial"/>
                <a:ea typeface="Arial"/>
                <a:cs typeface="Arial"/>
              </a:defRPr>
            </a:pPr>
            <a:r>
              <a:rPr sz="1350" b="0">
                <a:solidFill>
                  <a:srgbClr val="737373"/>
                </a:solidFill>
                <a:latin typeface="Arial"/>
                <a:ea typeface="Arial"/>
                <a:cs typeface="Arial"/>
              </a:rPr>
              <a:t>08 / 12</a:t>
            </a:r>
          </a:p>
        </p:txBody>
      </p:sp>
      <p:sp>
        <p:nvSpPr>
          <p:cNvPr id="10" name="">
            <a:extLst xmlns:a="http://schemas.openxmlformats.org/drawingml/2006/main">
              <a:ext uri="{FF2B5EF4-FFF2-40B4-BE49-F238E27FC236}">
                <a16:creationId xmlns:a16="http://schemas.microsoft.com/office/drawing/2014/main" id="{354EBE14-DF47-4555-9D5A-CFBF3A45AFA6}"/>
              </a:ext>
            </a:extLst>
          </p:cNvPr>
          <p:cNvSpPr>
            <a:spLocks xmlns:a="http://schemas.openxmlformats.org/drawingml/2006/main" noGrp="1"/>
          </p:cNvSpPr>
          <p:nvPr/>
        </p:nvSpPr>
        <p:spPr>
          <a:xfrm xmlns:a="http://schemas.openxmlformats.org/drawingml/2006/main">
            <a:off x="647700" y="1352550"/>
            <a:ext cx="1047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0">
                <a:solidFill>
                  <a:srgbClr val="626262"/>
                </a:solidFill>
                <a:latin typeface="Arial"/>
                <a:ea typeface="Arial"/>
                <a:cs typeface="Arial"/>
              </a:defRPr>
            </a:pPr>
            <a:r>
              <a:rPr sz="2250" b="0">
                <a:solidFill>
                  <a:srgbClr val="626262"/>
                </a:solidFill>
                <a:latin typeface="Arial"/>
                <a:ea typeface="Arial"/>
                <a:cs typeface="Arial"/>
              </a:rPr>
              <a:t>Research comparison, all 3,567 test hours</a:t>
            </a:r>
          </a:p>
        </p:txBody>
      </p:sp>
      <p:graphicFrame>
        <p:nvGraphicFramePr>
          <p:cNvPr id="19" name="Chart"/>
          <p:cNvGraphicFramePr/>
          <p:nvPr/>
        </p:nvGraphicFramePr>
        <p:xfrm>
          <a:off xmlns:a="http://schemas.openxmlformats.org/drawingml/2006/main" x="571500" y="2085975"/>
          <a:ext xmlns:a="http://schemas.openxmlformats.org/drawingml/2006/main" cx="7572375" cy="3476625"/>
        </p:xfrm>
        <a:graphic xmlns:a="http://schemas.openxmlformats.org/drawingml/2006/main">
          <a:graphicData uri="http://schemas.openxmlformats.org/drawingml/2006/chart">
            <c:chart xmlns:r="http://schemas.openxmlformats.org/officeDocument/2006/relationships" xmlns:c="http://schemas.openxmlformats.org/drawingml/2006/chart" r:id="R584b516242374d4a"/>
          </a:graphicData>
        </a:graphic>
      </p:graphicFrame>
      <p:sp>
        <p:nvSpPr>
          <p:cNvPr id="12" name="">
            <a:extLst xmlns:a="http://schemas.openxmlformats.org/drawingml/2006/main">
              <a:ext uri="{FF2B5EF4-FFF2-40B4-BE49-F238E27FC236}">
                <a16:creationId xmlns:a16="http://schemas.microsoft.com/office/drawing/2014/main" id="{9D169926-3AF0-4249-A46E-161E5E93FE89}"/>
              </a:ext>
            </a:extLst>
          </p:cNvPr>
          <p:cNvSpPr>
            <a:spLocks xmlns:a="http://schemas.openxmlformats.org/drawingml/2006/main" noGrp="1"/>
          </p:cNvSpPr>
          <p:nvPr/>
        </p:nvSpPr>
        <p:spPr>
          <a:xfrm xmlns:a="http://schemas.openxmlformats.org/drawingml/2006/main">
            <a:off x="8753475" y="2009775"/>
            <a:ext cx="2762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325" b="1">
                <a:solidFill>
                  <a:srgbClr val="141414"/>
                </a:solidFill>
                <a:latin typeface="Arial"/>
                <a:ea typeface="Arial"/>
                <a:cs typeface="Arial"/>
              </a:defRPr>
            </a:pPr>
            <a:r>
              <a:rPr sz="2325" b="1">
                <a:solidFill>
                  <a:srgbClr val="141414"/>
                </a:solidFill>
                <a:latin typeface="Arial"/>
                <a:ea typeface="Arial"/>
                <a:cs typeface="Arial"/>
              </a:rPr>
              <a:t>Precision</a:t>
            </a:r>
          </a:p>
        </p:txBody>
      </p:sp>
      <p:sp>
        <p:nvSpPr>
          <p:cNvPr id="13" name="">
            <a:extLst xmlns:a="http://schemas.openxmlformats.org/drawingml/2006/main">
              <a:ext uri="{FF2B5EF4-FFF2-40B4-BE49-F238E27FC236}">
                <a16:creationId xmlns:a16="http://schemas.microsoft.com/office/drawing/2014/main" id="{2C611D79-A278-463D-9CB4-4F21D78FE2A6}"/>
              </a:ext>
            </a:extLst>
          </p:cNvPr>
          <p:cNvSpPr>
            <a:spLocks xmlns:a="http://schemas.openxmlformats.org/drawingml/2006/main" noGrp="1"/>
          </p:cNvSpPr>
          <p:nvPr/>
        </p:nvSpPr>
        <p:spPr>
          <a:xfrm xmlns:a="http://schemas.openxmlformats.org/drawingml/2006/main">
            <a:off x="8753475" y="2686050"/>
            <a:ext cx="2828925" cy="962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a:solidFill>
                  <a:srgbClr val="141414"/>
                </a:solidFill>
                <a:latin typeface="Arial"/>
                <a:ea typeface="Arial"/>
                <a:cs typeface="Arial"/>
              </a:defRPr>
            </a:pPr>
            <a:r>
              <a:rPr sz="1875" b="0">
                <a:solidFill>
                  <a:srgbClr val="141414"/>
                </a:solidFill>
                <a:latin typeface="Arial"/>
                <a:ea typeface="Arial"/>
                <a:cs typeface="Arial"/>
              </a:rPr>
              <a:t>98.01%   Persistence</a:t>
            </a:r>
          </a:p>
          <a:p xmlns:a="http://schemas.openxmlformats.org/drawingml/2006/main">
            <a:pPr>
              <a:defRPr sz="1875" b="0">
                <a:solidFill>
                  <a:srgbClr val="141414"/>
                </a:solidFill>
                <a:latin typeface="Arial"/>
                <a:ea typeface="Arial"/>
                <a:cs typeface="Arial"/>
              </a:defRPr>
            </a:pPr>
            <a:r>
              <a:rPr sz="1875" b="0">
                <a:solidFill>
                  <a:srgbClr val="141414"/>
                </a:solidFill>
                <a:latin typeface="Arial"/>
                <a:ea typeface="Arial"/>
                <a:cs typeface="Arial"/>
              </a:rPr>
              <a:t>96.41%   Classifier</a:t>
            </a:r>
          </a:p>
        </p:txBody>
      </p:sp>
      <p:sp>
        <p:nvSpPr>
          <p:cNvPr id="14" name="">
            <a:extLst xmlns:a="http://schemas.openxmlformats.org/drawingml/2006/main">
              <a:ext uri="{FF2B5EF4-FFF2-40B4-BE49-F238E27FC236}">
                <a16:creationId xmlns:a16="http://schemas.microsoft.com/office/drawing/2014/main" id="{10655DB9-29D6-4DFE-B7DF-6A9FE859B44B}"/>
              </a:ext>
            </a:extLst>
          </p:cNvPr>
          <p:cNvSpPr>
            <a:spLocks xmlns:a="http://schemas.openxmlformats.org/drawingml/2006/main" noGrp="1"/>
          </p:cNvSpPr>
          <p:nvPr/>
        </p:nvSpPr>
        <p:spPr>
          <a:xfrm xmlns:a="http://schemas.openxmlformats.org/drawingml/2006/main">
            <a:off x="8753475" y="4029075"/>
            <a:ext cx="28575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400" b="1">
                <a:solidFill>
                  <a:srgbClr val="141414"/>
                </a:solidFill>
                <a:latin typeface="Arial"/>
                <a:ea typeface="Arial"/>
                <a:cs typeface="Arial"/>
              </a:defRPr>
            </a:pPr>
            <a:r>
              <a:rPr sz="2400" b="1">
                <a:solidFill>
                  <a:srgbClr val="141414"/>
                </a:solidFill>
                <a:latin typeface="Arial"/>
                <a:ea typeface="Arial"/>
                <a:cs typeface="Arial"/>
              </a:rPr>
              <a:t>Lower F1</a:t>
            </a:r>
          </a:p>
          <a:p xmlns:a="http://schemas.openxmlformats.org/drawingml/2006/main">
            <a:pPr>
              <a:defRPr sz="2400" b="1">
                <a:solidFill>
                  <a:srgbClr val="141414"/>
                </a:solidFill>
                <a:latin typeface="Arial"/>
                <a:ea typeface="Arial"/>
                <a:cs typeface="Arial"/>
              </a:defRPr>
            </a:pPr>
            <a:r>
              <a:rPr sz="2400" b="1">
                <a:solidFill>
                  <a:srgbClr val="141414"/>
                </a:solidFill>
                <a:latin typeface="Arial"/>
                <a:ea typeface="Arial"/>
                <a:cs typeface="Arial"/>
              </a:rPr>
              <a:t>0.9745 vs 0.9777</a:t>
            </a:r>
          </a:p>
        </p:txBody>
      </p:sp>
      <p:sp>
        <p:nvSpPr>
          <p:cNvPr id="15" name="">
            <a:extLst xmlns:a="http://schemas.openxmlformats.org/drawingml/2006/main">
              <a:ext uri="{FF2B5EF4-FFF2-40B4-BE49-F238E27FC236}">
                <a16:creationId xmlns:a16="http://schemas.microsoft.com/office/drawing/2014/main" id="{24AA3110-63AB-480A-8174-9836E8E72EFC}"/>
              </a:ext>
            </a:extLst>
          </p:cNvPr>
          <p:cNvSpPr>
            <a:spLocks xmlns:a="http://schemas.openxmlformats.org/drawingml/2006/main" noGrp="1"/>
          </p:cNvSpPr>
          <p:nvPr/>
        </p:nvSpPr>
        <p:spPr>
          <a:xfrm xmlns:a="http://schemas.openxmlformats.org/drawingml/2006/main">
            <a:off x="647700" y="5934075"/>
            <a:ext cx="1057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0">
                <a:solidFill>
                  <a:srgbClr val="626262"/>
                </a:solidFill>
                <a:latin typeface="Arial"/>
                <a:ea typeface="Arial"/>
                <a:cs typeface="Arial"/>
              </a:defRPr>
            </a:pPr>
            <a:r>
              <a:rPr sz="1650" b="0">
                <a:solidFill>
                  <a:srgbClr val="626262"/>
                </a:solidFill>
                <a:latin typeface="Arial"/>
                <a:ea typeface="Arial"/>
                <a:cs typeface="Arial"/>
              </a:rPr>
              <a:t>Validation selected the candidate. The test was already inspected. Fresh holdout needed.</a:t>
            </a:r>
          </a:p>
        </p:txBody>
      </p:sp>
    </p:spTree>
    <p:extLst>
      <p:ext uri="{BB962C8B-B14F-4D97-AF65-F5344CB8AC3E}">
        <p14:creationId xmlns:p14="http://schemas.microsoft.com/office/powerpoint/2010/main" val="676710036"/>
      </p:ext>
    </p:extLst>
  </p:cSld>
</p:sld>
</file>

<file path=ppt/slides/slide9.xml><?xml version="1.0" encoding="utf-8"?>
<p:sld xmlns:p="http://schemas.openxmlformats.org/presentationml/2006/main">
  <p:cSld>
    <p:bg>
      <p:bgPr>
        <a:solidFill xmlns:a="http://schemas.openxmlformats.org/drawingml/2006/main">
          <a:srgbClr val="FAFAFA"/>
        </a:solidFill>
      </p:bgPr>
    </p:bg>
    <p:spTree>
      <p:nvGrpSpPr>
        <p:cNvPr id="1" name=""/>
        <p:cNvGrpSpPr/>
        <p:nvPr/>
      </p:nvGrpSpPr>
      <p:grpSpPr>
        <a:xfrm xmlns:a="http://schemas.openxmlformats.org/drawingml/2006/main"/>
      </p:grpSpPr>
      <p:sp>
        <p:nvSpPr>
          <p:cNvPr id="9" name="slide-title">
            <a:extLst xmlns:a="http://schemas.openxmlformats.org/drawingml/2006/main">
              <a:ext uri="{FF2B5EF4-FFF2-40B4-BE49-F238E27FC236}">
                <a16:creationId xmlns:a16="http://schemas.microsoft.com/office/drawing/2014/main" id="{C3DEB9A2-A8C3-4A39-9492-A9F100959E0D}"/>
              </a:ext>
            </a:extLst>
          </p:cNvPr>
          <p:cNvSpPr>
            <a:spLocks xmlns:a="http://schemas.openxmlformats.org/drawingml/2006/main" noGrp="1"/>
          </p:cNvSpPr>
          <p:nvPr/>
        </p:nvSpPr>
        <p:spPr>
          <a:xfrm xmlns:a="http://schemas.openxmlformats.org/drawingml/2006/main">
            <a:off x="609600" y="40005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buNone/>
              <a:defRPr sz="3600" b="1">
                <a:solidFill>
                  <a:srgbClr val="101010"/>
                </a:solidFill>
                <a:latin typeface="Arial"/>
                <a:ea typeface="Arial"/>
                <a:cs typeface="Arial"/>
              </a:defRPr>
            </a:pPr>
            <a:r>
              <a:rPr sz="3600" b="1">
                <a:solidFill>
                  <a:srgbClr val="101010"/>
                </a:solidFill>
                <a:latin typeface="Arial"/>
                <a:ea typeface="Arial"/>
                <a:cs typeface="Arial"/>
              </a:rPr>
              <a:t>Business hypotheses</a:t>
            </a:r>
          </a:p>
        </p:txBody>
      </p:sp>
      <p:sp>
        <p:nvSpPr>
          <p:cNvPr id="2" name="slide-number">
            <a:extLst xmlns:a="http://schemas.openxmlformats.org/drawingml/2006/main">
              <a:ext uri="{FF2B5EF4-FFF2-40B4-BE49-F238E27FC236}">
                <a16:creationId xmlns:a16="http://schemas.microsoft.com/office/drawing/2014/main" id="{0032E691-0A82-4495-A9E6-4DDDC0DCA483}"/>
              </a:ext>
            </a:extLst>
          </p:cNvPr>
          <p:cNvSpPr>
            <a:spLocks xmlns:a="http://schemas.openxmlformats.org/drawingml/2006/main" noGrp="1"/>
          </p:cNvSpPr>
          <p:nvPr/>
        </p:nvSpPr>
        <p:spPr>
          <a:xfrm xmlns:a="http://schemas.openxmlformats.org/drawingml/2006/main">
            <a:off x="10668000" y="6381750"/>
            <a:ext cx="914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r">
              <a:buNone/>
              <a:defRPr sz="1350" b="0">
                <a:solidFill>
                  <a:srgbClr val="737373"/>
                </a:solidFill>
                <a:latin typeface="Arial"/>
                <a:ea typeface="Arial"/>
                <a:cs typeface="Arial"/>
              </a:defRPr>
            </a:pPr>
            <a:r>
              <a:rPr sz="1350" b="0">
                <a:solidFill>
                  <a:srgbClr val="737373"/>
                </a:solidFill>
                <a:latin typeface="Arial"/>
                <a:ea typeface="Arial"/>
                <a:cs typeface="Arial"/>
              </a:rPr>
              <a:t>09 / 12</a:t>
            </a:r>
          </a:p>
        </p:txBody>
      </p:sp>
      <p:sp>
        <p:nvSpPr>
          <p:cNvPr id="10" name="">
            <a:extLst xmlns:a="http://schemas.openxmlformats.org/drawingml/2006/main">
              <a:ext uri="{FF2B5EF4-FFF2-40B4-BE49-F238E27FC236}">
                <a16:creationId xmlns:a16="http://schemas.microsoft.com/office/drawing/2014/main" id="{86032CB8-5889-4BEC-A45F-DF141B2FE00C}"/>
              </a:ext>
            </a:extLst>
          </p:cNvPr>
          <p:cNvSpPr>
            <a:spLocks xmlns:a="http://schemas.openxmlformats.org/drawingml/2006/main" noGrp="1"/>
          </p:cNvSpPr>
          <p:nvPr/>
        </p:nvSpPr>
        <p:spPr>
          <a:xfrm xmlns:a="http://schemas.openxmlformats.org/drawingml/2006/main">
            <a:off x="647700" y="1676400"/>
            <a:ext cx="5334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625" b="1">
                <a:solidFill>
                  <a:srgbClr val="141414"/>
                </a:solidFill>
                <a:latin typeface="Arial"/>
                <a:ea typeface="Arial"/>
                <a:cs typeface="Arial"/>
              </a:defRPr>
            </a:pPr>
            <a:r>
              <a:rPr sz="2625" b="1">
                <a:solidFill>
                  <a:srgbClr val="141414"/>
                </a:solidFill>
                <a:latin typeface="Arial"/>
                <a:ea typeface="Arial"/>
                <a:cs typeface="Arial"/>
              </a:rPr>
              <a:t>Potential customers</a:t>
            </a:r>
          </a:p>
        </p:txBody>
      </p:sp>
      <p:sp>
        <p:nvSpPr>
          <p:cNvPr id="11" name="">
            <a:extLst xmlns:a="http://schemas.openxmlformats.org/drawingml/2006/main">
              <a:ext uri="{FF2B5EF4-FFF2-40B4-BE49-F238E27FC236}">
                <a16:creationId xmlns:a16="http://schemas.microsoft.com/office/drawing/2014/main" id="{2D1A15C3-964B-4D55-B909-9B36CFAF650B}"/>
              </a:ext>
            </a:extLst>
          </p:cNvPr>
          <p:cNvSpPr>
            <a:spLocks xmlns:a="http://schemas.openxmlformats.org/drawingml/2006/main" noGrp="1"/>
          </p:cNvSpPr>
          <p:nvPr/>
        </p:nvSpPr>
        <p:spPr>
          <a:xfrm xmlns:a="http://schemas.openxmlformats.org/drawingml/2006/main">
            <a:off x="647700" y="2590800"/>
            <a:ext cx="5286375"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400" b="0">
                <a:solidFill>
                  <a:srgbClr val="141414"/>
                </a:solidFill>
                <a:latin typeface="Arial"/>
                <a:ea typeface="Arial"/>
                <a:cs typeface="Arial"/>
              </a:defRPr>
            </a:pPr>
            <a:r>
              <a:rPr sz="2400" b="0">
                <a:solidFill>
                  <a:srgbClr val="141414"/>
                </a:solidFill>
                <a:latin typeface="Arial"/>
                <a:ea typeface="Arial"/>
                <a:cs typeface="Arial"/>
              </a:rPr>
              <a:t>Water and plant operators</a:t>
            </a:r>
          </a:p>
          <a:p xmlns:a="http://schemas.openxmlformats.org/drawingml/2006/main">
            <a:pPr>
              <a:defRPr sz="2400" b="0">
                <a:solidFill>
                  <a:srgbClr val="141414"/>
                </a:solidFill>
                <a:latin typeface="Arial"/>
                <a:ea typeface="Arial"/>
                <a:cs typeface="Arial"/>
              </a:defRPr>
            </a:pPr>
            <a:r>
              <a:rPr sz="2400" b="0">
                <a:solidFill>
                  <a:srgbClr val="141414"/>
                </a:solidFill>
                <a:latin typeface="Arial"/>
                <a:ea typeface="Arial"/>
                <a:cs typeface="Arial"/>
              </a:rPr>
              <a:t>Hotels and managed gardens</a:t>
            </a:r>
          </a:p>
        </p:txBody>
      </p:sp>
      <p:sp>
        <p:nvSpPr>
          <p:cNvPr id="12" name="">
            <a:extLst xmlns:a="http://schemas.openxmlformats.org/drawingml/2006/main">
              <a:ext uri="{FF2B5EF4-FFF2-40B4-BE49-F238E27FC236}">
                <a16:creationId xmlns:a16="http://schemas.microsoft.com/office/drawing/2014/main" id="{AC21123F-EA8F-4DDC-8274-23C409CBE313}"/>
              </a:ext>
            </a:extLst>
          </p:cNvPr>
          <p:cNvSpPr>
            <a:spLocks xmlns:a="http://schemas.openxmlformats.org/drawingml/2006/main" noGrp="1"/>
          </p:cNvSpPr>
          <p:nvPr/>
        </p:nvSpPr>
        <p:spPr>
          <a:xfrm xmlns:a="http://schemas.openxmlformats.org/drawingml/2006/main">
            <a:off x="6648450" y="1676400"/>
            <a:ext cx="48577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625" b="1">
                <a:solidFill>
                  <a:srgbClr val="141414"/>
                </a:solidFill>
                <a:latin typeface="Arial"/>
                <a:ea typeface="Arial"/>
                <a:cs typeface="Arial"/>
              </a:defRPr>
            </a:pPr>
            <a:r>
              <a:rPr sz="2625" b="1">
                <a:solidFill>
                  <a:srgbClr val="141414"/>
                </a:solidFill>
                <a:latin typeface="Arial"/>
                <a:ea typeface="Arial"/>
                <a:cs typeface="Arial"/>
              </a:rPr>
              <a:t>Commercial model</a:t>
            </a:r>
          </a:p>
        </p:txBody>
      </p:sp>
      <p:sp>
        <p:nvSpPr>
          <p:cNvPr id="13" name="">
            <a:extLst xmlns:a="http://schemas.openxmlformats.org/drawingml/2006/main">
              <a:ext uri="{FF2B5EF4-FFF2-40B4-BE49-F238E27FC236}">
                <a16:creationId xmlns:a16="http://schemas.microsoft.com/office/drawing/2014/main" id="{CAE7942A-A975-42DE-BAE0-DCBDD6254C6B}"/>
              </a:ext>
            </a:extLst>
          </p:cNvPr>
          <p:cNvSpPr>
            <a:spLocks xmlns:a="http://schemas.openxmlformats.org/drawingml/2006/main" noGrp="1"/>
          </p:cNvSpPr>
          <p:nvPr/>
        </p:nvSpPr>
        <p:spPr>
          <a:xfrm xmlns:a="http://schemas.openxmlformats.org/drawingml/2006/main">
            <a:off x="6648450" y="2590800"/>
            <a:ext cx="485775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400" b="0">
                <a:solidFill>
                  <a:srgbClr val="141414"/>
                </a:solidFill>
                <a:latin typeface="Arial"/>
                <a:ea typeface="Arial"/>
                <a:cs typeface="Arial"/>
              </a:defRPr>
            </a:pPr>
            <a:r>
              <a:rPr sz="2400" b="0">
                <a:solidFill>
                  <a:srgbClr val="141414"/>
                </a:solidFill>
                <a:latin typeface="Arial"/>
                <a:ea typeface="Arial"/>
                <a:cs typeface="Arial"/>
              </a:rPr>
              <a:t>Setup and integration</a:t>
            </a:r>
          </a:p>
          <a:p xmlns:a="http://schemas.openxmlformats.org/drawingml/2006/main">
            <a:pPr>
              <a:defRPr sz="2400" b="0">
                <a:solidFill>
                  <a:srgbClr val="141414"/>
                </a:solidFill>
                <a:latin typeface="Arial"/>
                <a:ea typeface="Arial"/>
                <a:cs typeface="Arial"/>
              </a:defRPr>
            </a:pPr>
            <a:r>
              <a:rPr sz="2400" b="0">
                <a:solidFill>
                  <a:srgbClr val="141414"/>
                </a:solidFill>
                <a:latin typeface="Arial"/>
                <a:ea typeface="Arial"/>
                <a:cs typeface="Arial"/>
              </a:rPr>
              <a:t>Subscription and support</a:t>
            </a:r>
          </a:p>
        </p:txBody>
      </p:sp>
      <p:sp>
        <p:nvSpPr>
          <p:cNvPr id="14" name="">
            <a:extLst xmlns:a="http://schemas.openxmlformats.org/drawingml/2006/main">
              <a:ext uri="{FF2B5EF4-FFF2-40B4-BE49-F238E27FC236}">
                <a16:creationId xmlns:a16="http://schemas.microsoft.com/office/drawing/2014/main" id="{AEA57ACE-0EA4-4193-A51E-49C0D0E9907F}"/>
              </a:ext>
            </a:extLst>
          </p:cNvPr>
          <p:cNvSpPr>
            <a:spLocks xmlns:a="http://schemas.openxmlformats.org/drawingml/2006/main" noGrp="1"/>
          </p:cNvSpPr>
          <p:nvPr/>
        </p:nvSpPr>
        <p:spPr>
          <a:xfrm xmlns:a="http://schemas.openxmlformats.org/drawingml/2006/main">
            <a:off x="647700" y="4695825"/>
            <a:ext cx="10572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150" b="1">
                <a:solidFill>
                  <a:srgbClr val="141414"/>
                </a:solidFill>
                <a:latin typeface="Arial"/>
                <a:ea typeface="Arial"/>
                <a:cs typeface="Arial"/>
              </a:defRPr>
            </a:pPr>
            <a:r>
              <a:rPr sz="3150" b="1">
                <a:solidFill>
                  <a:srgbClr val="141414"/>
                </a:solidFill>
                <a:latin typeface="Arial"/>
                <a:ea typeface="Arial"/>
                <a:cs typeface="Arial"/>
              </a:rPr>
              <a:t>Customer interviews and a measured pilot</a:t>
            </a:r>
          </a:p>
        </p:txBody>
      </p:sp>
      <p:sp>
        <p:nvSpPr>
          <p:cNvPr id="15" name="">
            <a:extLst xmlns:a="http://schemas.openxmlformats.org/drawingml/2006/main">
              <a:ext uri="{FF2B5EF4-FFF2-40B4-BE49-F238E27FC236}">
                <a16:creationId xmlns:a16="http://schemas.microsoft.com/office/drawing/2014/main" id="{B77AE891-2783-4B4C-8ECC-3A40DABA347D}"/>
              </a:ext>
            </a:extLst>
          </p:cNvPr>
          <p:cNvSpPr>
            <a:spLocks xmlns:a="http://schemas.openxmlformats.org/drawingml/2006/main" noGrp="1"/>
          </p:cNvSpPr>
          <p:nvPr/>
        </p:nvSpPr>
        <p:spPr>
          <a:xfrm xmlns:a="http://schemas.openxmlformats.org/drawingml/2006/main">
            <a:off x="647700" y="5934075"/>
            <a:ext cx="1057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0">
                <a:solidFill>
                  <a:srgbClr val="626262"/>
                </a:solidFill>
                <a:latin typeface="Arial"/>
                <a:ea typeface="Arial"/>
                <a:cs typeface="Arial"/>
              </a:defRPr>
            </a:pPr>
            <a:r>
              <a:rPr sz="1650" b="0">
                <a:solidFill>
                  <a:srgbClr val="626262"/>
                </a:solidFill>
                <a:latin typeface="Arial"/>
                <a:ea typeface="Arial"/>
                <a:cs typeface="Arial"/>
              </a:rPr>
              <a:t>Pricing, willingness to pay and margins remain untested. No customer agreements claimed.</a:t>
            </a:r>
          </a:p>
        </p:txBody>
      </p:sp>
    </p:spTree>
    <p:extLst>
      <p:ext uri="{BB962C8B-B14F-4D97-AF65-F5344CB8AC3E}">
        <p14:creationId xmlns:p14="http://schemas.microsoft.com/office/powerpoint/2010/main" val="1059806131"/>
      </p:ext>
    </p:extLst>
  </p:cSld>
</p:sld>
</file>

<file path=ppt/slides/slide10.xml><?xml version="1.0" encoding="utf-8"?>
<p:sld xmlns:p="http://schemas.openxmlformats.org/presentationml/2006/main">
  <p:cSld>
    <p:bg>
      <p:bgPr>
        <a:solidFill xmlns:a="http://schemas.openxmlformats.org/drawingml/2006/main">
          <a:srgbClr val="FAFAFA"/>
        </a:solidFill>
      </p:bgPr>
    </p:bg>
    <p:spTree>
      <p:nvGrpSpPr>
        <p:cNvPr id="1" name=""/>
        <p:cNvGrpSpPr/>
        <p:nvPr/>
      </p:nvGrpSpPr>
      <p:grpSpPr>
        <a:xfrm xmlns:a="http://schemas.openxmlformats.org/drawingml/2006/main"/>
      </p:grpSpPr>
      <p:sp>
        <p:nvSpPr>
          <p:cNvPr id="8" name="slide-title">
            <a:extLst xmlns:a="http://schemas.openxmlformats.org/drawingml/2006/main">
              <a:ext uri="{FF2B5EF4-FFF2-40B4-BE49-F238E27FC236}">
                <a16:creationId xmlns:a16="http://schemas.microsoft.com/office/drawing/2014/main" id="{02C8DBAC-A07C-4F5C-BA1A-AED7F009A740}"/>
              </a:ext>
            </a:extLst>
          </p:cNvPr>
          <p:cNvSpPr>
            <a:spLocks xmlns:a="http://schemas.openxmlformats.org/drawingml/2006/main" noGrp="1"/>
          </p:cNvSpPr>
          <p:nvPr/>
        </p:nvSpPr>
        <p:spPr>
          <a:xfrm xmlns:a="http://schemas.openxmlformats.org/drawingml/2006/main">
            <a:off x="609600" y="40005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buNone/>
              <a:defRPr sz="3600" b="1">
                <a:solidFill>
                  <a:srgbClr val="101010"/>
                </a:solidFill>
                <a:latin typeface="Arial"/>
                <a:ea typeface="Arial"/>
                <a:cs typeface="Arial"/>
              </a:defRPr>
            </a:pPr>
            <a:r>
              <a:rPr sz="3600" b="1">
                <a:solidFill>
                  <a:srgbClr val="101010"/>
                </a:solidFill>
                <a:latin typeface="Arial"/>
                <a:ea typeface="Arial"/>
                <a:cs typeface="Arial"/>
              </a:rPr>
              <a:t>What the model does not establish</a:t>
            </a:r>
          </a:p>
        </p:txBody>
      </p:sp>
      <p:sp>
        <p:nvSpPr>
          <p:cNvPr id="2" name="slide-number">
            <a:extLst xmlns:a="http://schemas.openxmlformats.org/drawingml/2006/main">
              <a:ext uri="{FF2B5EF4-FFF2-40B4-BE49-F238E27FC236}">
                <a16:creationId xmlns:a16="http://schemas.microsoft.com/office/drawing/2014/main" id="{010FF08B-15F4-4B81-8430-0443A7138D51}"/>
              </a:ext>
            </a:extLst>
          </p:cNvPr>
          <p:cNvSpPr>
            <a:spLocks xmlns:a="http://schemas.openxmlformats.org/drawingml/2006/main" noGrp="1"/>
          </p:cNvSpPr>
          <p:nvPr/>
        </p:nvSpPr>
        <p:spPr>
          <a:xfrm xmlns:a="http://schemas.openxmlformats.org/drawingml/2006/main">
            <a:off x="10668000" y="6381750"/>
            <a:ext cx="914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r">
              <a:buNone/>
              <a:defRPr sz="1350" b="0">
                <a:solidFill>
                  <a:srgbClr val="737373"/>
                </a:solidFill>
                <a:latin typeface="Arial"/>
                <a:ea typeface="Arial"/>
                <a:cs typeface="Arial"/>
              </a:defRPr>
            </a:pPr>
            <a:r>
              <a:rPr sz="1350" b="0">
                <a:solidFill>
                  <a:srgbClr val="737373"/>
                </a:solidFill>
                <a:latin typeface="Arial"/>
                <a:ea typeface="Arial"/>
                <a:cs typeface="Arial"/>
              </a:rPr>
              <a:t>10 / 12</a:t>
            </a:r>
          </a:p>
        </p:txBody>
      </p:sp>
      <p:sp>
        <p:nvSpPr>
          <p:cNvPr id="9" name="">
            <a:extLst xmlns:a="http://schemas.openxmlformats.org/drawingml/2006/main">
              <a:ext uri="{FF2B5EF4-FFF2-40B4-BE49-F238E27FC236}">
                <a16:creationId xmlns:a16="http://schemas.microsoft.com/office/drawing/2014/main" id="{8520214C-C70B-4F6C-A667-0887259FBBDF}"/>
              </a:ext>
            </a:extLst>
          </p:cNvPr>
          <p:cNvSpPr>
            <a:spLocks xmlns:a="http://schemas.openxmlformats.org/drawingml/2006/main" noGrp="1"/>
          </p:cNvSpPr>
          <p:nvPr/>
        </p:nvSpPr>
        <p:spPr>
          <a:xfrm xmlns:a="http://schemas.openxmlformats.org/drawingml/2006/main">
            <a:off x="647700" y="1695450"/>
            <a:ext cx="5238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850" b="1">
                <a:solidFill>
                  <a:srgbClr val="141414"/>
                </a:solidFill>
                <a:latin typeface="Arial"/>
                <a:ea typeface="Arial"/>
                <a:cs typeface="Arial"/>
              </a:defRPr>
            </a:pPr>
            <a:r>
              <a:rPr sz="2850" b="1">
                <a:solidFill>
                  <a:srgbClr val="141414"/>
                </a:solidFill>
                <a:latin typeface="Arial"/>
                <a:ea typeface="Arial"/>
                <a:cs typeface="Arial"/>
              </a:rPr>
              <a:t>Declared scenario</a:t>
            </a:r>
          </a:p>
        </p:txBody>
      </p:sp>
      <p:sp>
        <p:nvSpPr>
          <p:cNvPr id="10" name="">
            <a:extLst xmlns:a="http://schemas.openxmlformats.org/drawingml/2006/main">
              <a:ext uri="{FF2B5EF4-FFF2-40B4-BE49-F238E27FC236}">
                <a16:creationId xmlns:a16="http://schemas.microsoft.com/office/drawing/2014/main" id="{DA00EF53-B46C-43F4-8359-40108EE79284}"/>
              </a:ext>
            </a:extLst>
          </p:cNvPr>
          <p:cNvSpPr>
            <a:spLocks xmlns:a="http://schemas.openxmlformats.org/drawingml/2006/main" noGrp="1"/>
          </p:cNvSpPr>
          <p:nvPr/>
        </p:nvSpPr>
        <p:spPr>
          <a:xfrm xmlns:a="http://schemas.openxmlformats.org/drawingml/2006/main">
            <a:off x="647700" y="2695575"/>
            <a:ext cx="528637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550" b="0">
                <a:solidFill>
                  <a:srgbClr val="141414"/>
                </a:solidFill>
                <a:latin typeface="Arial"/>
                <a:ea typeface="Arial"/>
                <a:cs typeface="Arial"/>
              </a:defRPr>
            </a:pPr>
            <a:r>
              <a:rPr sz="2550" b="0">
                <a:solidFill>
                  <a:srgbClr val="141414"/>
                </a:solidFill>
                <a:latin typeface="Arial"/>
                <a:ea typeface="Arial"/>
                <a:cs typeface="Arial"/>
              </a:rPr>
              <a:t>100–400 m³/h production</a:t>
            </a:r>
          </a:p>
          <a:p xmlns:a="http://schemas.openxmlformats.org/drawingml/2006/main">
            <a:pPr>
              <a:defRPr sz="2550" b="0">
                <a:solidFill>
                  <a:srgbClr val="141414"/>
                </a:solidFill>
                <a:latin typeface="Arial"/>
                <a:ea typeface="Arial"/>
                <a:cs typeface="Arial"/>
              </a:defRPr>
            </a:pPr>
            <a:r>
              <a:rPr sz="2550" b="0">
                <a:solidFill>
                  <a:srgbClr val="141414"/>
                </a:solidFill>
                <a:latin typeface="Arial"/>
                <a:ea typeface="Arial"/>
                <a:cs typeface="Arial"/>
              </a:rPr>
              <a:t>4,000 m³ tank</a:t>
            </a:r>
          </a:p>
          <a:p xmlns:a="http://schemas.openxmlformats.org/drawingml/2006/main">
            <a:pPr>
              <a:defRPr sz="2550" b="0">
                <a:solidFill>
                  <a:srgbClr val="141414"/>
                </a:solidFill>
                <a:latin typeface="Arial"/>
                <a:ea typeface="Arial"/>
                <a:cs typeface="Arial"/>
              </a:defRPr>
            </a:pPr>
            <a:r>
              <a:rPr sz="2550" b="0">
                <a:solidFill>
                  <a:srgbClr val="141414"/>
                </a:solidFill>
                <a:latin typeface="Arial"/>
                <a:ea typeface="Arial"/>
                <a:cs typeface="Arial"/>
              </a:rPr>
              <a:t>800 m³ minimum</a:t>
            </a:r>
          </a:p>
          <a:p xmlns:a="http://schemas.openxmlformats.org/drawingml/2006/main">
            <a:pPr>
              <a:defRPr sz="2550" b="0">
                <a:solidFill>
                  <a:srgbClr val="141414"/>
                </a:solidFill>
                <a:latin typeface="Arial"/>
                <a:ea typeface="Arial"/>
                <a:cs typeface="Arial"/>
              </a:defRPr>
            </a:pPr>
            <a:r>
              <a:rPr sz="2550" b="0">
                <a:solidFill>
                  <a:srgbClr val="141414"/>
                </a:solidFill>
                <a:latin typeface="Arial"/>
                <a:ea typeface="Arial"/>
                <a:cs typeface="Arial"/>
              </a:rPr>
              <a:t>3.4 kWh per m³</a:t>
            </a:r>
          </a:p>
        </p:txBody>
      </p:sp>
      <p:sp>
        <p:nvSpPr>
          <p:cNvPr id="11" name="">
            <a:extLst xmlns:a="http://schemas.openxmlformats.org/drawingml/2006/main">
              <a:ext uri="{FF2B5EF4-FFF2-40B4-BE49-F238E27FC236}">
                <a16:creationId xmlns:a16="http://schemas.microsoft.com/office/drawing/2014/main" id="{05123F2E-3C77-4BA2-9F01-86299AC7BBCF}"/>
              </a:ext>
            </a:extLst>
          </p:cNvPr>
          <p:cNvSpPr>
            <a:spLocks xmlns:a="http://schemas.openxmlformats.org/drawingml/2006/main" noGrp="1"/>
          </p:cNvSpPr>
          <p:nvPr/>
        </p:nvSpPr>
        <p:spPr>
          <a:xfrm xmlns:a="http://schemas.openxmlformats.org/drawingml/2006/main">
            <a:off x="6629400" y="1695450"/>
            <a:ext cx="4876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850" b="1">
                <a:solidFill>
                  <a:srgbClr val="141414"/>
                </a:solidFill>
                <a:latin typeface="Arial"/>
                <a:ea typeface="Arial"/>
                <a:cs typeface="Arial"/>
              </a:defRPr>
            </a:pPr>
            <a:r>
              <a:rPr sz="2850" b="1">
                <a:solidFill>
                  <a:srgbClr val="141414"/>
                </a:solidFill>
                <a:latin typeface="Arial"/>
                <a:ea typeface="Arial"/>
                <a:cs typeface="Arial"/>
              </a:rPr>
              <a:t>Operator evidence needed</a:t>
            </a:r>
          </a:p>
        </p:txBody>
      </p:sp>
      <p:sp>
        <p:nvSpPr>
          <p:cNvPr id="12" name="">
            <a:extLst xmlns:a="http://schemas.openxmlformats.org/drawingml/2006/main">
              <a:ext uri="{FF2B5EF4-FFF2-40B4-BE49-F238E27FC236}">
                <a16:creationId xmlns:a16="http://schemas.microsoft.com/office/drawing/2014/main" id="{C49194ED-4E86-45BF-BA5F-6E96C46BEE24}"/>
              </a:ext>
            </a:extLst>
          </p:cNvPr>
          <p:cNvSpPr>
            <a:spLocks xmlns:a="http://schemas.openxmlformats.org/drawingml/2006/main" noGrp="1"/>
          </p:cNvSpPr>
          <p:nvPr/>
        </p:nvSpPr>
        <p:spPr>
          <a:xfrm xmlns:a="http://schemas.openxmlformats.org/drawingml/2006/main">
            <a:off x="6629400" y="2695575"/>
            <a:ext cx="4876800"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325" b="0">
                <a:solidFill>
                  <a:srgbClr val="141414"/>
                </a:solidFill>
                <a:latin typeface="Arial"/>
                <a:ea typeface="Arial"/>
                <a:cs typeface="Arial"/>
              </a:defRPr>
            </a:pPr>
            <a:r>
              <a:rPr sz="2325" b="0">
                <a:solidFill>
                  <a:srgbClr val="141414"/>
                </a:solidFill>
                <a:latin typeface="Arial"/>
                <a:ea typeface="Arial"/>
                <a:cs typeface="Arial"/>
              </a:rPr>
              <a:t>Pressure and water quality</a:t>
            </a:r>
          </a:p>
          <a:p xmlns:a="http://schemas.openxmlformats.org/drawingml/2006/main">
            <a:pPr>
              <a:defRPr sz="2325" b="0">
                <a:solidFill>
                  <a:srgbClr val="141414"/>
                </a:solidFill>
                <a:latin typeface="Arial"/>
                <a:ea typeface="Arial"/>
                <a:cs typeface="Arial"/>
              </a:defRPr>
            </a:pPr>
            <a:r>
              <a:rPr sz="2325" b="0">
                <a:solidFill>
                  <a:srgbClr val="141414"/>
                </a:solidFill>
                <a:latin typeface="Arial"/>
                <a:ea typeface="Arial"/>
                <a:cs typeface="Arial"/>
              </a:rPr>
              <a:t>Flushing and maintenance</a:t>
            </a:r>
          </a:p>
          <a:p xmlns:a="http://schemas.openxmlformats.org/drawingml/2006/main">
            <a:pPr>
              <a:defRPr sz="2325" b="0">
                <a:solidFill>
                  <a:srgbClr val="141414"/>
                </a:solidFill>
                <a:latin typeface="Arial"/>
                <a:ea typeface="Arial"/>
                <a:cs typeface="Arial"/>
              </a:defRPr>
            </a:pPr>
            <a:r>
              <a:rPr sz="2325" b="0">
                <a:solidFill>
                  <a:srgbClr val="141414"/>
                </a:solidFill>
                <a:latin typeface="Arial"/>
                <a:ea typeface="Arial"/>
                <a:cs typeface="Arial"/>
              </a:rPr>
              <a:t>Ramps and operating states</a:t>
            </a:r>
          </a:p>
          <a:p xmlns:a="http://schemas.openxmlformats.org/drawingml/2006/main">
            <a:pPr>
              <a:defRPr sz="2325" b="0">
                <a:solidFill>
                  <a:srgbClr val="141414"/>
                </a:solidFill>
                <a:latin typeface="Arial"/>
                <a:ea typeface="Arial"/>
                <a:cs typeface="Arial"/>
              </a:defRPr>
            </a:pPr>
            <a:r>
              <a:rPr sz="2325" b="0">
                <a:solidFill>
                  <a:srgbClr val="141414"/>
                </a:solidFill>
                <a:latin typeface="Arial"/>
                <a:ea typeface="Arial"/>
                <a:cs typeface="Arial"/>
              </a:rPr>
              <a:t>Plant access to curtailed power</a:t>
            </a:r>
          </a:p>
        </p:txBody>
      </p:sp>
      <p:sp>
        <p:nvSpPr>
          <p:cNvPr id="13" name="">
            <a:extLst xmlns:a="http://schemas.openxmlformats.org/drawingml/2006/main">
              <a:ext uri="{FF2B5EF4-FFF2-40B4-BE49-F238E27FC236}">
                <a16:creationId xmlns:a16="http://schemas.microsoft.com/office/drawing/2014/main" id="{CE2FF9C4-4BAA-4206-8C5F-94B1C12866F8}"/>
              </a:ext>
            </a:extLst>
          </p:cNvPr>
          <p:cNvSpPr>
            <a:spLocks xmlns:a="http://schemas.openxmlformats.org/drawingml/2006/main" noGrp="1"/>
          </p:cNvSpPr>
          <p:nvPr/>
        </p:nvSpPr>
        <p:spPr>
          <a:xfrm xmlns:a="http://schemas.openxmlformats.org/drawingml/2006/main">
            <a:off x="647700" y="5934075"/>
            <a:ext cx="1057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0">
                <a:solidFill>
                  <a:srgbClr val="626262"/>
                </a:solidFill>
                <a:latin typeface="Arial"/>
                <a:ea typeface="Arial"/>
                <a:cs typeface="Arial"/>
              </a:defRPr>
            </a:pPr>
            <a:r>
              <a:rPr sz="1650" b="0">
                <a:solidFill>
                  <a:srgbClr val="626262"/>
                </a:solidFill>
                <a:latin typeface="Arial"/>
                <a:ea typeface="Arial"/>
                <a:cs typeface="Arial"/>
              </a:rPr>
              <a:t>Retrospective demand uses recorded target-day temperature. No plant control or measured savings.</a:t>
            </a:r>
          </a:p>
        </p:txBody>
      </p:sp>
    </p:spTree>
    <p:extLst>
      <p:ext uri="{BB962C8B-B14F-4D97-AF65-F5344CB8AC3E}">
        <p14:creationId xmlns:p14="http://schemas.microsoft.com/office/powerpoint/2010/main" val="1573116820"/>
      </p:ext>
    </p:extLst>
  </p:cSld>
</p:sld>
</file>

<file path=ppt/slides/slide11.xml><?xml version="1.0" encoding="utf-8"?>
<p:sld xmlns:p="http://schemas.openxmlformats.org/presentationml/2006/main">
  <p:cSld>
    <p:bg>
      <p:bgPr>
        <a:solidFill xmlns:a="http://schemas.openxmlformats.org/drawingml/2006/main">
          <a:srgbClr val="FAFAFA"/>
        </a:solidFill>
      </p:bgPr>
    </p:bg>
    <p:spTree>
      <p:nvGrpSpPr>
        <p:cNvPr id="1" name=""/>
        <p:cNvGrpSpPr/>
        <p:nvPr/>
      </p:nvGrpSpPr>
      <p:grpSpPr>
        <a:xfrm xmlns:a="http://schemas.openxmlformats.org/drawingml/2006/main"/>
      </p:grpSpPr>
      <p:sp>
        <p:nvSpPr>
          <p:cNvPr id="15" name="slide-title">
            <a:extLst xmlns:a="http://schemas.openxmlformats.org/drawingml/2006/main">
              <a:ext uri="{FF2B5EF4-FFF2-40B4-BE49-F238E27FC236}">
                <a16:creationId xmlns:a16="http://schemas.microsoft.com/office/drawing/2014/main" id="{0F7E1C26-BF3F-4168-A810-41CE44F23714}"/>
              </a:ext>
            </a:extLst>
          </p:cNvPr>
          <p:cNvSpPr>
            <a:spLocks xmlns:a="http://schemas.openxmlformats.org/drawingml/2006/main" noGrp="1"/>
          </p:cNvSpPr>
          <p:nvPr/>
        </p:nvSpPr>
        <p:spPr>
          <a:xfrm xmlns:a="http://schemas.openxmlformats.org/drawingml/2006/main">
            <a:off x="609600" y="40005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buNone/>
              <a:defRPr sz="3600" b="1">
                <a:solidFill>
                  <a:srgbClr val="101010"/>
                </a:solidFill>
                <a:latin typeface="Arial"/>
                <a:ea typeface="Arial"/>
                <a:cs typeface="Arial"/>
              </a:defRPr>
            </a:pPr>
            <a:r>
              <a:rPr sz="3600" b="1">
                <a:solidFill>
                  <a:srgbClr val="101010"/>
                </a:solidFill>
                <a:latin typeface="Arial"/>
                <a:ea typeface="Arial"/>
                <a:cs typeface="Arial"/>
              </a:rPr>
              <a:t>Next evidence</a:t>
            </a:r>
          </a:p>
        </p:txBody>
      </p:sp>
      <p:sp>
        <p:nvSpPr>
          <p:cNvPr id="2" name="slide-number">
            <a:extLst xmlns:a="http://schemas.openxmlformats.org/drawingml/2006/main">
              <a:ext uri="{FF2B5EF4-FFF2-40B4-BE49-F238E27FC236}">
                <a16:creationId xmlns:a16="http://schemas.microsoft.com/office/drawing/2014/main" id="{AB2CC127-99DE-4768-95FD-3AA35F8B3853}"/>
              </a:ext>
            </a:extLst>
          </p:cNvPr>
          <p:cNvSpPr>
            <a:spLocks xmlns:a="http://schemas.openxmlformats.org/drawingml/2006/main" noGrp="1"/>
          </p:cNvSpPr>
          <p:nvPr/>
        </p:nvSpPr>
        <p:spPr>
          <a:xfrm xmlns:a="http://schemas.openxmlformats.org/drawingml/2006/main">
            <a:off x="10668000" y="6381750"/>
            <a:ext cx="914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r">
              <a:buNone/>
              <a:defRPr sz="1350" b="0">
                <a:solidFill>
                  <a:srgbClr val="737373"/>
                </a:solidFill>
                <a:latin typeface="Arial"/>
                <a:ea typeface="Arial"/>
                <a:cs typeface="Arial"/>
              </a:defRPr>
            </a:pPr>
            <a:r>
              <a:rPr sz="1350" b="0">
                <a:solidFill>
                  <a:srgbClr val="737373"/>
                </a:solidFill>
                <a:latin typeface="Arial"/>
                <a:ea typeface="Arial"/>
                <a:cs typeface="Arial"/>
              </a:rPr>
              <a:t>11 / 12</a:t>
            </a:r>
          </a:p>
        </p:txBody>
      </p:sp>
      <p:sp>
        <p:nvSpPr>
          <p:cNvPr id="16" name="">
            <a:extLst xmlns:a="http://schemas.openxmlformats.org/drawingml/2006/main">
              <a:ext uri="{FF2B5EF4-FFF2-40B4-BE49-F238E27FC236}">
                <a16:creationId xmlns:a16="http://schemas.microsoft.com/office/drawing/2014/main" id="{DC491F4C-1831-4FB5-9649-A89782C1D054}"/>
              </a:ext>
            </a:extLst>
          </p:cNvPr>
          <p:cNvSpPr>
            <a:spLocks xmlns:a="http://schemas.openxmlformats.org/drawingml/2006/main" noGrp="1"/>
          </p:cNvSpPr>
          <p:nvPr/>
        </p:nvSpPr>
        <p:spPr>
          <a:xfrm xmlns:a="http://schemas.openxmlformats.org/drawingml/2006/main">
            <a:off x="647700" y="1714500"/>
            <a:ext cx="3476625"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150" b="1">
                <a:solidFill>
                  <a:srgbClr val="141414"/>
                </a:solidFill>
                <a:latin typeface="Arial"/>
                <a:ea typeface="Arial"/>
                <a:cs typeface="Arial"/>
              </a:defRPr>
            </a:pPr>
            <a:r>
              <a:rPr sz="3150" b="1">
                <a:solidFill>
                  <a:srgbClr val="141414"/>
                </a:solidFill>
                <a:latin typeface="Arial"/>
                <a:ea typeface="Arial"/>
                <a:cs typeface="Arial"/>
              </a:rPr>
              <a:t>Submission</a:t>
            </a:r>
          </a:p>
        </p:txBody>
      </p:sp>
      <p:sp>
        <p:nvSpPr>
          <p:cNvPr id="17" name="">
            <a:extLst xmlns:a="http://schemas.openxmlformats.org/drawingml/2006/main">
              <a:ext uri="{FF2B5EF4-FFF2-40B4-BE49-F238E27FC236}">
                <a16:creationId xmlns:a16="http://schemas.microsoft.com/office/drawing/2014/main" id="{5EFE20C9-65F6-4427-BE96-345107D9D7B7}"/>
              </a:ext>
            </a:extLst>
          </p:cNvPr>
          <p:cNvSpPr>
            <a:spLocks xmlns:a="http://schemas.openxmlformats.org/drawingml/2006/main" noGrp="1"/>
          </p:cNvSpPr>
          <p:nvPr/>
        </p:nvSpPr>
        <p:spPr>
          <a:xfrm xmlns:a="http://schemas.openxmlformats.org/drawingml/2006/main">
            <a:off x="647700" y="2714625"/>
            <a:ext cx="3286125" cy="2324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0">
                <a:solidFill>
                  <a:srgbClr val="141414"/>
                </a:solidFill>
                <a:latin typeface="Arial"/>
                <a:ea typeface="Arial"/>
                <a:cs typeface="Arial"/>
              </a:defRPr>
            </a:pPr>
            <a:r>
              <a:rPr sz="2250" b="0">
                <a:solidFill>
                  <a:srgbClr val="141414"/>
                </a:solidFill>
                <a:latin typeface="Arial"/>
                <a:ea typeface="Arial"/>
                <a:cs typeface="Arial"/>
              </a:rPr>
              <a:t>Confirm the intended</a:t>
            </a:r>
          </a:p>
          <a:p xmlns:a="http://schemas.openxmlformats.org/drawingml/2006/main">
            <a:pPr>
              <a:defRPr sz="2250" b="0">
                <a:solidFill>
                  <a:srgbClr val="141414"/>
                </a:solidFill>
                <a:latin typeface="Arial"/>
                <a:ea typeface="Arial"/>
                <a:cs typeface="Arial"/>
              </a:defRPr>
            </a:pPr>
            <a:r>
              <a:rPr sz="2250" b="0">
                <a:solidFill>
                  <a:srgbClr val="141414"/>
                </a:solidFill>
                <a:latin typeface="Arial"/>
                <a:ea typeface="Arial"/>
                <a:cs typeface="Arial"/>
              </a:rPr>
              <a:t>schedule version</a:t>
            </a:r>
          </a:p>
          <a:p xmlns:a="http://schemas.openxmlformats.org/drawingml/2006/main">
            <a:r>
              <a:t/>
            </a:r>
          </a:p>
          <a:p xmlns:a="http://schemas.openxmlformats.org/drawingml/2006/main">
            <a:pPr>
              <a:defRPr sz="2250" b="0">
                <a:solidFill>
                  <a:srgbClr val="141414"/>
                </a:solidFill>
                <a:latin typeface="Arial"/>
                <a:ea typeface="Arial"/>
                <a:cs typeface="Arial"/>
              </a:defRPr>
            </a:pPr>
            <a:r>
              <a:rPr sz="2250" b="0">
                <a:solidFill>
                  <a:srgbClr val="141414"/>
                </a:solidFill>
                <a:latin typeface="Arial"/>
                <a:ea typeface="Arial"/>
                <a:cs typeface="Arial"/>
              </a:rPr>
              <a:t>Rehearse the offline demo</a:t>
            </a:r>
          </a:p>
        </p:txBody>
      </p:sp>
      <p:sp>
        <p:nvSpPr>
          <p:cNvPr id="18" name="">
            <a:extLst xmlns:a="http://schemas.openxmlformats.org/drawingml/2006/main">
              <a:ext uri="{FF2B5EF4-FFF2-40B4-BE49-F238E27FC236}">
                <a16:creationId xmlns:a16="http://schemas.microsoft.com/office/drawing/2014/main" id="{5F1C8A6B-978C-44E8-AAFF-778AC576BC6B}"/>
              </a:ext>
            </a:extLst>
          </p:cNvPr>
          <p:cNvSpPr>
            <a:spLocks xmlns:a="http://schemas.openxmlformats.org/drawingml/2006/main" noGrp="1"/>
          </p:cNvSpPr>
          <p:nvPr/>
        </p:nvSpPr>
        <p:spPr>
          <a:xfrm xmlns:a="http://schemas.openxmlformats.org/drawingml/2006/main">
            <a:off x="4476750" y="1714500"/>
            <a:ext cx="3333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150" b="1">
                <a:solidFill>
                  <a:srgbClr val="141414"/>
                </a:solidFill>
                <a:latin typeface="Arial"/>
                <a:ea typeface="Arial"/>
                <a:cs typeface="Arial"/>
              </a:defRPr>
            </a:pPr>
            <a:r>
              <a:rPr sz="3150" b="1">
                <a:solidFill>
                  <a:srgbClr val="141414"/>
                </a:solidFill>
                <a:latin typeface="Arial"/>
                <a:ea typeface="Arial"/>
                <a:cs typeface="Arial"/>
              </a:rPr>
              <a:t>Model v2</a:t>
            </a:r>
          </a:p>
        </p:txBody>
      </p:sp>
      <p:sp>
        <p:nvSpPr>
          <p:cNvPr id="19" name="">
            <a:extLst xmlns:a="http://schemas.openxmlformats.org/drawingml/2006/main">
              <a:ext uri="{FF2B5EF4-FFF2-40B4-BE49-F238E27FC236}">
                <a16:creationId xmlns:a16="http://schemas.microsoft.com/office/drawing/2014/main" id="{16B386BC-C2E6-40D4-A878-ABC498020739}"/>
              </a:ext>
            </a:extLst>
          </p:cNvPr>
          <p:cNvSpPr>
            <a:spLocks xmlns:a="http://schemas.openxmlformats.org/drawingml/2006/main" noGrp="1"/>
          </p:cNvSpPr>
          <p:nvPr/>
        </p:nvSpPr>
        <p:spPr>
          <a:xfrm xmlns:a="http://schemas.openxmlformats.org/drawingml/2006/main">
            <a:off x="4476750" y="2714625"/>
            <a:ext cx="3333750" cy="2324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0">
                <a:solidFill>
                  <a:srgbClr val="141414"/>
                </a:solidFill>
                <a:latin typeface="Arial"/>
                <a:ea typeface="Arial"/>
                <a:cs typeface="Arial"/>
              </a:defRPr>
            </a:pPr>
            <a:r>
              <a:rPr sz="2250" b="0">
                <a:solidFill>
                  <a:srgbClr val="141414"/>
                </a:solidFill>
                <a:latin typeface="Arial"/>
                <a:ea typeface="Arial"/>
                <a:cs typeface="Arial"/>
              </a:rPr>
              <a:t>Controlled features</a:t>
            </a:r>
          </a:p>
          <a:p xmlns:a="http://schemas.openxmlformats.org/drawingml/2006/main">
            <a:pPr>
              <a:defRPr sz="2250" b="0">
                <a:solidFill>
                  <a:srgbClr val="141414"/>
                </a:solidFill>
                <a:latin typeface="Arial"/>
                <a:ea typeface="Arial"/>
                <a:cs typeface="Arial"/>
              </a:defRPr>
            </a:pPr>
            <a:r>
              <a:rPr sz="2250" b="0">
                <a:solidFill>
                  <a:srgbClr val="141414"/>
                </a:solidFill>
                <a:latin typeface="Arial"/>
                <a:ea typeface="Arial"/>
                <a:cs typeface="Arial"/>
              </a:rPr>
              <a:t>Fixed time boundaries</a:t>
            </a:r>
          </a:p>
          <a:p xmlns:a="http://schemas.openxmlformats.org/drawingml/2006/main">
            <a:r>
              <a:t/>
            </a:r>
          </a:p>
          <a:p xmlns:a="http://schemas.openxmlformats.org/drawingml/2006/main">
            <a:pPr>
              <a:defRPr sz="2250" b="0">
                <a:solidFill>
                  <a:srgbClr val="141414"/>
                </a:solidFill>
                <a:latin typeface="Arial"/>
                <a:ea typeface="Arial"/>
                <a:cs typeface="Arial"/>
              </a:defRPr>
            </a:pPr>
            <a:r>
              <a:rPr sz="2250" b="0">
                <a:solidFill>
                  <a:srgbClr val="141414"/>
                </a:solidFill>
                <a:latin typeface="Arial"/>
                <a:ea typeface="Arial"/>
                <a:cs typeface="Arial"/>
              </a:rPr>
              <a:t>Fresh held-out period</a:t>
            </a:r>
          </a:p>
        </p:txBody>
      </p:sp>
      <p:sp>
        <p:nvSpPr>
          <p:cNvPr id="20" name="">
            <a:extLst xmlns:a="http://schemas.openxmlformats.org/drawingml/2006/main">
              <a:ext uri="{FF2B5EF4-FFF2-40B4-BE49-F238E27FC236}">
                <a16:creationId xmlns:a16="http://schemas.microsoft.com/office/drawing/2014/main" id="{3482599B-A2E0-4F90-BE6B-3C04D7C06116}"/>
              </a:ext>
            </a:extLst>
          </p:cNvPr>
          <p:cNvSpPr>
            <a:spLocks xmlns:a="http://schemas.openxmlformats.org/drawingml/2006/main" noGrp="1"/>
          </p:cNvSpPr>
          <p:nvPr/>
        </p:nvSpPr>
        <p:spPr>
          <a:xfrm xmlns:a="http://schemas.openxmlformats.org/drawingml/2006/main">
            <a:off x="8315325" y="1714500"/>
            <a:ext cx="3286125"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150" b="1">
                <a:solidFill>
                  <a:srgbClr val="141414"/>
                </a:solidFill>
                <a:latin typeface="Arial"/>
                <a:ea typeface="Arial"/>
                <a:cs typeface="Arial"/>
              </a:defRPr>
            </a:pPr>
            <a:r>
              <a:rPr sz="3150" b="1">
                <a:solidFill>
                  <a:srgbClr val="141414"/>
                </a:solidFill>
                <a:latin typeface="Arial"/>
                <a:ea typeface="Arial"/>
                <a:cs typeface="Arial"/>
              </a:rPr>
              <a:t>Pilot</a:t>
            </a:r>
          </a:p>
        </p:txBody>
      </p:sp>
      <p:sp>
        <p:nvSpPr>
          <p:cNvPr id="21" name="">
            <a:extLst xmlns:a="http://schemas.openxmlformats.org/drawingml/2006/main">
              <a:ext uri="{FF2B5EF4-FFF2-40B4-BE49-F238E27FC236}">
                <a16:creationId xmlns:a16="http://schemas.microsoft.com/office/drawing/2014/main" id="{29062DA1-F4E1-4EE3-8EB4-C249FB5EFB3D}"/>
              </a:ext>
            </a:extLst>
          </p:cNvPr>
          <p:cNvSpPr>
            <a:spLocks xmlns:a="http://schemas.openxmlformats.org/drawingml/2006/main" noGrp="1"/>
          </p:cNvSpPr>
          <p:nvPr/>
        </p:nvSpPr>
        <p:spPr>
          <a:xfrm xmlns:a="http://schemas.openxmlformats.org/drawingml/2006/main">
            <a:off x="8315325" y="2714625"/>
            <a:ext cx="3190875" cy="2324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0">
                <a:solidFill>
                  <a:srgbClr val="141414"/>
                </a:solidFill>
                <a:latin typeface="Arial"/>
                <a:ea typeface="Arial"/>
                <a:cs typeface="Arial"/>
              </a:defRPr>
            </a:pPr>
            <a:r>
              <a:rPr sz="2250" b="0">
                <a:solidFill>
                  <a:srgbClr val="141414"/>
                </a:solidFill>
                <a:latin typeface="Arial"/>
                <a:ea typeface="Arial"/>
                <a:cs typeface="Arial"/>
              </a:rPr>
              <a:t>One operator</a:t>
            </a:r>
          </a:p>
          <a:p xmlns:a="http://schemas.openxmlformats.org/drawingml/2006/main">
            <a:pPr>
              <a:defRPr sz="2250" b="0">
                <a:solidFill>
                  <a:srgbClr val="141414"/>
                </a:solidFill>
                <a:latin typeface="Arial"/>
                <a:ea typeface="Arial"/>
                <a:cs typeface="Arial"/>
              </a:defRPr>
            </a:pPr>
            <a:r>
              <a:rPr sz="2250" b="0">
                <a:solidFill>
                  <a:srgbClr val="141414"/>
                </a:solidFill>
                <a:latin typeface="Arial"/>
                <a:ea typeface="Arial"/>
                <a:cs typeface="Arial"/>
              </a:rPr>
              <a:t>One data contact</a:t>
            </a:r>
          </a:p>
          <a:p xmlns:a="http://schemas.openxmlformats.org/drawingml/2006/main">
            <a:r>
              <a:t/>
            </a:r>
          </a:p>
          <a:p xmlns:a="http://schemas.openxmlformats.org/drawingml/2006/main">
            <a:pPr>
              <a:defRPr sz="2250" b="0">
                <a:solidFill>
                  <a:srgbClr val="141414"/>
                </a:solidFill>
                <a:latin typeface="Arial"/>
                <a:ea typeface="Arial"/>
                <a:cs typeface="Arial"/>
              </a:defRPr>
            </a:pPr>
            <a:r>
              <a:rPr sz="2250" b="0">
                <a:solidFill>
                  <a:srgbClr val="141414"/>
                </a:solidFill>
                <a:latin typeface="Arial"/>
                <a:ea typeface="Arial"/>
                <a:cs typeface="Arial"/>
              </a:rPr>
              <a:t>Agreed measurement plan</a:t>
            </a:r>
          </a:p>
        </p:txBody>
      </p:sp>
      <p:sp>
        <p:nvSpPr>
          <p:cNvPr id="22" name="">
            <a:extLst xmlns:a="http://schemas.openxmlformats.org/drawingml/2006/main">
              <a:ext uri="{FF2B5EF4-FFF2-40B4-BE49-F238E27FC236}">
                <a16:creationId xmlns:a16="http://schemas.microsoft.com/office/drawing/2014/main" id="{A78EFCB5-B8A2-4511-9C3A-82839C93F2F9}"/>
              </a:ext>
            </a:extLst>
          </p:cNvPr>
          <p:cNvSpPr>
            <a:spLocks xmlns:a="http://schemas.openxmlformats.org/drawingml/2006/main" noGrp="1"/>
          </p:cNvSpPr>
          <p:nvPr/>
        </p:nvSpPr>
        <p:spPr>
          <a:xfrm xmlns:a="http://schemas.openxmlformats.org/drawingml/2006/main">
            <a:off x="647700" y="5934075"/>
            <a:ext cx="1057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0">
                <a:solidFill>
                  <a:srgbClr val="626262"/>
                </a:solidFill>
                <a:latin typeface="Arial"/>
                <a:ea typeface="Arial"/>
                <a:cs typeface="Arial"/>
              </a:defRPr>
            </a:pPr>
            <a:r>
              <a:rPr sz="1650" b="0">
                <a:solidFill>
                  <a:srgbClr val="626262"/>
                </a:solidFill>
                <a:latin typeface="Arial"/>
                <a:ea typeface="Arial"/>
                <a:cs typeface="Arial"/>
              </a:rPr>
              <a:t>V2 is pending. Improvements and pilot benefits must be demonstrated.</a:t>
            </a:r>
          </a:p>
        </p:txBody>
      </p:sp>
    </p:spTree>
    <p:extLst>
      <p:ext uri="{BB962C8B-B14F-4D97-AF65-F5344CB8AC3E}">
        <p14:creationId xmlns:p14="http://schemas.microsoft.com/office/powerpoint/2010/main" val="1879343140"/>
      </p:ext>
    </p:extLst>
  </p:cSld>
</p:sld>
</file>

<file path=ppt/slides/slide12.xml><?xml version="1.0" encoding="utf-8"?>
<p:sld xmlns:p="http://schemas.openxmlformats.org/presentationml/2006/main">
  <p:cSld>
    <p:bg>
      <p:bgPr>
        <a:solidFill xmlns:a="http://schemas.openxmlformats.org/drawingml/2006/main">
          <a:srgbClr val="101010"/>
        </a:solidFill>
      </p:bgPr>
    </p:bg>
    <p:spTree>
      <p:nvGrpSpPr>
        <p:cNvPr id="1" name=""/>
        <p:cNvGrpSpPr/>
        <p:nvPr/>
      </p:nvGrpSpPr>
      <p:grpSpPr>
        <a:xfrm xmlns:a="http://schemas.openxmlformats.org/drawingml/2006/main"/>
      </p:grpSpPr>
      <p:sp>
        <p:nvSpPr>
          <p:cNvPr id="9" name="slide-title">
            <a:extLst xmlns:a="http://schemas.openxmlformats.org/drawingml/2006/main">
              <a:ext uri="{FF2B5EF4-FFF2-40B4-BE49-F238E27FC236}">
                <a16:creationId xmlns:a16="http://schemas.microsoft.com/office/drawing/2014/main" id="{646782E6-349F-4387-918F-C39E5972CAC0}"/>
              </a:ext>
            </a:extLst>
          </p:cNvPr>
          <p:cNvSpPr>
            <a:spLocks xmlns:a="http://schemas.openxmlformats.org/drawingml/2006/main" noGrp="1"/>
          </p:cNvSpPr>
          <p:nvPr/>
        </p:nvSpPr>
        <p:spPr>
          <a:xfrm xmlns:a="http://schemas.openxmlformats.org/drawingml/2006/main">
            <a:off x="609600" y="40005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buNone/>
              <a:defRPr sz="3600" b="1">
                <a:solidFill>
                  <a:srgbClr val="FFFFFF"/>
                </a:solidFill>
                <a:latin typeface="Arial"/>
                <a:ea typeface="Arial"/>
                <a:cs typeface="Arial"/>
              </a:defRPr>
            </a:pPr>
            <a:r>
              <a:rPr sz="3600" b="1">
                <a:solidFill>
                  <a:srgbClr val="FFFFFF"/>
                </a:solidFill>
                <a:latin typeface="Arial"/>
                <a:ea typeface="Arial"/>
                <a:cs typeface="Arial"/>
              </a:rPr>
              <a:t>The team and the ask</a:t>
            </a:r>
          </a:p>
        </p:txBody>
      </p:sp>
      <p:sp>
        <p:nvSpPr>
          <p:cNvPr id="2" name="slide-number">
            <a:extLst xmlns:a="http://schemas.openxmlformats.org/drawingml/2006/main">
              <a:ext uri="{FF2B5EF4-FFF2-40B4-BE49-F238E27FC236}">
                <a16:creationId xmlns:a16="http://schemas.microsoft.com/office/drawing/2014/main" id="{20C1FA76-924A-4E11-AC14-A10CE93D8351}"/>
              </a:ext>
            </a:extLst>
          </p:cNvPr>
          <p:cNvSpPr>
            <a:spLocks xmlns:a="http://schemas.openxmlformats.org/drawingml/2006/main" noGrp="1"/>
          </p:cNvSpPr>
          <p:nvPr/>
        </p:nvSpPr>
        <p:spPr>
          <a:xfrm xmlns:a="http://schemas.openxmlformats.org/drawingml/2006/main">
            <a:off x="10668000" y="6381750"/>
            <a:ext cx="914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r">
              <a:buNone/>
              <a:defRPr sz="1350" b="0">
                <a:solidFill>
                  <a:srgbClr val="DADADA"/>
                </a:solidFill>
                <a:latin typeface="Arial"/>
                <a:ea typeface="Arial"/>
                <a:cs typeface="Arial"/>
              </a:defRPr>
            </a:pPr>
            <a:r>
              <a:rPr sz="1350" b="0">
                <a:solidFill>
                  <a:srgbClr val="DADADA"/>
                </a:solidFill>
                <a:latin typeface="Arial"/>
                <a:ea typeface="Arial"/>
                <a:cs typeface="Arial"/>
              </a:rPr>
              <a:t>12 / 12</a:t>
            </a:r>
          </a:p>
        </p:txBody>
      </p:sp>
      <p:sp>
        <p:nvSpPr>
          <p:cNvPr id="10" name="">
            <a:extLst xmlns:a="http://schemas.openxmlformats.org/drawingml/2006/main">
              <a:ext uri="{FF2B5EF4-FFF2-40B4-BE49-F238E27FC236}">
                <a16:creationId xmlns:a16="http://schemas.microsoft.com/office/drawing/2014/main" id="{22E04BCA-5F40-4A92-88B6-65FAA5B35072}"/>
              </a:ext>
            </a:extLst>
          </p:cNvPr>
          <p:cNvSpPr>
            <a:spLocks xmlns:a="http://schemas.openxmlformats.org/drawingml/2006/main" noGrp="1"/>
          </p:cNvSpPr>
          <p:nvPr/>
        </p:nvSpPr>
        <p:spPr>
          <a:xfrm xmlns:a="http://schemas.openxmlformats.org/drawingml/2006/main">
            <a:off x="609600" y="1581150"/>
            <a:ext cx="10858500"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4950" b="1">
                <a:solidFill>
                  <a:srgbClr val="FFFFFF"/>
                </a:solidFill>
                <a:latin typeface="Arial"/>
                <a:ea typeface="Arial"/>
                <a:cs typeface="Arial"/>
              </a:defRPr>
            </a:pPr>
            <a:r>
              <a:rPr sz="4950" b="1">
                <a:solidFill>
                  <a:srgbClr val="FFFFFF"/>
                </a:solidFill>
                <a:latin typeface="Arial"/>
                <a:ea typeface="Arial"/>
                <a:cs typeface="Arial"/>
              </a:rPr>
              <a:t>A Paphos operator</a:t>
            </a:r>
          </a:p>
          <a:p xmlns:a="http://schemas.openxmlformats.org/drawingml/2006/main">
            <a:pPr>
              <a:defRPr sz="4950" b="1">
                <a:solidFill>
                  <a:srgbClr val="FFFFFF"/>
                </a:solidFill>
                <a:latin typeface="Arial"/>
                <a:ea typeface="Arial"/>
                <a:cs typeface="Arial"/>
              </a:defRPr>
            </a:pPr>
            <a:r>
              <a:rPr sz="4950" b="1">
                <a:solidFill>
                  <a:srgbClr val="FFFFFF"/>
                </a:solidFill>
                <a:latin typeface="Arial"/>
                <a:ea typeface="Arial"/>
                <a:cs typeface="Arial"/>
              </a:rPr>
              <a:t>and a data contact</a:t>
            </a:r>
          </a:p>
        </p:txBody>
      </p:sp>
      <p:sp>
        <p:nvSpPr>
          <p:cNvPr id="11" name="">
            <a:extLst xmlns:a="http://schemas.openxmlformats.org/drawingml/2006/main">
              <a:ext uri="{FF2B5EF4-FFF2-40B4-BE49-F238E27FC236}">
                <a16:creationId xmlns:a16="http://schemas.microsoft.com/office/drawing/2014/main" id="{0066DEBC-7F59-4A05-8B16-841827B6DBD2}"/>
              </a:ext>
            </a:extLst>
          </p:cNvPr>
          <p:cNvSpPr>
            <a:spLocks xmlns:a="http://schemas.openxmlformats.org/drawingml/2006/main" noGrp="1"/>
          </p:cNvSpPr>
          <p:nvPr/>
        </p:nvSpPr>
        <p:spPr>
          <a:xfrm xmlns:a="http://schemas.openxmlformats.org/drawingml/2006/main">
            <a:off x="647700" y="3943350"/>
            <a:ext cx="52387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0">
                <a:solidFill>
                  <a:srgbClr val="FFFFFF"/>
                </a:solidFill>
                <a:latin typeface="Arial"/>
                <a:ea typeface="Arial"/>
                <a:cs typeface="Arial"/>
              </a:defRPr>
            </a:pPr>
            <a:r>
              <a:rPr sz="2250" b="0">
                <a:solidFill>
                  <a:srgbClr val="FFFFFF"/>
                </a:solidFill>
                <a:latin typeface="Arial"/>
                <a:ea typeface="Arial"/>
                <a:cs typeface="Arial"/>
              </a:rPr>
              <a:t>Loukas Louka</a:t>
            </a:r>
          </a:p>
        </p:txBody>
      </p:sp>
      <p:sp>
        <p:nvSpPr>
          <p:cNvPr id="12" name="">
            <a:extLst xmlns:a="http://schemas.openxmlformats.org/drawingml/2006/main">
              <a:ext uri="{FF2B5EF4-FFF2-40B4-BE49-F238E27FC236}">
                <a16:creationId xmlns:a16="http://schemas.microsoft.com/office/drawing/2014/main" id="{1F1662BB-5A48-4AE4-869E-8EC5646187DF}"/>
              </a:ext>
            </a:extLst>
          </p:cNvPr>
          <p:cNvSpPr>
            <a:spLocks xmlns:a="http://schemas.openxmlformats.org/drawingml/2006/main" noGrp="1"/>
          </p:cNvSpPr>
          <p:nvPr/>
        </p:nvSpPr>
        <p:spPr>
          <a:xfrm xmlns:a="http://schemas.openxmlformats.org/drawingml/2006/main">
            <a:off x="647700" y="4838700"/>
            <a:ext cx="52387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0">
                <a:solidFill>
                  <a:srgbClr val="FFFFFF"/>
                </a:solidFill>
                <a:latin typeface="Arial"/>
                <a:ea typeface="Arial"/>
                <a:cs typeface="Arial"/>
              </a:defRPr>
            </a:pPr>
            <a:r>
              <a:rPr sz="2250" b="0">
                <a:solidFill>
                  <a:srgbClr val="FFFFFF"/>
                </a:solidFill>
                <a:latin typeface="Arial"/>
                <a:ea typeface="Arial"/>
                <a:cs typeface="Arial"/>
              </a:rPr>
              <a:t>Stefanos Bordea</a:t>
            </a:r>
          </a:p>
        </p:txBody>
      </p:sp>
      <p:sp>
        <p:nvSpPr>
          <p:cNvPr id="13" name="">
            <a:extLst xmlns:a="http://schemas.openxmlformats.org/drawingml/2006/main">
              <a:ext uri="{FF2B5EF4-FFF2-40B4-BE49-F238E27FC236}">
                <a16:creationId xmlns:a16="http://schemas.microsoft.com/office/drawing/2014/main" id="{228CAAC8-C30F-49D6-BAA0-253CEFE99B4D}"/>
              </a:ext>
            </a:extLst>
          </p:cNvPr>
          <p:cNvSpPr>
            <a:spLocks xmlns:a="http://schemas.openxmlformats.org/drawingml/2006/main" noGrp="1"/>
          </p:cNvSpPr>
          <p:nvPr/>
        </p:nvSpPr>
        <p:spPr>
          <a:xfrm xmlns:a="http://schemas.openxmlformats.org/drawingml/2006/main">
            <a:off x="6810375" y="3943350"/>
            <a:ext cx="47053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0">
                <a:solidFill>
                  <a:srgbClr val="FFFFFF"/>
                </a:solidFill>
                <a:latin typeface="Arial"/>
                <a:ea typeface="Arial"/>
                <a:cs typeface="Arial"/>
              </a:defRPr>
            </a:pPr>
            <a:r>
              <a:rPr sz="2250" b="0">
                <a:solidFill>
                  <a:srgbClr val="FFFFFF"/>
                </a:solidFill>
                <a:latin typeface="Arial"/>
                <a:ea typeface="Arial"/>
                <a:cs typeface="Arial"/>
              </a:rPr>
              <a:t>Andreas Nikolaides</a:t>
            </a:r>
          </a:p>
        </p:txBody>
      </p:sp>
      <p:sp>
        <p:nvSpPr>
          <p:cNvPr id="14" name="">
            <a:extLst xmlns:a="http://schemas.openxmlformats.org/drawingml/2006/main">
              <a:ext uri="{FF2B5EF4-FFF2-40B4-BE49-F238E27FC236}">
                <a16:creationId xmlns:a16="http://schemas.microsoft.com/office/drawing/2014/main" id="{20CD42EC-B0B8-463F-9315-7BC9A8A1F17A}"/>
              </a:ext>
            </a:extLst>
          </p:cNvPr>
          <p:cNvSpPr>
            <a:spLocks xmlns:a="http://schemas.openxmlformats.org/drawingml/2006/main" noGrp="1"/>
          </p:cNvSpPr>
          <p:nvPr/>
        </p:nvSpPr>
        <p:spPr>
          <a:xfrm xmlns:a="http://schemas.openxmlformats.org/drawingml/2006/main">
            <a:off x="6810375" y="4838700"/>
            <a:ext cx="47053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0">
                <a:solidFill>
                  <a:srgbClr val="FFFFFF"/>
                </a:solidFill>
                <a:latin typeface="Arial"/>
                <a:ea typeface="Arial"/>
                <a:cs typeface="Arial"/>
              </a:defRPr>
            </a:pPr>
            <a:r>
              <a:rPr sz="2250" b="0">
                <a:solidFill>
                  <a:srgbClr val="FFFFFF"/>
                </a:solidFill>
                <a:latin typeface="Arial"/>
                <a:ea typeface="Arial"/>
                <a:cs typeface="Arial"/>
              </a:rPr>
              <a:t>Cleopas Cleopa</a:t>
            </a:r>
          </a:p>
        </p:txBody>
      </p:sp>
      <p:sp>
        <p:nvSpPr>
          <p:cNvPr id="15" name="">
            <a:extLst xmlns:a="http://schemas.openxmlformats.org/drawingml/2006/main">
              <a:ext uri="{FF2B5EF4-FFF2-40B4-BE49-F238E27FC236}">
                <a16:creationId xmlns:a16="http://schemas.microsoft.com/office/drawing/2014/main" id="{D44E317B-8C0A-4868-958E-104DDD7D332D}"/>
              </a:ext>
            </a:extLst>
          </p:cNvPr>
          <p:cNvSpPr>
            <a:spLocks xmlns:a="http://schemas.openxmlformats.org/drawingml/2006/main" noGrp="1"/>
          </p:cNvSpPr>
          <p:nvPr/>
        </p:nvSpPr>
        <p:spPr>
          <a:xfrm xmlns:a="http://schemas.openxmlformats.org/drawingml/2006/main">
            <a:off x="647700" y="6257925"/>
            <a:ext cx="9620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0">
                <a:solidFill>
                  <a:srgbClr val="D8D8D8"/>
                </a:solidFill>
                <a:latin typeface="Arial"/>
                <a:ea typeface="Arial"/>
                <a:cs typeface="Arial"/>
              </a:defRPr>
            </a:pPr>
            <a:r>
              <a:rPr sz="1650" b="0">
                <a:solidFill>
                  <a:srgbClr val="D8D8D8"/>
                </a:solidFill>
                <a:latin typeface="Arial"/>
                <a:ea typeface="Arial"/>
                <a:cs typeface="Arial"/>
              </a:rPr>
              <a:t>aktina-pafos-2026.vercel.app</a:t>
            </a:r>
          </a:p>
        </p:txBody>
      </p:sp>
    </p:spTree>
    <p:extLst>
      <p:ext uri="{BB962C8B-B14F-4D97-AF65-F5344CB8AC3E}">
        <p14:creationId xmlns:p14="http://schemas.microsoft.com/office/powerpoint/2010/main" val="150485885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p:coreProperties xmlns:cp="http://schemas.openxmlformats.org/package/2006/metadata/core-properties" xmlns:dc="http://purl.org/dc/elements/1.1/" xmlns:dcterms="http://purl.org/dc/terms/" xmlns:xsi="http://www.w3.org/2001/XMLSchema-instance">
  <dc:creator>Loukas Louka</dc:creator>
  <cp:lastModifiedBy>Loukas Louka</cp:lastModifiedBy>
  <dc:title>Aktina | Pafos 2026</dc:title>
  <dcterms:created xsi:type="dcterms:W3CDTF">2026-10-04T08:45:36.3090000Z</dcterms:created>
  <dcterms:modified xsi:type="dcterms:W3CDTF">2026-10-04T08:45:36.3090000Z</dcterms:modified>
</cp:coreProperties>
</file>