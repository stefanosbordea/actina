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ab3fcab34b4169" /><Relationship Type="http://schemas.openxmlformats.org/officeDocument/2006/relationships/extended-properties" Target="/docProps/app.xml" Id="Rc1515a34a8c540b7" /><Relationship Type="http://schemas.openxmlformats.org/officeDocument/2006/relationships/officeDocument" Target="/ppt/presentation.xml" Id="Rb62b5d57faa9469d" /></Relationships>
</file>

<file path=ppt/presentation.xml><?xml version="1.0" encoding="utf-8"?>
<p:presentation xmlns:p="http://schemas.openxmlformats.org/presentationml/2006/main">
  <p:sldMasterIdLst>
    <p:sldMasterId xmlns:r="http://schemas.openxmlformats.org/officeDocument/2006/relationships" id="2147483648" r:id="Rdd8190bb43ff4ce8"/>
  </p:sldMasterIdLst>
  <p:notesMasterIdLst>
    <p:notesMasterId xmlns:r="http://schemas.openxmlformats.org/officeDocument/2006/relationships" r:id="R6c14cfd3511f4b78"/>
  </p:notesMasterIdLst>
  <p:sldIdLst>
    <p:sldId xmlns:r="http://schemas.openxmlformats.org/officeDocument/2006/relationships" id="256" r:id="Rdd32b86cb03b4a3c"/>
    <p:sldId xmlns:r="http://schemas.openxmlformats.org/officeDocument/2006/relationships" id="257" r:id="Rfad8e00a619b44c7"/>
    <p:sldId xmlns:r="http://schemas.openxmlformats.org/officeDocument/2006/relationships" id="258" r:id="R2fd088a54f7a4e53"/>
    <p:sldId xmlns:r="http://schemas.openxmlformats.org/officeDocument/2006/relationships" id="259" r:id="R79a1bc272f9349e9"/>
    <p:sldId xmlns:r="http://schemas.openxmlformats.org/officeDocument/2006/relationships" id="260" r:id="R09b26e99dc8d4c93"/>
    <p:sldId xmlns:r="http://schemas.openxmlformats.org/officeDocument/2006/relationships" id="261" r:id="Rf4d89237e1ea491e"/>
    <p:sldId xmlns:r="http://schemas.openxmlformats.org/officeDocument/2006/relationships" id="262" r:id="R953ab84bab5c404a"/>
    <p:sldId xmlns:r="http://schemas.openxmlformats.org/officeDocument/2006/relationships" id="263" r:id="R3fc7d60994a14251"/>
    <p:sldId xmlns:r="http://schemas.openxmlformats.org/officeDocument/2006/relationships" id="264" r:id="R1a72e22aa8724a00"/>
    <p:sldId xmlns:r="http://schemas.openxmlformats.org/officeDocument/2006/relationships" id="265" r:id="R64136b0054e44a0a"/>
    <p:sldId xmlns:r="http://schemas.openxmlformats.org/officeDocument/2006/relationships" id="266" r:id="R9ec9492cf5724788"/>
    <p:sldId xmlns:r="http://schemas.openxmlformats.org/officeDocument/2006/relationships" id="267" r:id="R4200c0cedd20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1e968d4a9b468e" /><Relationship Type="http://schemas.openxmlformats.org/officeDocument/2006/relationships/slideMaster" Target="/ppt/slideMasters/slideMaster1.xml" Id="Rdd8190bb43ff4ce8" /><Relationship Type="http://schemas.openxmlformats.org/officeDocument/2006/relationships/notesMaster" Target="/ppt/notesMasters/notesMaster1.xml" Id="R6c14cfd3511f4b78" /><Relationship Type="http://schemas.openxmlformats.org/officeDocument/2006/relationships/presProps" Target="/ppt/presProps.xml" Id="Rf3df6fc040654ee4" /><Relationship Type="http://schemas.openxmlformats.org/officeDocument/2006/relationships/tableStyles" Target="/ppt/tableStyles.xml" Id="Rc0466ddd1d454bc3" /><Relationship Type="http://schemas.openxmlformats.org/officeDocument/2006/relationships/slide" Target="/ppt/slides/slide1.xml" Id="Rdd32b86cb03b4a3c" /><Relationship Type="http://schemas.openxmlformats.org/officeDocument/2006/relationships/slide" Target="/ppt/slides/slide2.xml" Id="Rfad8e00a619b44c7" /><Relationship Type="http://schemas.openxmlformats.org/officeDocument/2006/relationships/slide" Target="/ppt/slides/slide3.xml" Id="R2fd088a54f7a4e53" /><Relationship Type="http://schemas.openxmlformats.org/officeDocument/2006/relationships/slide" Target="/ppt/slides/slide4.xml" Id="R79a1bc272f9349e9" /><Relationship Type="http://schemas.openxmlformats.org/officeDocument/2006/relationships/slide" Target="/ppt/slides/slide5.xml" Id="R09b26e99dc8d4c93" /><Relationship Type="http://schemas.openxmlformats.org/officeDocument/2006/relationships/slide" Target="/ppt/slides/slide6.xml" Id="Rf4d89237e1ea491e" /><Relationship Type="http://schemas.openxmlformats.org/officeDocument/2006/relationships/slide" Target="/ppt/slides/slide7.xml" Id="R953ab84bab5c404a" /><Relationship Type="http://schemas.openxmlformats.org/officeDocument/2006/relationships/slide" Target="/ppt/slides/slide8.xml" Id="R3fc7d60994a14251" /><Relationship Type="http://schemas.openxmlformats.org/officeDocument/2006/relationships/slide" Target="/ppt/slides/slide9.xml" Id="R1a72e22aa8724a00" /><Relationship Type="http://schemas.openxmlformats.org/officeDocument/2006/relationships/slide" Target="/ppt/slides/slide10.xml" Id="R64136b0054e44a0a" /><Relationship Type="http://schemas.openxmlformats.org/officeDocument/2006/relationships/slide" Target="/ppt/slides/slide11.xml" Id="R9ec9492cf5724788" /><Relationship Type="http://schemas.openxmlformats.org/officeDocument/2006/relationships/slide" Target="/ppt/slides/slide12.xml" Id="R4200c0cedd20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e4ae5a74a47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98075000b946ff" /><Relationship Type="http://schemas.openxmlformats.org/officeDocument/2006/relationships/notesMaster" Target="/ppt/notesMasters/notesMaster1.xml" Id="R5ae39cd1623b4d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523f4a3edc47f4" /><Relationship Type="http://schemas.openxmlformats.org/officeDocument/2006/relationships/notesMaster" Target="/ppt/notesMasters/notesMaster1.xml" Id="Ra0802beae5f54d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7fab4f61b941f1" /><Relationship Type="http://schemas.openxmlformats.org/officeDocument/2006/relationships/notesMaster" Target="/ppt/notesMasters/notesMaster1.xml" Id="Rdb4c086dbf7544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6f9cd313844fc5" /><Relationship Type="http://schemas.openxmlformats.org/officeDocument/2006/relationships/notesMaster" Target="/ppt/notesMasters/notesMaster1.xml" Id="R00e8eff99ddd46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8fec569b04da0" /><Relationship Type="http://schemas.openxmlformats.org/officeDocument/2006/relationships/notesMaster" Target="/ppt/notesMasters/notesMaster1.xml" Id="Rda8e62cd1ff748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0175b49e20476f" /><Relationship Type="http://schemas.openxmlformats.org/officeDocument/2006/relationships/notesMaster" Target="/ppt/notesMasters/notesMaster1.xml" Id="Rd64bc12bfcc04d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1d59712ded44fa" /><Relationship Type="http://schemas.openxmlformats.org/officeDocument/2006/relationships/notesMaster" Target="/ppt/notesMasters/notesMaster1.xml" Id="Rd2f556c29b8c44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6de0ee99ab4ab1" /><Relationship Type="http://schemas.openxmlformats.org/officeDocument/2006/relationships/notesMaster" Target="/ppt/notesMasters/notesMaster1.xml" Id="Rf149b79001624e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6e6cfe216442dc" /><Relationship Type="http://schemas.openxmlformats.org/officeDocument/2006/relationships/notesMaster" Target="/ppt/notesMasters/notesMaster1.xml" Id="Rddab97b223b949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7d6b9eeae14d55" /><Relationship Type="http://schemas.openxmlformats.org/officeDocument/2006/relationships/notesMaster" Target="/ppt/notesMasters/notesMaster1.xml" Id="R7a96d3ded16a47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c2a6c1ee124336" /><Relationship Type="http://schemas.openxmlformats.org/officeDocument/2006/relationships/notesMaster" Target="/ppt/notesMasters/notesMaster1.xml" Id="Ra65cb53e995342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27abf6dae549a1" /><Relationship Type="http://schemas.openxmlformats.org/officeDocument/2006/relationships/notesMaster" Target="/ppt/notesMasters/notesMaster1.xml" Id="R5d890f54d91c41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Aktina</a:t>
            </a:r>
          </a:p>
          <a:p xmlns:a="http://schemas.openxmlformats.org/drawingml/2006/main">
            <a:r>
              <a:t/>
            </a:r>
          </a:p>
          <a:p xmlns:a="http://schemas.openxmlformats.org/drawingml/2006/main">
            <a:r>
              <a:t>Aktina</a:t>
            </a:r>
          </a:p>
          <a:p xmlns:a="http://schemas.openxmlformats.org/drawingml/2006/main">
            <a:r>
              <a:t/>
            </a:r>
          </a:p>
          <a:p xmlns:a="http://schemas.openxmlformats.org/drawingml/2006/main">
            <a:r>
              <a:t>Aktina starts with a simple idea: use solar electricity that would otherwise be curtailed to make drinking water, then store the water for later. Our current demonstration shows the retained model and schedule output and the evidence behind it. Recovering curtailed solar still needs a suitable plant, storage and grid coordination.</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Why water storage matters</a:t>
            </a:r>
          </a:p>
          <a:p xmlns:a="http://schemas.openxmlformats.org/drawingml/2006/main">
            <a:r>
              <a:t/>
            </a:r>
          </a:p>
          <a:p xmlns:a="http://schemas.openxmlformats.org/drawingml/2006/main">
            <a:r>
              <a:t>Why storage matters</a:t>
            </a:r>
          </a:p>
          <a:p xmlns:a="http://schemas.openxmlformats.org/drawingml/2006/main">
            <a:r>
              <a:t/>
            </a:r>
          </a:p>
          <a:p xmlns:a="http://schemas.openxmlformats.org/drawingml/2006/main">
            <a:r>
              <a:t>Water demand and available solar do not arrive at the same time. A tank lets an operator move some water production between hours while keeping water available. We need to check both sides: whether the plan supplies water, and whether its electricity use actually helps the grid. Radiation is useful context, but a sunny hour is not proof of curtailed electricity available to a particular plant.</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Grid and Sites</a:t>
            </a:r>
          </a:p>
          <a:p xmlns:a="http://schemas.openxmlformats.org/drawingml/2006/main">
            <a:r>
              <a:t/>
            </a:r>
          </a:p>
          <a:p xmlns:a="http://schemas.openxmlformats.org/drawingml/2006/main">
            <a:r>
              <a:t>Grid and Sites</a:t>
            </a:r>
          </a:p>
          <a:p xmlns:a="http://schemas.openxmlformats.org/drawingml/2006/main">
            <a:r>
              <a:t/>
            </a:r>
          </a:p>
          <a:p xmlns:a="http://schemas.openxmlformats.org/drawingml/2006/main">
            <a:r>
              <a:t>The roadmap has two parts. Grid compares production for a desalination unit and its tank. Sites explores garden water budgets and unusual overnight meter readings. Today's supplied model and schedule cover Grid. Sites remains a separate prototype; its synthetic examples are not field results. Neither part controls equipment.</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The supplied demonstration</a:t>
            </a:r>
          </a:p>
          <a:p xmlns:a="http://schemas.openxmlformats.org/drawingml/2006/main">
            <a:r>
              <a:t/>
            </a:r>
          </a:p>
          <a:p xmlns:a="http://schemas.openxmlformats.org/drawingml/2006/main">
            <a:r>
              <a:t>What the demonstration loads</a:t>
            </a:r>
          </a:p>
          <a:p xmlns:a="http://schemas.openxmlformats.org/drawingml/2006/main">
            <a:r>
              <a:t/>
            </a:r>
          </a:p>
          <a:p xmlns:a="http://schemas.openxmlformats.org/drawingml/2006/main">
            <a:r>
              <a:t>The demo loads 7,104 supplied schedule rows, covering 296 complete days from 6 December 2025 to 28 September 2026. Each day shows radiation, production, tank level and illustrative cost. The data, scripts and fonts are local, so the presentation does not need an API or internet connection.</a:t>
            </a:r>
          </a:p>
          <a:p xmlns:a="http://schemas.openxmlformats.org/drawingml/2006/main">
            <a:r>
              <a:t/>
            </a:r>
          </a:p>
          <a:p xmlns:a="http://schemas.openxmlformats.org/drawingml/2006/main">
            <a:r>
              <a:t>We checked which forecast generated the supplied export. Its forecast column matches persistence in every row, and that version reproduces byte for byte. Stefanos's LightGBM forecast appears separately. The unchanged model-driven scheduler also runs, but produces a different schedule. We have kept both outputs; the intended submission version still needs confirmation.</a:t>
            </a:r>
          </a:p>
          <a:p xmlns:a="http://schemas.openxmlformats.org/drawingml/2006/main">
            <a:r>
              <a:t/>
            </a:r>
          </a:p>
          <a:p xmlns:a="http://schemas.openxmlformats.org/drawingml/2006/main">
            <a:r>
              <a:t>Source cue: `app/handoff/README.md` and `app/handoff/scheduler-reproduction/README.md`. Do not call the displayed schedule a demonstrated LightGBM saving.</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3 July 2026</a:t>
            </a:r>
          </a:p>
          <a:p xmlns:a="http://schemas.openxmlformats.org/drawingml/2006/main">
            <a:r>
              <a:t/>
            </a:r>
          </a:p>
          <a:p xmlns:a="http://schemas.openxmlformats.org/drawingml/2006/main">
            <a:r>
              <a:t>A matched day</a:t>
            </a:r>
          </a:p>
          <a:p xmlns:a="http://schemas.openxmlformats.org/drawingml/2006/main">
            <a:r>
              <a:t/>
            </a:r>
          </a:p>
          <a:p xmlns:a="http://schemas.openxmlformats.org/drawingml/2006/main">
            <a:r>
              <a:t>On 3 July, flat and supplied production both make 5,658 cubic metres of water and use 19,237.2 kilowatt-hours. The supplied tank starts and ends at 966 cubic metres. Under the illustrative prices, the supplied plan costs about 2,628 euros versus 2,995 euros for flat production: 12.23 percent less. The comparison moves electricity use between differently priced hours; it does not demonstrate lower energy use or recovered solar.</a:t>
            </a:r>
          </a:p>
          <a:p xmlns:a="http://schemas.openxmlformats.org/drawingml/2006/main">
            <a:r>
              <a:t/>
            </a:r>
          </a:p>
          <a:p xmlns:a="http://schemas.openxmlformats.org/drawingml/2006/main">
            <a:r>
              <a:t>This equal-stock result is specific to the day. The scheduler carries water between days and does not enforce equal daily ending stock. A cost comparison must retain production and stock change, especially at the separate validation/test resets.</a:t>
            </a:r>
          </a:p>
          <a:p xmlns:a="http://schemas.openxmlformats.org/drawingml/2006/main">
            <a:r>
              <a:t/>
            </a:r>
          </a:p>
          <a:p xmlns:a="http://schemas.openxmlformats.org/drawingml/2006/main">
            <a:r>
              <a:t>Source cue: original `eval/schedule_hourly.csv`, 3 July 2026. Discount is €101/MWh when actual radiation is strictly above 600 W/m²; otherwise €183/MWh. Specific electricity is 3.4 kWh/m³. These are assumptions, not bills or a market tariff.</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Inside the demonstration</a:t>
            </a:r>
          </a:p>
          <a:p xmlns:a="http://schemas.openxmlformats.org/drawingml/2006/main">
            <a:r>
              <a:t/>
            </a:r>
          </a:p>
          <a:p xmlns:a="http://schemas.openxmlformats.org/drawingml/2006/main">
            <a:r>
              <a:t>Demo and fallback</a:t>
            </a:r>
          </a:p>
          <a:p xmlns:a="http://schemas.openxmlformats.org/drawingml/2006/main">
            <a:r>
              <a:t/>
            </a:r>
          </a:p>
          <a:p xmlns:a="http://schemas.openxmlformats.org/drawingml/2006/main">
            <a:r>
              <a:t>We will show three days, then the full benchmark. July 3 shows midday production and the matched daily cost. December 10 has no high-radiation hours; the retained tank still stays at or above its declared minimum. March 16 shows a day when the original model predicts better than persistence. We then return to all test hours so that one good day does not become the headline result.</a:t>
            </a:r>
          </a:p>
          <a:p xmlns:a="http://schemas.openxmlformats.org/drawingml/2006/main">
            <a:r>
              <a:t/>
            </a:r>
          </a:p>
          <a:p xmlns:a="http://schemas.openxmlformats.org/drawingml/2006/main">
            <a:r>
              <a:t>Live cues:</a:t>
            </a:r>
          </a:p>
          <a:p xmlns:a="http://schemas.openxmlformats.org/drawingml/2006/main">
            <a:r>
              <a:t/>
            </a:r>
          </a:p>
          <a:p xmlns:a="http://schemas.openxmlformats.org/drawingml/2006/main">
            <a:r>
              <a:t>- Open Aktina locally. Choose **3 July 2026**; inspect sun, production, tank and cost.</a:t>
            </a:r>
          </a:p>
          <a:p xmlns:a="http://schemas.openxmlformats.org/drawingml/2006/main">
            <a:r>
              <a:t>- Choose **10 December 2025**; point to low radiation and the tank minimum.</a:t>
            </a:r>
          </a:p>
          <a:p xmlns:a="http://schemas.openxmlformats.org/drawingml/2006/main">
            <a:r>
              <a:t>- Choose **16 March 2026**; MAE is 48.48 W/m² for the original model versus 156.33 for persistence.</a:t>
            </a:r>
          </a:p>
          <a:p xmlns:a="http://schemas.openxmlformats.org/drawingml/2006/main">
            <a:r>
              <a:t>- Open **AktinaBench**; show the original test comparison, then select **Archived weather forecast** and **Weather + past errors**.</a:t>
            </a:r>
          </a:p>
          <a:p xmlns:a="http://schemas.openxmlformats.org/drawingml/2006/main">
            <a:r>
              <a:t/>
            </a:r>
          </a:p>
          <a:p xmlns:a="http://schemas.openxmlformats.org/drawingml/2006/main">
            <a:r>
              <a:t>Fallback: `Aktina-Backup-Final.mp4`, 44 seconds, no audio. It is a product screenshot walkthrough, not a live interaction recording. Do not play both sequences. Online address: https://aktina-pafos-2026.vercel.app/.</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Original forecast against persistence</a:t>
            </a:r>
          </a:p>
          <a:p xmlns:a="http://schemas.openxmlformats.org/drawingml/2006/main">
            <a:r>
              <a:t/>
            </a:r>
          </a:p>
          <a:p xmlns:a="http://schemas.openxmlformats.org/drawingml/2006/main">
            <a:r>
              <a:t>What the original model achieves</a:t>
            </a:r>
          </a:p>
          <a:p xmlns:a="http://schemas.openxmlformats.org/drawingml/2006/main">
            <a:r>
              <a:t/>
            </a:r>
          </a:p>
          <a:p xmlns:a="http://schemas.openxmlformats.org/drawingml/2006/main">
            <a:r>
              <a:t>We evaluated every retained prediction: 3,566 validation hours and 3,567 test hours. Validation MAE is 29.34 watts per square metre for LightGBM versus 32.47 for persistence. On the test period, that reverses: 14.27 versus 12.26. Test precision, recall and F1 also favour persistence. The model's test F1 is 0.9655; persistence reaches 0.9777.</a:t>
            </a:r>
          </a:p>
          <a:p xmlns:a="http://schemas.openxmlformats.org/drawingml/2006/main">
            <a:r>
              <a:t/>
            </a:r>
          </a:p>
          <a:p xmlns:a="http://schemas.openxmlformats.org/drawingml/2006/main">
            <a:r>
              <a:t>Validation informed early stopping, and the original validation and test files come from different model fits. The adjacent original splits also lack a 24-hour prediction-horizon purge. These limits stay in the benchmark. Radiation above 600 watts per square metre defines the label; it is not observed grid curtailment.</a:t>
            </a:r>
          </a:p>
          <a:p xmlns:a="http://schemas.openxmlformats.org/drawingml/2006/main">
            <a:r>
              <a:t/>
            </a:r>
          </a:p>
          <a:p xmlns:a="http://schemas.openxmlformats.org/drawingml/2006/main">
            <a:r>
              <a:t>Source cue: `app/handoff/ACTINABENCH.md`; full MAE, RMSE, precision, recall, F1, confusion counts and month/hour breakdowns are retained. Partial boundary days remain in full-period results.</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Archived weather inputs</a:t>
            </a:r>
          </a:p>
          <a:p xmlns:a="http://schemas.openxmlformats.org/drawingml/2006/main">
            <a:r>
              <a:t/>
            </a:r>
          </a:p>
          <a:p xmlns:a="http://schemas.openxmlformats.org/drawingml/2006/main">
            <a:r>
              <a:t>Research comparison</a:t>
            </a:r>
          </a:p>
          <a:p xmlns:a="http://schemas.openxmlformats.org/drawingml/2006/main">
            <a:r>
              <a:t/>
            </a:r>
          </a:p>
          <a:p xmlns:a="http://schemas.openxmlformats.org/drawingml/2006/main">
            <a:r>
              <a:t>The strongest completed progress comes from additional weather information. On the same 3,567 original test hours, the original model has MAE 14.27 W/m². The fixed archived day2 forecast has MAE 8.81, and raw residual analogues reduce it to 6.92. Precision, recall and F1 are 97.57%, 95.54%, 96.55% for the original model; 98.51%, 98.32%, 98.41% for the archived forecast; and 98.41%, 98.32%, 98.37% for the raw analogue. These are retrospective comparisons against the original model-derived reference.</a:t>
            </a:r>
          </a:p>
          <a:p xmlns:a="http://schemas.openxmlformats.org/drawingml/2006/main">
            <a:r>
              <a:t/>
            </a:r>
          </a:p>
          <a:p xmlns:a="http://schemas.openxmlformats.org/drawingml/2006/main">
            <a:r>
              <a:t>The analogue reuses 64 historical residuals to form hourly scenarios. Its lower MAE comes with one extra false alarm: 16 instead of the archived forecast's 15, with 17 misses for both. Validation retains the fixed archived forecast. On the harder 3,566-hour validation period its F1 is 90.08%, compared with 80.07% for the original model and 89.95% for raw analogues. No learned candidate is promoted. The original model remains intact.</a:t>
            </a:r>
          </a:p>
          <a:p xmlns:a="http://schemas.openxmlformats.org/drawingml/2006/main">
            <a:r>
              <a:t/>
            </a:r>
          </a:p>
          <a:p xmlns:a="http://schemas.openxmlformats.org/drawingml/2006/main">
            <a:r>
              <a:t>We also checked the same fixed forecasts against the SARAH3 satellite estimate. On 3,517 common test hours, with 50 missing reference hours retained as unscored, archived-forecast F1 is 96.59% and raw-analogue F1 is 96.54%. MAE is 19.33 versus 18.23 W/m², while false alarms rise from 42 to 43. The harder satellite validation gives the archived forecast F1 of 80.71% on 3,419 common hours. The reference changes the apparent accuracy, so the near-99% weather-reference scores cannot stand alone.</a:t>
            </a:r>
          </a:p>
          <a:p xmlns:a="http://schemas.openxmlformats.org/drawingml/2006/main">
            <a:r>
              <a:t/>
            </a:r>
          </a:p>
          <a:p xmlns:a="http://schemas.openxmlformats.org/drawingml/2006/main">
            <a:r>
              <a:t>These tests were already inspected during development. Historical forecast publication times are unverified, and satellite estimates are not local ground-sensor measurements. We have separately locked 48 future forecast hours for later satellite evaluation, with no outcomes scored yet. This is evidence to review with Stefanos, not a claim of live superiority, measured curtailment recovery or field savings.</a:t>
            </a:r>
          </a:p>
          <a:p xmlns:a="http://schemas.openxmlformats.org/drawingml/2006/main">
            <a:r>
              <a:t/>
            </a:r>
          </a:p>
          <a:p xmlns:a="http://schemas.openxmlformats.org/drawingml/2006/main">
            <a:r>
              <a:t>Source cue: `app/experiments/f1-004/result/comparison.csv` (fixed defaults, full test), `app/experiments/reference-sensitivity-001/result-amended/metrics.csv` (identical common-hour bases), and the frozen prospective capture. The fixed 600 W/m² event remains a radiation proxy. Analogue decisions use scenario probability strictly above 0.5. Keep original, archived-control and synthesis results distinct.</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Business hypotheses</a:t>
            </a:r>
          </a:p>
          <a:p xmlns:a="http://schemas.openxmlformats.org/drawingml/2006/main">
            <a:r>
              <a:t/>
            </a:r>
          </a:p>
          <a:p xmlns:a="http://schemas.openxmlformats.org/drawingml/2006/main">
            <a:r>
              <a:t>Business hypotheses</a:t>
            </a:r>
          </a:p>
          <a:p xmlns:a="http://schemas.openxmlformats.org/drawingml/2006/main">
            <a:r>
              <a:t/>
            </a:r>
          </a:p>
          <a:p xmlns:a="http://schemas.openxmlformats.org/drawingml/2006/main">
            <a:r>
              <a:t>The canvas separates potential Grid customers from Sites customers. Water operators would need integration and evidence that a plan fits their operations. Hotels or managed gardens would need usable meters and a measurable water-management problem. Setup fees, subscriptions and support are revenue hypotheses. We have not established pricing, willingness to pay, margins or customer agreements. Those assumptions need to be tested with prospective users.</a:t>
            </a:r>
          </a:p>
          <a:p xmlns:a="http://schemas.openxmlformats.org/drawingml/2006/main">
            <a:r>
              <a:t/>
            </a:r>
          </a:p>
          <a:p xmlns:a="http://schemas.openxmlformats.org/drawingml/2006/main">
            <a:r>
              <a:t>Presenter cue: show the updated one-page business model canvas; older PDF exports are excluded from the current review pack.</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What the model does not establish</a:t>
            </a:r>
          </a:p>
          <a:p xmlns:a="http://schemas.openxmlformats.org/drawingml/2006/main">
            <a:r>
              <a:t/>
            </a:r>
          </a:p>
          <a:p xmlns:a="http://schemas.openxmlformats.org/drawingml/2006/main">
            <a:r>
              <a:t>What remains outside the model</a:t>
            </a:r>
          </a:p>
          <a:p xmlns:a="http://schemas.openxmlformats.org/drawingml/2006/main">
            <a:r>
              <a:t/>
            </a:r>
          </a:p>
          <a:p xmlns:a="http://schemas.openxmlformats.org/drawingml/2006/main">
            <a:r>
              <a:t>The supplied scheduler uses illustrative production, demand, tank and electricity assumptions. Demand includes the target day's recorded temperature, so this is a retrospective scenario. Pressure, flushing, water quality, ramps and maintenance are not established by these charts. A real operator would need to supply those constraints and approve any trial. There is no plant control connection, and no measured electricity-bill saving or solar recovery is claimed.</a:t>
            </a:r>
          </a:p>
          <a:p xmlns:a="http://schemas.openxmlformats.org/drawingml/2006/main">
            <a:r>
              <a:t/>
            </a:r>
          </a:p>
          <a:p xmlns:a="http://schemas.openxmlformats.org/drawingml/2006/main">
            <a:r>
              <a:t>Source cue: original `model/scheduler.py`; production 100–400 m³/h, tank 4,000 m³, minimum 800 m³, start 2,000 m³ at each period. Keep hourly endpoints distinct from continuous physical safety.</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Next evidence</a:t>
            </a:r>
          </a:p>
          <a:p xmlns:a="http://schemas.openxmlformats.org/drawingml/2006/main">
            <a:r>
              <a:t/>
            </a:r>
          </a:p>
          <a:p xmlns:a="http://schemas.openxmlformats.org/drawingml/2006/main">
            <a:r>
              <a:t>Next evidence</a:t>
            </a:r>
          </a:p>
          <a:p xmlns:a="http://schemas.openxmlformats.org/drawingml/2006/main">
            <a:r>
              <a:t/>
            </a:r>
          </a:p>
          <a:p xmlns:a="http://schemas.openxmlformats.org/drawingml/2006/main">
            <a:r>
              <a:t>First, confirm which retained schedule should be submitted and rehearse the offline demo together. For the next model, controlled comparisons can test solar geometry, clear-sky normalisation and forecasts of tomorrow's cloud that were available today. Each addition needs a controlled comparison, fixed time boundaries and a fresh holdout. Difficult test hours must stay in the evaluation.</a:t>
            </a:r>
          </a:p>
          <a:p xmlns:a="http://schemas.openxmlformats.org/drawingml/2006/main">
            <a:r>
              <a:t/>
            </a:r>
          </a:p>
          <a:p xmlns:a="http://schemas.openxmlformats.org/drawingml/2006/main">
            <a:r>
              <a:t>For a pilot, we need an operator, a data contact and an agreed measurement plan. We would check plant constraints, demand, tariffs and available curtailment signals before considering an operational trial. The business case should follow measured results rather than assumed savings.</a:t>
            </a:r>
          </a:p>
          <a:p xmlns:a="http://schemas.openxmlformats.org/drawingml/2006/main">
            <a:r>
              <a:t/>
            </a:r>
          </a:p>
          <a:p xmlns:a="http://schemas.openxmlformats.org/drawingml/2006/main">
            <a:r>
              <a:t>Source cue: `app/handoff/MODEL-V2-FEEDBACK.md`. These are proposed v2 directions, not a completed v2 model or guaranteed gains. Two team rehearsals remain uncompleted.</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The team and the ask</a:t>
            </a:r>
          </a:p>
          <a:p xmlns:a="http://schemas.openxmlformats.org/drawingml/2006/main">
            <a:r>
              <a:t/>
            </a:r>
          </a:p>
          <a:p xmlns:a="http://schemas.openxmlformats.org/drawingml/2006/main">
            <a:r>
              <a:t>Team and ask</a:t>
            </a:r>
          </a:p>
          <a:p xmlns:a="http://schemas.openxmlformats.org/drawingml/2006/main">
            <a:r>
              <a:t/>
            </a:r>
          </a:p>
          <a:p xmlns:a="http://schemas.openxmlformats.org/drawingml/2006/main">
            <a:r>
              <a:t>Our team is Loukas Louka, Stefanos Bordea, Andreas Nikolaides and Cleopas Cleopa. We are asking for a Paphos operator and a data contact to help test the idea against real operating needs. The current evidence gives us a reviewable starting point, with its limits visible.</a:t>
            </a:r>
          </a:p>
          <a:p xmlns:a="http://schemas.openxmlformats.org/drawingml/2006/main">
            <a:r>
              <a:t/>
            </a:r>
          </a:p>
          <a:p xmlns:a="http://schemas.openxmlformats.org/drawingml/2006/main">
            <a:r>
              <a:t>Preparation checks: confirm the team contact, final slide alignment, required competition declarations and intended schedule before submission. Keep the original source credits and third-party licences. Keep the earlier reference experiment distinct from the original model.</a:t>
            </a:r>
          </a:p>
          <a:p xmlns:a="http://schemas.openxmlformats.org/drawingml/2006/main">
            <a:r>
              <a:t/>
            </a:r>
          </a:p>
          <a:p xmlns:a="http://schemas.openxmlformats.org/drawingml/2006/main">
            <a:r>
              <a:t/>
            </a:r>
          </a:p>
          <a:p xmlns:a="http://schemas.openxmlformats.org/drawingml/2006/main">
            <a:r>
              <a:t>Data and artifact provenance: delivery/Aktina-Deck-Source/inputs.sha256.json. Historical original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dcfa440ad43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543cb05ad04ec9" /><Relationship Type="http://schemas.openxmlformats.org/officeDocument/2006/relationships/slideLayout" Target="/ppt/slideLayouts/slideLayout1.xml" Id="R7801477d537245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01477d537245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263ae9cc7a4af1" /><Relationship Type="http://schemas.openxmlformats.org/officeDocument/2006/relationships/notesSlide" Target="/ppt/notesSlides/notesSlide1.xml" Id="R5f6d388bb4ce40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e42c583cfb4fbe" /><Relationship Type="http://schemas.openxmlformats.org/officeDocument/2006/relationships/notesSlide" Target="/ppt/notesSlides/notesSlide2.xml" Id="R7bd5b9b9b5c842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aea8f780024db2" /><Relationship Type="http://schemas.openxmlformats.org/officeDocument/2006/relationships/notesSlide" Target="/ppt/notesSlides/notesSlide3.xml" Id="R5724b03c05de46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2402b6378548c2" /><Relationship Type="http://schemas.openxmlformats.org/officeDocument/2006/relationships/notesSlide" Target="/ppt/notesSlides/notesSlide4.xml" Id="R49042037677d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fb8d3e2fc94585" /><Relationship Type="http://schemas.openxmlformats.org/officeDocument/2006/relationships/chart" Target="/ppt/slides/charts/chart1.xml" Id="R987c10b1c828440a" /><Relationship Type="http://schemas.openxmlformats.org/officeDocument/2006/relationships/chart" Target="/ppt/slides/charts/chart2.xml" Id="Rfdf8f35ef5404a48" /><Relationship Type="http://schemas.openxmlformats.org/officeDocument/2006/relationships/notesSlide" Target="/ppt/notesSlides/notesSlide5.xml" Id="R87e615c010a149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275596b82e4099" /><Relationship Type="http://schemas.openxmlformats.org/officeDocument/2006/relationships/image" Target="/ppt/media/image.jpeg" Id="R72b517264dda43ef" /><Relationship Type="http://schemas.openxmlformats.org/officeDocument/2006/relationships/notesSlide" Target="/ppt/notesSlides/notesSlide6.xml" Id="R373ccd3da76a4e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d367bcafbc46e3" /><Relationship Type="http://schemas.openxmlformats.org/officeDocument/2006/relationships/chart" Target="/ppt/slides/charts/chart3.xml" Id="Rfea1d8115c5749e7" /><Relationship Type="http://schemas.openxmlformats.org/officeDocument/2006/relationships/notesSlide" Target="/ppt/notesSlides/notesSlide7.xml" Id="R2d074866fec14e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92ac9424254474" /><Relationship Type="http://schemas.openxmlformats.org/officeDocument/2006/relationships/chart" Target="/ppt/slides/charts/chart4.xml" Id="R4f709f97844f4c63" /><Relationship Type="http://schemas.openxmlformats.org/officeDocument/2006/relationships/notesSlide" Target="/ppt/notesSlides/notesSlide8.xml" Id="Rbeca970e4aa645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f47c36e1ad497e" /><Relationship Type="http://schemas.openxmlformats.org/officeDocument/2006/relationships/notesSlide" Target="/ppt/notesSlides/notesSlide9.xml" Id="R25fe4fa3310e47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1b19ad075149ff" /><Relationship Type="http://schemas.openxmlformats.org/officeDocument/2006/relationships/notesSlide" Target="/ppt/notesSlides/notesSlide10.xml" Id="R1dbe2d3149984c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7857934819477d" /><Relationship Type="http://schemas.openxmlformats.org/officeDocument/2006/relationships/notesSlide" Target="/ppt/notesSlides/notesSlide11.xml" Id="Re89a95cd762246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b7f89e3fbf4c8f" /><Relationship Type="http://schemas.openxmlformats.org/officeDocument/2006/relationships/notesSlide" Target="/ppt/notesSlides/notesSlide12.xml" Id="Rb896d94ea91349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Flat</c:v>
          </c:tx>
          <c:spPr>
            <a:solidFill xmlns:a="http://schemas.openxmlformats.org/drawingml/2006/main">
              <a:srgbClr val="A0A0A0"/>
            </a:solidFill>
          </c:spPr>
          <c:cat>
            <c:numRef>
              <c:f>'Chart Data'!$A$2:$A$25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General</c:formatCode>
                <c:ptCount val="24"/>
                <c:pt idx="0">
                  <c:v>235.75</c:v>
                </c:pt>
                <c:pt idx="1">
                  <c:v>235.75</c:v>
                </c:pt>
                <c:pt idx="2">
                  <c:v>235.75</c:v>
                </c:pt>
                <c:pt idx="3">
                  <c:v>235.75</c:v>
                </c:pt>
                <c:pt idx="4">
                  <c:v>235.75</c:v>
                </c:pt>
                <c:pt idx="5">
                  <c:v>235.75</c:v>
                </c:pt>
                <c:pt idx="6">
                  <c:v>235.75</c:v>
                </c:pt>
                <c:pt idx="7">
                  <c:v>235.75</c:v>
                </c:pt>
                <c:pt idx="8">
                  <c:v>235.75</c:v>
                </c:pt>
                <c:pt idx="9">
                  <c:v>235.75</c:v>
                </c:pt>
                <c:pt idx="10">
                  <c:v>235.75</c:v>
                </c:pt>
                <c:pt idx="11">
                  <c:v>235.75</c:v>
                </c:pt>
                <c:pt idx="12">
                  <c:v>235.75</c:v>
                </c:pt>
                <c:pt idx="13">
                  <c:v>235.75</c:v>
                </c:pt>
                <c:pt idx="14">
                  <c:v>235.75</c:v>
                </c:pt>
                <c:pt idx="15">
                  <c:v>235.75</c:v>
                </c:pt>
                <c:pt idx="16">
                  <c:v>235.75</c:v>
                </c:pt>
                <c:pt idx="17">
                  <c:v>235.75</c:v>
                </c:pt>
                <c:pt idx="18">
                  <c:v>235.75</c:v>
                </c:pt>
                <c:pt idx="19">
                  <c:v>235.75</c:v>
                </c:pt>
                <c:pt idx="20">
                  <c:v>235.75</c:v>
                </c:pt>
                <c:pt idx="21">
                  <c:v>235.75</c:v>
                </c:pt>
                <c:pt idx="22">
                  <c:v>235.75</c:v>
                </c:pt>
                <c:pt idx="23">
                  <c:v>235.75</c:v>
                </c:pt>
              </c:numCache>
            </c:numRef>
          </c:val>
        </c:ser>
        <c:ser>
          <c:idx val="1"/>
          <c:order val="1"/>
          <c:tx>
            <c:v>Supplied</c:v>
          </c:tx>
          <c:spPr>
            <a:solidFill xmlns:a="http://schemas.openxmlformats.org/drawingml/2006/main">
              <a:srgbClr val="141414"/>
            </a:solidFill>
          </c:spPr>
          <c:cat>
            <c:numRef>
              <c:f>'Chart Data'!$C$2:$C$25</c:f>
              <c:numCache>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General</c:formatCode>
                <c:ptCount val="24"/>
                <c:pt idx="0">
                  <c:v>162</c:v>
                </c:pt>
                <c:pt idx="1">
                  <c:v>100</c:v>
                </c:pt>
                <c:pt idx="2">
                  <c:v>100</c:v>
                </c:pt>
                <c:pt idx="3">
                  <c:v>100</c:v>
                </c:pt>
                <c:pt idx="4">
                  <c:v>100</c:v>
                </c:pt>
                <c:pt idx="5">
                  <c:v>100</c:v>
                </c:pt>
                <c:pt idx="6">
                  <c:v>299</c:v>
                </c:pt>
                <c:pt idx="7">
                  <c:v>299</c:v>
                </c:pt>
                <c:pt idx="8">
                  <c:v>299</c:v>
                </c:pt>
                <c:pt idx="9">
                  <c:v>299</c:v>
                </c:pt>
                <c:pt idx="10">
                  <c:v>400</c:v>
                </c:pt>
                <c:pt idx="11">
                  <c:v>400</c:v>
                </c:pt>
                <c:pt idx="12">
                  <c:v>400</c:v>
                </c:pt>
                <c:pt idx="13">
                  <c:v>400</c:v>
                </c:pt>
                <c:pt idx="14">
                  <c:v>400</c:v>
                </c:pt>
                <c:pt idx="15">
                  <c:v>400</c:v>
                </c:pt>
                <c:pt idx="16">
                  <c:v>400</c:v>
                </c:pt>
                <c:pt idx="17">
                  <c:v>400</c:v>
                </c:pt>
                <c:pt idx="18">
                  <c:v>100</c:v>
                </c:pt>
                <c:pt idx="19">
                  <c:v>100</c:v>
                </c:pt>
                <c:pt idx="20">
                  <c:v>100</c:v>
                </c:pt>
                <c:pt idx="21">
                  <c:v>100</c:v>
                </c:pt>
                <c:pt idx="22">
                  <c:v>100</c:v>
                </c:pt>
                <c:pt idx="23">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8D8"/>
            </a:solidFill>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72768"/>
      </c:catAx>
      <c:valAx>
        <c:axId val="48672768"/>
        <c:scaling>
          <c:orientation val="minMax"/>
          <c:max val="400"/>
          <c:min val="0"/>
        </c:scaling>
        <c:delete val="0"/>
        <c:axPos val="l"/>
        <c:majorGridlines>
          <c:spPr>
            <a:ln xmlns:a="http://schemas.openxmlformats.org/drawingml/2006/main" w="9525">
              <a:solidFill>
                <a:srgbClr val="D8D8D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50112"/>
        <c:crossBetween val="between"/>
        <c:majorUnit val="20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4141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Tank</c:v>
          </c:tx>
          <c:spPr>
            <a:ln xmlns:a="http://schemas.openxmlformats.org/drawingml/2006/main" w="28575">
              <a:solidFill>
                <a:srgbClr val="141414"/>
              </a:solidFill>
            </a:ln>
          </c:spPr>
          <c:marker>
            <c:symbol val="none"/>
          </c:marker>
          <c:cat>
            <c:numRef>
              <c:f>'Chart Data'!$A$2:$A$26</c:f>
              <c:numCache>
                <c:formatCode>General</c:formatCode>
                <c:ptCount val="25"/>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'Chart Data'!$B$2:$B$26</c:f>
              <c:numCache>
                <c:formatCode>General</c:formatCode>
                <c:ptCount val="25"/>
                <c:pt idx="0">
                  <c:v>966</c:v>
                </c:pt>
                <c:pt idx="1">
                  <c:v>990</c:v>
                </c:pt>
                <c:pt idx="2">
                  <c:v>952</c:v>
                </c:pt>
                <c:pt idx="3">
                  <c:v>914</c:v>
                </c:pt>
                <c:pt idx="4">
                  <c:v>876</c:v>
                </c:pt>
                <c:pt idx="5">
                  <c:v>838</c:v>
                </c:pt>
                <c:pt idx="6">
                  <c:v>800</c:v>
                </c:pt>
                <c:pt idx="7">
                  <c:v>800</c:v>
                </c:pt>
                <c:pt idx="8">
                  <c:v>800</c:v>
                </c:pt>
                <c:pt idx="9">
                  <c:v>800</c:v>
                </c:pt>
                <c:pt idx="10">
                  <c:v>800</c:v>
                </c:pt>
                <c:pt idx="11">
                  <c:v>970</c:v>
                </c:pt>
                <c:pt idx="12">
                  <c:v>1140</c:v>
                </c:pt>
                <c:pt idx="13">
                  <c:v>1310</c:v>
                </c:pt>
                <c:pt idx="14">
                  <c:v>1480</c:v>
                </c:pt>
                <c:pt idx="15">
                  <c:v>1650</c:v>
                </c:pt>
                <c:pt idx="16">
                  <c:v>1820</c:v>
                </c:pt>
                <c:pt idx="17">
                  <c:v>1990</c:v>
                </c:pt>
                <c:pt idx="18">
                  <c:v>2160</c:v>
                </c:pt>
                <c:pt idx="19">
                  <c:v>1938</c:v>
                </c:pt>
                <c:pt idx="20">
                  <c:v>1716</c:v>
                </c:pt>
                <c:pt idx="21">
                  <c:v>1494</c:v>
                </c:pt>
                <c:pt idx="22">
                  <c:v>1272</c:v>
                </c:pt>
                <c:pt idx="23">
                  <c:v>1050</c:v>
                </c:pt>
                <c:pt idx="24">
                  <c:v>966</c:v>
                </c:pt>
              </c:numCache>
            </c:numRef>
          </c:val>
          <c:smooth val="0"/>
        </c:ser>
        <c:ser>
          <c:idx val="1"/>
          <c:order val="1"/>
          <c:tx>
            <c:v>Minimum</c:v>
          </c:tx>
          <c:spPr>
            <a:ln xmlns:a="http://schemas.openxmlformats.org/drawingml/2006/main" w="9525">
              <a:solidFill>
                <a:srgbClr val="999999"/>
              </a:solidFill>
            </a:ln>
          </c:spPr>
          <c:marker>
            <c:symbol val="none"/>
          </c:marker>
          <c:cat>
            <c:numRef>
              <c:f>'Chart Data'!$C$2:$C$26</c:f>
              <c:numCache>
                <c:formatCode>General</c:formatCode>
                <c:ptCount val="25"/>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'Chart Data'!$D$2:$D$26</c:f>
              <c:numCache>
                <c:formatCode>General</c:formatCode>
                <c:ptCount val="25"/>
                <c:pt idx="0">
                  <c:v>800</c:v>
                </c:pt>
                <c:pt idx="1">
                  <c:v>800</c:v>
                </c:pt>
                <c:pt idx="2">
                  <c:v>800</c:v>
                </c:pt>
                <c:pt idx="3">
                  <c:v>800</c:v>
                </c:pt>
                <c:pt idx="4">
                  <c:v>800</c:v>
                </c:pt>
                <c:pt idx="5">
                  <c:v>800</c:v>
                </c:pt>
                <c:pt idx="6">
                  <c:v>800</c:v>
                </c:pt>
                <c:pt idx="7">
                  <c:v>800</c:v>
                </c:pt>
                <c:pt idx="8">
                  <c:v>800</c:v>
                </c:pt>
                <c:pt idx="9">
                  <c:v>800</c:v>
                </c:pt>
                <c:pt idx="10">
                  <c:v>800</c:v>
                </c:pt>
                <c:pt idx="11">
                  <c:v>800</c:v>
                </c:pt>
                <c:pt idx="12">
                  <c:v>800</c:v>
                </c:pt>
                <c:pt idx="13">
                  <c:v>800</c:v>
                </c:pt>
                <c:pt idx="14">
                  <c:v>800</c:v>
                </c:pt>
                <c:pt idx="15">
                  <c:v>800</c:v>
                </c:pt>
                <c:pt idx="16">
                  <c:v>800</c:v>
                </c:pt>
                <c:pt idx="17">
                  <c:v>800</c:v>
                </c:pt>
                <c:pt idx="18">
                  <c:v>800</c:v>
                </c:pt>
                <c:pt idx="19">
                  <c:v>800</c:v>
                </c:pt>
                <c:pt idx="20">
                  <c:v>800</c:v>
                </c:pt>
                <c:pt idx="21">
                  <c:v>800</c:v>
                </c:pt>
                <c:pt idx="22">
                  <c:v>800</c:v>
                </c:pt>
                <c:pt idx="23">
                  <c:v>800</c:v>
                </c:pt>
                <c:pt idx="24">
                  <c:v>800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8D8D8"/>
            </a:solidFill>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72768"/>
      </c:catAx>
      <c:valAx>
        <c:axId val="48672768"/>
        <c:scaling>
          <c:orientation val="minMax"/>
          <c:max val="4000"/>
          <c:min val="0"/>
        </c:scaling>
        <c:delete val="0"/>
        <c:axPos val="l"/>
        <c:majorGridlines>
          <c:spPr>
            <a:ln xmlns:a="http://schemas.openxmlformats.org/drawingml/2006/main" w="9525">
              <a:solidFill>
                <a:srgbClr val="D8D8D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50112"/>
        <c:crossBetween val="between"/>
        <c:majorUnit val="20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LightGBM</c:v>
          </c:tx>
          <c:spPr>
            <a:solidFill xmlns:a="http://schemas.openxmlformats.org/drawingml/2006/main">
              <a:srgbClr val="141414"/>
            </a:solidFill>
          </c:spPr>
          <c:cat>
            <c:strRef>
              <c:f>'Chart Data'!$A$2:$A$3</c:f>
              <c:strCache>
                <c:ptCount val="2"/>
                <c:pt idx="0">
                  <c:v>Validation</c:v>
                </c:pt>
                <c:pt idx="1">
                  <c:v>Test</c:v>
                </c:pt>
              </c:strCache>
            </c:strRef>
          </c:cat>
          <c:val>
            <c:numRef>
              <c:f>'Chart Data'!$B$2:$B$3</c:f>
              <c:numCache>
                <c:formatCode>0.00</c:formatCode>
                <c:ptCount val="2"/>
                <c:pt idx="0">
                  <c:v>29.337469</c:v>
                </c:pt>
                <c:pt idx="1">
                  <c:v>14.265815</c:v>
                </c:pt>
              </c:numCache>
            </c:numRef>
          </c:val>
        </c:ser>
        <c:ser>
          <c:idx val="1"/>
          <c:order val="1"/>
          <c:tx>
            <c:v>Persistence</c:v>
          </c:tx>
          <c:spPr>
            <a:solidFill xmlns:a="http://schemas.openxmlformats.org/drawingml/2006/main">
              <a:srgbClr val="999999"/>
            </a:solidFill>
          </c:spPr>
          <c:cat>
            <c:strRef>
              <c:f>'Chart Data'!$C$2:$C$3</c:f>
              <c:strCache>
                <c:ptCount val="2"/>
                <c:pt idx="0">
                  <c:v>Validation</c:v>
                </c:pt>
                <c:pt idx="1">
                  <c:v>Test</c:v>
                </c:pt>
              </c:strCache>
            </c:strRef>
          </c:cat>
          <c:val>
            <c:numRef>
              <c:f>'Chart Data'!$D$2:$D$3</c:f>
              <c:numCache>
                <c:formatCode>0.00</c:formatCode>
                <c:ptCount val="2"/>
                <c:pt idx="0">
                  <c:v>32.469434</c:v>
                </c:pt>
                <c:pt idx="1">
                  <c:v>12.259322</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41414"/>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8D8"/>
            </a:solidFill>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8D8D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26262"/>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4141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c:v>
          </c:tx>
          <c:spPr>
            <a:solidFill xmlns:a="http://schemas.openxmlformats.org/drawingml/2006/main">
              <a:srgbClr val="BBBBBB"/>
            </a:solidFill>
          </c:spPr>
          <c:cat>
            <c:strRef>
              <c:f>'Chart Data'!$A$2:$A$2</c:f>
              <c:strCache>
                <c:ptCount val="1"/>
                <c:pt idx="0">
                  <c:v>MAE, W/m²</c:v>
                </c:pt>
              </c:strCache>
            </c:strRef>
          </c:cat>
          <c:val>
            <c:numRef>
              <c:f>'Chart Data'!$B$2:$B$2</c:f>
              <c:numCache>
                <c:formatCode>0.00</c:formatCode>
                <c:ptCount val="1"/>
                <c:pt idx="0">
                  <c:v>14.265815</c:v>
                </c:pt>
              </c:numCache>
            </c:numRef>
          </c:val>
        </c:ser>
        <c:ser>
          <c:idx val="1"/>
          <c:order val="1"/>
          <c:tx>
            <c:v>Day2 forecast</c:v>
          </c:tx>
          <c:spPr>
            <a:solidFill xmlns:a="http://schemas.openxmlformats.org/drawingml/2006/main">
              <a:srgbClr val="777777"/>
            </a:solidFill>
          </c:spPr>
          <c:cat>
            <c:strRef>
              <c:f>'Chart Data'!$C$2:$C$2</c:f>
              <c:strCache>
                <c:ptCount val="1"/>
                <c:pt idx="0">
                  <c:v>MAE, W/m²</c:v>
                </c:pt>
              </c:strCache>
            </c:strRef>
          </c:cat>
          <c:val>
            <c:numRef>
              <c:f>'Chart Data'!$D$2:$D$2</c:f>
              <c:numCache>
                <c:formatCode>0.00</c:formatCode>
                <c:ptCount val="1"/>
                <c:pt idx="0">
                  <c:v>8.805719</c:v>
                </c:pt>
              </c:numCache>
            </c:numRef>
          </c:val>
        </c:ser>
        <c:ser>
          <c:idx val="2"/>
          <c:order val="2"/>
          <c:tx>
            <c:v>Raw analogue</c:v>
          </c:tx>
          <c:spPr>
            <a:solidFill xmlns:a="http://schemas.openxmlformats.org/drawingml/2006/main">
              <a:srgbClr val="141414"/>
            </a:solidFill>
          </c:spPr>
          <c:cat>
            <c:strRef>
              <c:f>'Chart Data'!$E$2:$E$2</c:f>
              <c:strCache>
                <c:ptCount val="1"/>
                <c:pt idx="0">
                  <c:v>MAE, W/m²</c:v>
                </c:pt>
              </c:strCache>
            </c:strRef>
          </c:cat>
          <c:val>
            <c:numRef>
              <c:f>'Chart Data'!$F$2:$F$2</c:f>
              <c:numCache>
                <c:formatCode>0.00</c:formatCode>
                <c:ptCount val="1"/>
                <c:pt idx="0">
                  <c:v>6.921082</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41414"/>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8D8"/>
            </a:solidFill>
          </a:ln>
        </c:spPr>
        <c:txPr>
          <a:bodyPr xmlns:a="http://schemas.openxmlformats.org/drawingml/2006/main" anchorCtr="1"/>
          <a:lstStyle xmlns:a="http://schemas.openxmlformats.org/drawingml/2006/main"/>
          <a:p xmlns:a="http://schemas.openxmlformats.org/drawingml/2006/main">
            <a:pPr>
              <a:defRPr sz="1350">
                <a:solidFill>
                  <a:srgbClr val="626262"/>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9525">
              <a:solidFill>
                <a:srgbClr val="D8D8D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26262"/>
                </a:solidFill>
                <a:latin typeface="Arial"/>
                <a:ea typeface="Arial"/>
                <a:cs typeface="Arial"/>
              </a:defRPr>
            </a:pPr>
          </a:p>
        </c:txPr>
        <c:crossAx val="48650112"/>
        <c:crossBetween val="between"/>
        <c:majorUnit val="4"/>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141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79FCE4B9-895E-4808-B494-17B7145EF60A}"/>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DADADA"/>
                </a:solidFill>
                <a:latin typeface="Arial"/>
                <a:ea typeface="Arial"/>
                <a:cs typeface="Arial"/>
              </a:defRPr>
            </a:pPr>
            <a:r>
              <a:rPr sz="1350" b="0">
                <a:solidFill>
                  <a:srgbClr val="DADADA"/>
                </a:solidFill>
                <a:latin typeface="Arial"/>
                <a:ea typeface="Arial"/>
                <a:cs typeface="Arial"/>
              </a:rPr>
              <a:t>01 / 12</a:t>
            </a:r>
          </a:p>
        </p:txBody>
      </p:sp>
      <p:sp>
        <p:nvSpPr>
          <p:cNvPr id="8" name="">
            <a:extLst xmlns:a="http://schemas.openxmlformats.org/drawingml/2006/main">
              <a:ext uri="{FF2B5EF4-FFF2-40B4-BE49-F238E27FC236}">
                <a16:creationId xmlns:a16="http://schemas.microsoft.com/office/drawing/2014/main" id="{43BF777E-9F57-473C-A3C9-28F2F9753FCB}"/>
              </a:ext>
            </a:extLst>
          </p:cNvPr>
          <p:cNvSpPr>
            <a:spLocks xmlns:a="http://schemas.openxmlformats.org/drawingml/2006/main" noGrp="1"/>
          </p:cNvSpPr>
          <p:nvPr/>
        </p:nvSpPr>
        <p:spPr>
          <a:xfrm xmlns:a="http://schemas.openxmlformats.org/drawingml/2006/main">
            <a:off x="609600" y="64770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Aktina</a:t>
            </a:r>
          </a:p>
        </p:txBody>
      </p:sp>
      <p:sp>
        <p:nvSpPr>
          <p:cNvPr id="9" name="">
            <a:extLst xmlns:a="http://schemas.openxmlformats.org/drawingml/2006/main">
              <a:ext uri="{FF2B5EF4-FFF2-40B4-BE49-F238E27FC236}">
                <a16:creationId xmlns:a16="http://schemas.microsoft.com/office/drawing/2014/main" id="{1D1F34AE-6953-4E72-99EC-8759854E3569}"/>
              </a:ext>
            </a:extLst>
          </p:cNvPr>
          <p:cNvSpPr>
            <a:spLocks xmlns:a="http://schemas.openxmlformats.org/drawingml/2006/main" noGrp="1"/>
          </p:cNvSpPr>
          <p:nvPr/>
        </p:nvSpPr>
        <p:spPr>
          <a:xfrm xmlns:a="http://schemas.openxmlformats.org/drawingml/2006/main">
            <a:off x="609600" y="1733550"/>
            <a:ext cx="109537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Solar power.</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Water for later.</a:t>
            </a:r>
          </a:p>
        </p:txBody>
      </p:sp>
      <p:sp>
        <p:nvSpPr>
          <p:cNvPr id="10" name="">
            <a:extLst xmlns:a="http://schemas.openxmlformats.org/drawingml/2006/main">
              <a:ext uri="{FF2B5EF4-FFF2-40B4-BE49-F238E27FC236}">
                <a16:creationId xmlns:a16="http://schemas.microsoft.com/office/drawing/2014/main" id="{23B99550-EA0C-4EAB-A7A6-F014451DF4D4}"/>
              </a:ext>
            </a:extLst>
          </p:cNvPr>
          <p:cNvSpPr>
            <a:spLocks xmlns:a="http://schemas.openxmlformats.org/drawingml/2006/main" noGrp="1"/>
          </p:cNvSpPr>
          <p:nvPr/>
        </p:nvSpPr>
        <p:spPr>
          <a:xfrm xmlns:a="http://schemas.openxmlformats.org/drawingml/2006/main">
            <a:off x="647700" y="4286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D8D8D8"/>
                </a:solidFill>
                <a:latin typeface="Arial"/>
                <a:ea typeface="Arial"/>
                <a:cs typeface="Arial"/>
              </a:defRPr>
            </a:pPr>
            <a:r>
              <a:rPr sz="2700" b="0">
                <a:solidFill>
                  <a:srgbClr val="D8D8D8"/>
                </a:solidFill>
                <a:latin typeface="Arial"/>
                <a:ea typeface="Arial"/>
                <a:cs typeface="Arial"/>
              </a:rPr>
              <a:t>Desalination with otherwise curtailed solar</a:t>
            </a:r>
          </a:p>
        </p:txBody>
      </p:sp>
      <p:sp>
        <p:nvSpPr>
          <p:cNvPr id="11" name="">
            <a:extLst xmlns:a="http://schemas.openxmlformats.org/drawingml/2006/main">
              <a:ext uri="{FF2B5EF4-FFF2-40B4-BE49-F238E27FC236}">
                <a16:creationId xmlns:a16="http://schemas.microsoft.com/office/drawing/2014/main" id="{2538F9F1-AD11-479C-90A2-886FA940449E}"/>
              </a:ext>
            </a:extLst>
          </p:cNvPr>
          <p:cNvSpPr>
            <a:spLocks xmlns:a="http://schemas.openxmlformats.org/drawingml/2006/main" noGrp="1"/>
          </p:cNvSpPr>
          <p:nvPr/>
        </p:nvSpPr>
        <p:spPr>
          <a:xfrm xmlns:a="http://schemas.openxmlformats.org/drawingml/2006/main">
            <a:off x="647700" y="5886450"/>
            <a:ext cx="1009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D8D8D8"/>
                </a:solidFill>
                <a:latin typeface="Arial"/>
                <a:ea typeface="Arial"/>
                <a:cs typeface="Arial"/>
              </a:defRPr>
            </a:pPr>
            <a:r>
              <a:rPr sz="1650" b="0">
                <a:solidFill>
                  <a:srgbClr val="D8D8D8"/>
                </a:solidFill>
                <a:latin typeface="Arial"/>
                <a:ea typeface="Arial"/>
                <a:cs typeface="Arial"/>
              </a:rPr>
              <a:t>Pafos 2.0 University category, October 2026</a:t>
            </a:r>
          </a:p>
          <a:p xmlns:a="http://schemas.openxmlformats.org/drawingml/2006/main">
            <a:pPr>
              <a:defRPr sz="1650" b="0">
                <a:solidFill>
                  <a:srgbClr val="D8D8D8"/>
                </a:solidFill>
                <a:latin typeface="Arial"/>
                <a:ea typeface="Arial"/>
                <a:cs typeface="Arial"/>
              </a:defRPr>
            </a:pPr>
            <a:r>
              <a:rPr sz="1650" b="0">
                <a:solidFill>
                  <a:srgbClr val="D8D8D8"/>
                </a:solidFill>
                <a:latin typeface="Arial"/>
                <a:ea typeface="Arial"/>
                <a:cs typeface="Arial"/>
              </a:rPr>
              <a:t>Prototype. Actual curtailment recovery remains unproven.</a:t>
            </a:r>
          </a:p>
        </p:txBody>
      </p:sp>
    </p:spTree>
    <p:extLst>
      <p:ext uri="{BB962C8B-B14F-4D97-AF65-F5344CB8AC3E}">
        <p14:creationId xmlns:p14="http://schemas.microsoft.com/office/powerpoint/2010/main" val="305372981"/>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63FBA2E-32E4-46B7-AA17-AF81FBB9F34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Why water storage matters</a:t>
            </a:r>
          </a:p>
        </p:txBody>
      </p:sp>
      <p:sp>
        <p:nvSpPr>
          <p:cNvPr id="2" name="slide-number">
            <a:extLst xmlns:a="http://schemas.openxmlformats.org/drawingml/2006/main">
              <a:ext uri="{FF2B5EF4-FFF2-40B4-BE49-F238E27FC236}">
                <a16:creationId xmlns:a16="http://schemas.microsoft.com/office/drawing/2014/main" id="{EA054607-D5C9-4C28-BB17-5DE28308861F}"/>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02 / 12</a:t>
            </a:r>
          </a:p>
        </p:txBody>
      </p:sp>
      <p:sp>
        <p:nvSpPr>
          <p:cNvPr id="10" name="">
            <a:extLst xmlns:a="http://schemas.openxmlformats.org/drawingml/2006/main">
              <a:ext uri="{FF2B5EF4-FFF2-40B4-BE49-F238E27FC236}">
                <a16:creationId xmlns:a16="http://schemas.microsoft.com/office/drawing/2014/main" id="{E6A71317-8045-4007-B42D-EA8D37CD446B}"/>
              </a:ext>
            </a:extLst>
          </p:cNvPr>
          <p:cNvSpPr>
            <a:spLocks xmlns:a="http://schemas.openxmlformats.org/drawingml/2006/main" noGrp="1"/>
          </p:cNvSpPr>
          <p:nvPr/>
        </p:nvSpPr>
        <p:spPr>
          <a:xfrm xmlns:a="http://schemas.openxmlformats.org/drawingml/2006/main">
            <a:off x="647700" y="159067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41414"/>
                </a:solidFill>
                <a:latin typeface="Arial"/>
                <a:ea typeface="Arial"/>
                <a:cs typeface="Arial"/>
              </a:defRPr>
            </a:pPr>
            <a:r>
              <a:rPr sz="2850" b="1">
                <a:solidFill>
                  <a:srgbClr val="141414"/>
                </a:solidFill>
                <a:latin typeface="Arial"/>
                <a:ea typeface="Arial"/>
                <a:cs typeface="Arial"/>
              </a:rPr>
              <a:t>Production can move between hours</a:t>
            </a:r>
          </a:p>
        </p:txBody>
      </p:sp>
      <p:sp>
        <p:nvSpPr>
          <p:cNvPr id="11" name="">
            <a:extLst xmlns:a="http://schemas.openxmlformats.org/drawingml/2006/main">
              <a:ext uri="{FF2B5EF4-FFF2-40B4-BE49-F238E27FC236}">
                <a16:creationId xmlns:a16="http://schemas.microsoft.com/office/drawing/2014/main" id="{A95C85BE-97ED-4868-84AC-201A7B9A9495}"/>
              </a:ext>
            </a:extLst>
          </p:cNvPr>
          <p:cNvSpPr>
            <a:spLocks xmlns:a="http://schemas.openxmlformats.org/drawingml/2006/main" noGrp="1"/>
          </p:cNvSpPr>
          <p:nvPr/>
        </p:nvSpPr>
        <p:spPr>
          <a:xfrm xmlns:a="http://schemas.openxmlformats.org/drawingml/2006/main">
            <a:off x="647700" y="2838450"/>
            <a:ext cx="2333625" cy="1028700"/>
          </a:xfrm>
          <a:prstGeom xmlns:a="http://schemas.openxmlformats.org/drawingml/2006/main" prst="rect">
            <a:avLst/>
          </a:prstGeom>
          <a:noFill xmlns:a="http://schemas.openxmlformats.org/drawingml/2006/main"/>
          <a:ln xmlns:a="http://schemas.openxmlformats.org/drawingml/2006/main" w="14288">
            <a:solidFill>
              <a:srgbClr val="141414"/>
            </a:solidFill>
          </a:ln>
        </p:spPr>
      </p:sp>
      <p:sp>
        <p:nvSpPr>
          <p:cNvPr id="12" name="">
            <a:extLst xmlns:a="http://schemas.openxmlformats.org/drawingml/2006/main">
              <a:ext uri="{FF2B5EF4-FFF2-40B4-BE49-F238E27FC236}">
                <a16:creationId xmlns:a16="http://schemas.microsoft.com/office/drawing/2014/main" id="{606F46AD-3E93-4603-96A9-3FB1647FBDBC}"/>
              </a:ext>
            </a:extLst>
          </p:cNvPr>
          <p:cNvSpPr>
            <a:spLocks xmlns:a="http://schemas.openxmlformats.org/drawingml/2006/main" noGrp="1"/>
          </p:cNvSpPr>
          <p:nvPr/>
        </p:nvSpPr>
        <p:spPr>
          <a:xfrm xmlns:a="http://schemas.openxmlformats.org/drawingml/2006/main">
            <a:off x="781050" y="3152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1414"/>
                </a:solidFill>
                <a:latin typeface="Arial"/>
                <a:ea typeface="Arial"/>
                <a:cs typeface="Arial"/>
              </a:defRPr>
            </a:pPr>
            <a:r>
              <a:rPr sz="2025" b="1">
                <a:solidFill>
                  <a:srgbClr val="141414"/>
                </a:solidFill>
                <a:latin typeface="Arial"/>
                <a:ea typeface="Arial"/>
                <a:cs typeface="Arial"/>
              </a:rPr>
              <a:t>Solar power</a:t>
            </a:r>
          </a:p>
        </p:txBody>
      </p:sp>
      <p:sp>
        <p:nvSpPr>
          <p:cNvPr id="13" name="">
            <a:extLst xmlns:a="http://schemas.openxmlformats.org/drawingml/2006/main">
              <a:ext uri="{FF2B5EF4-FFF2-40B4-BE49-F238E27FC236}">
                <a16:creationId xmlns:a16="http://schemas.microsoft.com/office/drawing/2014/main" id="{D85EFC7F-3981-4DF7-B68C-B5C0BAD1B5DE}"/>
              </a:ext>
            </a:extLst>
          </p:cNvPr>
          <p:cNvSpPr>
            <a:spLocks xmlns:a="http://schemas.openxmlformats.org/drawingml/2006/main" noGrp="1"/>
          </p:cNvSpPr>
          <p:nvPr/>
        </p:nvSpPr>
        <p:spPr>
          <a:xfrm xmlns:a="http://schemas.openxmlformats.org/drawingml/2006/main">
            <a:off x="647700" y="41814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Available to the plant</a:t>
            </a:r>
          </a:p>
        </p:txBody>
      </p:sp>
      <p:sp>
        <p:nvSpPr>
          <p:cNvPr id="14" name="">
            <a:extLst xmlns:a="http://schemas.openxmlformats.org/drawingml/2006/main">
              <a:ext uri="{FF2B5EF4-FFF2-40B4-BE49-F238E27FC236}">
                <a16:creationId xmlns:a16="http://schemas.microsoft.com/office/drawing/2014/main" id="{82969C44-C8A5-43EA-B2A7-6A9B4F956E05}"/>
              </a:ext>
            </a:extLst>
          </p:cNvPr>
          <p:cNvSpPr>
            <a:spLocks xmlns:a="http://schemas.openxmlformats.org/drawingml/2006/main" noGrp="1"/>
          </p:cNvSpPr>
          <p:nvPr/>
        </p:nvSpPr>
        <p:spPr>
          <a:xfrm xmlns:a="http://schemas.openxmlformats.org/drawingml/2006/main">
            <a:off x="3409950" y="2838450"/>
            <a:ext cx="2333625" cy="1028700"/>
          </a:xfrm>
          <a:prstGeom xmlns:a="http://schemas.openxmlformats.org/drawingml/2006/main" prst="rect">
            <a:avLst/>
          </a:prstGeom>
          <a:noFill xmlns:a="http://schemas.openxmlformats.org/drawingml/2006/main"/>
          <a:ln xmlns:a="http://schemas.openxmlformats.org/drawingml/2006/main" w="14288">
            <a:solidFill>
              <a:srgbClr val="141414"/>
            </a:solidFill>
          </a:ln>
        </p:spPr>
      </p:sp>
      <p:sp>
        <p:nvSpPr>
          <p:cNvPr id="15" name="">
            <a:extLst xmlns:a="http://schemas.openxmlformats.org/drawingml/2006/main">
              <a:ext uri="{FF2B5EF4-FFF2-40B4-BE49-F238E27FC236}">
                <a16:creationId xmlns:a16="http://schemas.microsoft.com/office/drawing/2014/main" id="{035B2DC8-17AE-4FE5-B9DD-2FF02ABE94B0}"/>
              </a:ext>
            </a:extLst>
          </p:cNvPr>
          <p:cNvSpPr>
            <a:spLocks xmlns:a="http://schemas.openxmlformats.org/drawingml/2006/main" noGrp="1"/>
          </p:cNvSpPr>
          <p:nvPr/>
        </p:nvSpPr>
        <p:spPr>
          <a:xfrm xmlns:a="http://schemas.openxmlformats.org/drawingml/2006/main">
            <a:off x="3543300" y="3152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1414"/>
                </a:solidFill>
                <a:latin typeface="Arial"/>
                <a:ea typeface="Arial"/>
                <a:cs typeface="Arial"/>
              </a:defRPr>
            </a:pPr>
            <a:r>
              <a:rPr sz="2025" b="1">
                <a:solidFill>
                  <a:srgbClr val="141414"/>
                </a:solidFill>
                <a:latin typeface="Arial"/>
                <a:ea typeface="Arial"/>
                <a:cs typeface="Arial"/>
              </a:rPr>
              <a:t>Desalination</a:t>
            </a:r>
          </a:p>
        </p:txBody>
      </p:sp>
      <p:sp>
        <p:nvSpPr>
          <p:cNvPr id="16" name="">
            <a:extLst xmlns:a="http://schemas.openxmlformats.org/drawingml/2006/main">
              <a:ext uri="{FF2B5EF4-FFF2-40B4-BE49-F238E27FC236}">
                <a16:creationId xmlns:a16="http://schemas.microsoft.com/office/drawing/2014/main" id="{D4AC4927-77EC-43D6-8627-DEA7A20411AE}"/>
              </a:ext>
            </a:extLst>
          </p:cNvPr>
          <p:cNvSpPr>
            <a:spLocks xmlns:a="http://schemas.openxmlformats.org/drawingml/2006/main" noGrp="1"/>
          </p:cNvSpPr>
          <p:nvPr/>
        </p:nvSpPr>
        <p:spPr>
          <a:xfrm xmlns:a="http://schemas.openxmlformats.org/drawingml/2006/main">
            <a:off x="3409950" y="41814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Production within limits</a:t>
            </a:r>
          </a:p>
        </p:txBody>
      </p:sp>
      <p:sp>
        <p:nvSpPr>
          <p:cNvPr id="17" name="">
            <a:extLst xmlns:a="http://schemas.openxmlformats.org/drawingml/2006/main">
              <a:ext uri="{FF2B5EF4-FFF2-40B4-BE49-F238E27FC236}">
                <a16:creationId xmlns:a16="http://schemas.microsoft.com/office/drawing/2014/main" id="{27FA2032-D8C7-4AA8-8CB7-26D813B93388}"/>
              </a:ext>
            </a:extLst>
          </p:cNvPr>
          <p:cNvSpPr>
            <a:spLocks xmlns:a="http://schemas.openxmlformats.org/drawingml/2006/main" noGrp="1"/>
          </p:cNvSpPr>
          <p:nvPr/>
        </p:nvSpPr>
        <p:spPr>
          <a:xfrm xmlns:a="http://schemas.openxmlformats.org/drawingml/2006/main">
            <a:off x="6172200" y="2838450"/>
            <a:ext cx="2333625" cy="1028700"/>
          </a:xfrm>
          <a:prstGeom xmlns:a="http://schemas.openxmlformats.org/drawingml/2006/main" prst="rect">
            <a:avLst/>
          </a:prstGeom>
          <a:noFill xmlns:a="http://schemas.openxmlformats.org/drawingml/2006/main"/>
          <a:ln xmlns:a="http://schemas.openxmlformats.org/drawingml/2006/main" w="14288">
            <a:solidFill>
              <a:srgbClr val="141414"/>
            </a:solidFill>
          </a:ln>
        </p:spPr>
      </p:sp>
      <p:sp>
        <p:nvSpPr>
          <p:cNvPr id="18" name="">
            <a:extLst xmlns:a="http://schemas.openxmlformats.org/drawingml/2006/main">
              <a:ext uri="{FF2B5EF4-FFF2-40B4-BE49-F238E27FC236}">
                <a16:creationId xmlns:a16="http://schemas.microsoft.com/office/drawing/2014/main" id="{D26A9AE6-D6BA-4D73-B88F-579449665E40}"/>
              </a:ext>
            </a:extLst>
          </p:cNvPr>
          <p:cNvSpPr>
            <a:spLocks xmlns:a="http://schemas.openxmlformats.org/drawingml/2006/main" noGrp="1"/>
          </p:cNvSpPr>
          <p:nvPr/>
        </p:nvSpPr>
        <p:spPr>
          <a:xfrm xmlns:a="http://schemas.openxmlformats.org/drawingml/2006/main">
            <a:off x="6305550" y="3152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1414"/>
                </a:solidFill>
                <a:latin typeface="Arial"/>
                <a:ea typeface="Arial"/>
                <a:cs typeface="Arial"/>
              </a:defRPr>
            </a:pPr>
            <a:r>
              <a:rPr sz="2025" b="1">
                <a:solidFill>
                  <a:srgbClr val="141414"/>
                </a:solidFill>
                <a:latin typeface="Arial"/>
                <a:ea typeface="Arial"/>
                <a:cs typeface="Arial"/>
              </a:rPr>
              <a:t>Water storage</a:t>
            </a:r>
          </a:p>
        </p:txBody>
      </p:sp>
      <p:sp>
        <p:nvSpPr>
          <p:cNvPr id="19" name="">
            <a:extLst xmlns:a="http://schemas.openxmlformats.org/drawingml/2006/main">
              <a:ext uri="{FF2B5EF4-FFF2-40B4-BE49-F238E27FC236}">
                <a16:creationId xmlns:a16="http://schemas.microsoft.com/office/drawing/2014/main" id="{8F028823-1298-4A56-B230-7EAB6E6C7982}"/>
              </a:ext>
            </a:extLst>
          </p:cNvPr>
          <p:cNvSpPr>
            <a:spLocks xmlns:a="http://schemas.openxmlformats.org/drawingml/2006/main" noGrp="1"/>
          </p:cNvSpPr>
          <p:nvPr/>
        </p:nvSpPr>
        <p:spPr>
          <a:xfrm xmlns:a="http://schemas.openxmlformats.org/drawingml/2006/main">
            <a:off x="6172200" y="41814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Supply carried forward</a:t>
            </a:r>
          </a:p>
        </p:txBody>
      </p:sp>
      <p:sp>
        <p:nvSpPr>
          <p:cNvPr id="20" name="">
            <a:extLst xmlns:a="http://schemas.openxmlformats.org/drawingml/2006/main">
              <a:ext uri="{FF2B5EF4-FFF2-40B4-BE49-F238E27FC236}">
                <a16:creationId xmlns:a16="http://schemas.microsoft.com/office/drawing/2014/main" id="{3E76ED54-FA54-40F9-8CA3-261ED95C4C1A}"/>
              </a:ext>
            </a:extLst>
          </p:cNvPr>
          <p:cNvSpPr>
            <a:spLocks xmlns:a="http://schemas.openxmlformats.org/drawingml/2006/main" noGrp="1"/>
          </p:cNvSpPr>
          <p:nvPr/>
        </p:nvSpPr>
        <p:spPr>
          <a:xfrm xmlns:a="http://schemas.openxmlformats.org/drawingml/2006/main">
            <a:off x="8934450" y="2838450"/>
            <a:ext cx="2333625" cy="1028700"/>
          </a:xfrm>
          <a:prstGeom xmlns:a="http://schemas.openxmlformats.org/drawingml/2006/main" prst="rect">
            <a:avLst/>
          </a:prstGeom>
          <a:noFill xmlns:a="http://schemas.openxmlformats.org/drawingml/2006/main"/>
          <a:ln xmlns:a="http://schemas.openxmlformats.org/drawingml/2006/main" w="14288">
            <a:solidFill>
              <a:srgbClr val="141414"/>
            </a:solidFill>
          </a:ln>
        </p:spPr>
      </p:sp>
      <p:sp>
        <p:nvSpPr>
          <p:cNvPr id="21" name="">
            <a:extLst xmlns:a="http://schemas.openxmlformats.org/drawingml/2006/main">
              <a:ext uri="{FF2B5EF4-FFF2-40B4-BE49-F238E27FC236}">
                <a16:creationId xmlns:a16="http://schemas.microsoft.com/office/drawing/2014/main" id="{F0FC325E-6AFC-4736-8B08-71B8B43781B6}"/>
              </a:ext>
            </a:extLst>
          </p:cNvPr>
          <p:cNvSpPr>
            <a:spLocks xmlns:a="http://schemas.openxmlformats.org/drawingml/2006/main" noGrp="1"/>
          </p:cNvSpPr>
          <p:nvPr/>
        </p:nvSpPr>
        <p:spPr>
          <a:xfrm xmlns:a="http://schemas.openxmlformats.org/drawingml/2006/main">
            <a:off x="9067800" y="3152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1414"/>
                </a:solidFill>
                <a:latin typeface="Arial"/>
                <a:ea typeface="Arial"/>
                <a:cs typeface="Arial"/>
              </a:defRPr>
            </a:pPr>
            <a:r>
              <a:rPr sz="2025" b="1">
                <a:solidFill>
                  <a:srgbClr val="141414"/>
                </a:solidFill>
                <a:latin typeface="Arial"/>
                <a:ea typeface="Arial"/>
                <a:cs typeface="Arial"/>
              </a:rPr>
              <a:t>Water demand</a:t>
            </a:r>
          </a:p>
        </p:txBody>
      </p:sp>
      <p:sp>
        <p:nvSpPr>
          <p:cNvPr id="22" name="">
            <a:extLst xmlns:a="http://schemas.openxmlformats.org/drawingml/2006/main">
              <a:ext uri="{FF2B5EF4-FFF2-40B4-BE49-F238E27FC236}">
                <a16:creationId xmlns:a16="http://schemas.microsoft.com/office/drawing/2014/main" id="{D5FF924E-EE68-41EE-A673-C5AC1582C807}"/>
              </a:ext>
            </a:extLst>
          </p:cNvPr>
          <p:cNvSpPr>
            <a:spLocks xmlns:a="http://schemas.openxmlformats.org/drawingml/2006/main" noGrp="1"/>
          </p:cNvSpPr>
          <p:nvPr/>
        </p:nvSpPr>
        <p:spPr>
          <a:xfrm xmlns:a="http://schemas.openxmlformats.org/drawingml/2006/main">
            <a:off x="8934450" y="41814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Delivery when needed</a:t>
            </a:r>
          </a:p>
        </p:txBody>
      </p:sp>
      <p:cxnSp>
        <p:nvCxnSpPr>
          <p:cNvPr id="42" name=""/>
          <p:cNvCxnSpPr>
            <a:stCxn xmlns:a="http://schemas.openxmlformats.org/drawingml/2006/main" id="11" idx="3"/>
            <a:endCxn xmlns:a="http://schemas.openxmlformats.org/drawingml/2006/main" id="14" idx="1"/>
          </p:cNvCxnSpPr>
          <p:nvPr/>
        </p:nvCxnSpPr>
        <p:spPr>
          <a:xfrm xmlns:a="http://schemas.openxmlformats.org/drawingml/2006/main">
            <a:off x="2981325" y="3352800"/>
            <a:ext cx="428625" cy="0"/>
          </a:xfrm>
          <a:prstGeom xmlns:a="http://schemas.openxmlformats.org/drawingml/2006/main" prst="straightConnector1">
            <a:avLst/>
          </a:prstGeom>
          <a:ln xmlns:a="http://schemas.openxmlformats.org/drawingml/2006/main" w="19050">
            <a:solidFill>
              <a:srgbClr val="141414"/>
            </a:solidFill>
            <a:tailEnd type="arrow" w="med" len="med"/>
          </a:ln>
        </p:spPr>
      </p:cxnSp>
      <p:cxnSp>
        <p:nvCxnSpPr>
          <p:cNvPr id="43" name=""/>
          <p:cNvCxnSpPr>
            <a:stCxn xmlns:a="http://schemas.openxmlformats.org/drawingml/2006/main" id="14" idx="3"/>
            <a:endCxn xmlns:a="http://schemas.openxmlformats.org/drawingml/2006/main" id="17" idx="1"/>
          </p:cNvCxnSpPr>
          <p:nvPr/>
        </p:nvCxnSpPr>
        <p:spPr>
          <a:xfrm xmlns:a="http://schemas.openxmlformats.org/drawingml/2006/main">
            <a:off x="5743575" y="3352800"/>
            <a:ext cx="428625" cy="0"/>
          </a:xfrm>
          <a:prstGeom xmlns:a="http://schemas.openxmlformats.org/drawingml/2006/main" prst="straightConnector1">
            <a:avLst/>
          </a:prstGeom>
          <a:ln xmlns:a="http://schemas.openxmlformats.org/drawingml/2006/main" w="19050">
            <a:solidFill>
              <a:srgbClr val="141414"/>
            </a:solidFill>
            <a:tailEnd type="arrow" w="med" len="med"/>
          </a:ln>
        </p:spPr>
      </p:cxnSp>
      <p:cxnSp>
        <p:nvCxnSpPr>
          <p:cNvPr id="44" name=""/>
          <p:cNvCxnSpPr>
            <a:stCxn xmlns:a="http://schemas.openxmlformats.org/drawingml/2006/main" id="17" idx="3"/>
            <a:endCxn xmlns:a="http://schemas.openxmlformats.org/drawingml/2006/main" id="20" idx="1"/>
          </p:cNvCxnSpPr>
          <p:nvPr/>
        </p:nvCxnSpPr>
        <p:spPr>
          <a:xfrm xmlns:a="http://schemas.openxmlformats.org/drawingml/2006/main">
            <a:off x="8505825" y="3352800"/>
            <a:ext cx="428625" cy="0"/>
          </a:xfrm>
          <a:prstGeom xmlns:a="http://schemas.openxmlformats.org/drawingml/2006/main" prst="straightConnector1">
            <a:avLst/>
          </a:prstGeom>
          <a:ln xmlns:a="http://schemas.openxmlformats.org/drawingml/2006/main" w="19050">
            <a:solidFill>
              <a:srgbClr val="141414"/>
            </a:solidFill>
            <a:tailEnd type="arrow" w="med" len="med"/>
          </a:ln>
        </p:spPr>
      </p:cxnSp>
      <p:sp>
        <p:nvSpPr>
          <p:cNvPr id="26" name="">
            <a:extLst xmlns:a="http://schemas.openxmlformats.org/drawingml/2006/main">
              <a:ext uri="{FF2B5EF4-FFF2-40B4-BE49-F238E27FC236}">
                <a16:creationId xmlns:a16="http://schemas.microsoft.com/office/drawing/2014/main" id="{3687BE8D-AFAA-48BC-9A32-4146B8961D32}"/>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Grid coordination determines whether curtailed electricity can reach a plant.</a:t>
            </a:r>
          </a:p>
        </p:txBody>
      </p:sp>
    </p:spTree>
    <p:extLst>
      <p:ext uri="{BB962C8B-B14F-4D97-AF65-F5344CB8AC3E}">
        <p14:creationId xmlns:p14="http://schemas.microsoft.com/office/powerpoint/2010/main" val="460833844"/>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F4DD892-DD06-4960-8EA0-BF39FF47D4E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Grid and Sites</a:t>
            </a:r>
          </a:p>
        </p:txBody>
      </p:sp>
      <p:sp>
        <p:nvSpPr>
          <p:cNvPr id="2" name="slide-number">
            <a:extLst xmlns:a="http://schemas.openxmlformats.org/drawingml/2006/main">
              <a:ext uri="{FF2B5EF4-FFF2-40B4-BE49-F238E27FC236}">
                <a16:creationId xmlns:a16="http://schemas.microsoft.com/office/drawing/2014/main" id="{ADCAE1ED-0E13-40F6-A129-435D153F9EE4}"/>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03 / 12</a:t>
            </a:r>
          </a:p>
        </p:txBody>
      </p:sp>
      <p:sp>
        <p:nvSpPr>
          <p:cNvPr id="9" name="">
            <a:extLst xmlns:a="http://schemas.openxmlformats.org/drawingml/2006/main">
              <a:ext uri="{FF2B5EF4-FFF2-40B4-BE49-F238E27FC236}">
                <a16:creationId xmlns:a16="http://schemas.microsoft.com/office/drawing/2014/main" id="{009A7D96-C94B-47F9-BC68-3C5721AA5BD8}"/>
              </a:ext>
            </a:extLst>
          </p:cNvPr>
          <p:cNvSpPr>
            <a:spLocks xmlns:a="http://schemas.openxmlformats.org/drawingml/2006/main" noGrp="1"/>
          </p:cNvSpPr>
          <p:nvPr/>
        </p:nvSpPr>
        <p:spPr>
          <a:xfrm xmlns:a="http://schemas.openxmlformats.org/drawingml/2006/main">
            <a:off x="647700" y="17811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1414"/>
                </a:solidFill>
                <a:latin typeface="Arial"/>
                <a:ea typeface="Arial"/>
                <a:cs typeface="Arial"/>
              </a:defRPr>
            </a:pPr>
            <a:r>
              <a:rPr sz="3600" b="1">
                <a:solidFill>
                  <a:srgbClr val="141414"/>
                </a:solidFill>
                <a:latin typeface="Arial"/>
                <a:ea typeface="Arial"/>
                <a:cs typeface="Arial"/>
              </a:rPr>
              <a:t>Grid</a:t>
            </a:r>
          </a:p>
        </p:txBody>
      </p:sp>
      <p:sp>
        <p:nvSpPr>
          <p:cNvPr id="10" name="">
            <a:extLst xmlns:a="http://schemas.openxmlformats.org/drawingml/2006/main">
              <a:ext uri="{FF2B5EF4-FFF2-40B4-BE49-F238E27FC236}">
                <a16:creationId xmlns:a16="http://schemas.microsoft.com/office/drawing/2014/main" id="{AE990C9C-7940-47A8-8006-EEEEE553175B}"/>
              </a:ext>
            </a:extLst>
          </p:cNvPr>
          <p:cNvSpPr>
            <a:spLocks xmlns:a="http://schemas.openxmlformats.org/drawingml/2006/main" noGrp="1"/>
          </p:cNvSpPr>
          <p:nvPr/>
        </p:nvSpPr>
        <p:spPr>
          <a:xfrm xmlns:a="http://schemas.openxmlformats.org/drawingml/2006/main">
            <a:off x="647700" y="26955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Desalination and stored water</a:t>
            </a:r>
          </a:p>
        </p:txBody>
      </p:sp>
      <p:sp>
        <p:nvSpPr>
          <p:cNvPr id="11" name="">
            <a:extLst xmlns:a="http://schemas.openxmlformats.org/drawingml/2006/main">
              <a:ext uri="{FF2B5EF4-FFF2-40B4-BE49-F238E27FC236}">
                <a16:creationId xmlns:a16="http://schemas.microsoft.com/office/drawing/2014/main" id="{C28F98F5-3944-4330-BEE9-79AAE1CF7E2F}"/>
              </a:ext>
            </a:extLst>
          </p:cNvPr>
          <p:cNvSpPr>
            <a:spLocks xmlns:a="http://schemas.openxmlformats.org/drawingml/2006/main" noGrp="1"/>
          </p:cNvSpPr>
          <p:nvPr/>
        </p:nvSpPr>
        <p:spPr>
          <a:xfrm xmlns:a="http://schemas.openxmlformats.org/drawingml/2006/main">
            <a:off x="647700" y="40195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26262"/>
                </a:solidFill>
                <a:latin typeface="Arial"/>
                <a:ea typeface="Arial"/>
                <a:cs typeface="Arial"/>
              </a:defRPr>
            </a:pPr>
            <a:r>
              <a:rPr sz="2100" b="0">
                <a:solidFill>
                  <a:srgbClr val="626262"/>
                </a:solidFill>
                <a:latin typeface="Arial"/>
                <a:ea typeface="Arial"/>
                <a:cs typeface="Arial"/>
              </a:rPr>
              <a:t>Supplied model and schedule</a:t>
            </a:r>
          </a:p>
          <a:p xmlns:a="http://schemas.openxmlformats.org/drawingml/2006/main">
            <a:pPr>
              <a:defRPr sz="2100" b="0">
                <a:solidFill>
                  <a:srgbClr val="626262"/>
                </a:solidFill>
                <a:latin typeface="Arial"/>
                <a:ea typeface="Arial"/>
                <a:cs typeface="Arial"/>
              </a:defRPr>
            </a:pPr>
            <a:r>
              <a:rPr sz="2100" b="0">
                <a:solidFill>
                  <a:srgbClr val="626262"/>
                </a:solidFill>
                <a:latin typeface="Arial"/>
                <a:ea typeface="Arial"/>
                <a:cs typeface="Arial"/>
              </a:rPr>
              <a:t>Operator review</a:t>
            </a:r>
          </a:p>
        </p:txBody>
      </p:sp>
      <p:sp>
        <p:nvSpPr>
          <p:cNvPr id="12" name="">
            <a:extLst xmlns:a="http://schemas.openxmlformats.org/drawingml/2006/main">
              <a:ext uri="{FF2B5EF4-FFF2-40B4-BE49-F238E27FC236}">
                <a16:creationId xmlns:a16="http://schemas.microsoft.com/office/drawing/2014/main" id="{6C7729E3-F53A-435A-AF8A-D5A80C07CF9B}"/>
              </a:ext>
            </a:extLst>
          </p:cNvPr>
          <p:cNvSpPr>
            <a:spLocks xmlns:a="http://schemas.openxmlformats.org/drawingml/2006/main" noGrp="1"/>
          </p:cNvSpPr>
          <p:nvPr/>
        </p:nvSpPr>
        <p:spPr>
          <a:xfrm xmlns:a="http://schemas.openxmlformats.org/drawingml/2006/main">
            <a:off x="6477000" y="17811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1414"/>
                </a:solidFill>
                <a:latin typeface="Arial"/>
                <a:ea typeface="Arial"/>
                <a:cs typeface="Arial"/>
              </a:defRPr>
            </a:pPr>
            <a:r>
              <a:rPr sz="3600" b="1">
                <a:solidFill>
                  <a:srgbClr val="141414"/>
                </a:solidFill>
                <a:latin typeface="Arial"/>
                <a:ea typeface="Arial"/>
                <a:cs typeface="Arial"/>
              </a:rPr>
              <a:t>Sites</a:t>
            </a:r>
          </a:p>
        </p:txBody>
      </p:sp>
      <p:sp>
        <p:nvSpPr>
          <p:cNvPr id="13" name="">
            <a:extLst xmlns:a="http://schemas.openxmlformats.org/drawingml/2006/main">
              <a:ext uri="{FF2B5EF4-FFF2-40B4-BE49-F238E27FC236}">
                <a16:creationId xmlns:a16="http://schemas.microsoft.com/office/drawing/2014/main" id="{F828DF59-B05D-4A92-B6DC-1503CAD1BD50}"/>
              </a:ext>
            </a:extLst>
          </p:cNvPr>
          <p:cNvSpPr>
            <a:spLocks xmlns:a="http://schemas.openxmlformats.org/drawingml/2006/main" noGrp="1"/>
          </p:cNvSpPr>
          <p:nvPr/>
        </p:nvSpPr>
        <p:spPr>
          <a:xfrm xmlns:a="http://schemas.openxmlformats.org/drawingml/2006/main">
            <a:off x="6477000" y="26955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Irrigation and unusual night flow</a:t>
            </a:r>
          </a:p>
        </p:txBody>
      </p:sp>
      <p:sp>
        <p:nvSpPr>
          <p:cNvPr id="14" name="">
            <a:extLst xmlns:a="http://schemas.openxmlformats.org/drawingml/2006/main">
              <a:ext uri="{FF2B5EF4-FFF2-40B4-BE49-F238E27FC236}">
                <a16:creationId xmlns:a16="http://schemas.microsoft.com/office/drawing/2014/main" id="{1A5DE226-2768-4320-93BE-E6DD0BDA1F4E}"/>
              </a:ext>
            </a:extLst>
          </p:cNvPr>
          <p:cNvSpPr>
            <a:spLocks xmlns:a="http://schemas.openxmlformats.org/drawingml/2006/main" noGrp="1"/>
          </p:cNvSpPr>
          <p:nvPr/>
        </p:nvSpPr>
        <p:spPr>
          <a:xfrm xmlns:a="http://schemas.openxmlformats.org/drawingml/2006/main">
            <a:off x="6477000" y="40195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26262"/>
                </a:solidFill>
                <a:latin typeface="Arial"/>
                <a:ea typeface="Arial"/>
                <a:cs typeface="Arial"/>
              </a:defRPr>
            </a:pPr>
            <a:r>
              <a:rPr sz="2100" b="0">
                <a:solidFill>
                  <a:srgbClr val="626262"/>
                </a:solidFill>
                <a:latin typeface="Arial"/>
                <a:ea typeface="Arial"/>
                <a:cs typeface="Arial"/>
              </a:rPr>
              <a:t>Separate prototype</a:t>
            </a:r>
          </a:p>
          <a:p xmlns:a="http://schemas.openxmlformats.org/drawingml/2006/main">
            <a:pPr>
              <a:defRPr sz="2100" b="0">
                <a:solidFill>
                  <a:srgbClr val="626262"/>
                </a:solidFill>
                <a:latin typeface="Arial"/>
                <a:ea typeface="Arial"/>
                <a:cs typeface="Arial"/>
              </a:defRPr>
            </a:pPr>
            <a:r>
              <a:rPr sz="2100" b="0">
                <a:solidFill>
                  <a:srgbClr val="626262"/>
                </a:solidFill>
                <a:latin typeface="Arial"/>
                <a:ea typeface="Arial"/>
                <a:cs typeface="Arial"/>
              </a:rPr>
              <a:t>Synthetic meter examples</a:t>
            </a:r>
          </a:p>
        </p:txBody>
      </p:sp>
      <p:sp>
        <p:nvSpPr>
          <p:cNvPr id="15" name="">
            <a:extLst xmlns:a="http://schemas.openxmlformats.org/drawingml/2006/main">
              <a:ext uri="{FF2B5EF4-FFF2-40B4-BE49-F238E27FC236}">
                <a16:creationId xmlns:a16="http://schemas.microsoft.com/office/drawing/2014/main" id="{35B7C575-5395-4BAC-A6BE-217861D02856}"/>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Today’s supplied evidence covers Grid. Neither prototype controls equipment.</a:t>
            </a:r>
          </a:p>
        </p:txBody>
      </p:sp>
    </p:spTree>
    <p:extLst>
      <p:ext uri="{BB962C8B-B14F-4D97-AF65-F5344CB8AC3E}">
        <p14:creationId xmlns:p14="http://schemas.microsoft.com/office/powerpoint/2010/main" val="1712237533"/>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36F5EBA-9B14-4914-BEA5-62F44EBECCF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The supplied demonstration</a:t>
            </a:r>
          </a:p>
        </p:txBody>
      </p:sp>
      <p:sp>
        <p:nvSpPr>
          <p:cNvPr id="2" name="slide-number">
            <a:extLst xmlns:a="http://schemas.openxmlformats.org/drawingml/2006/main">
              <a:ext uri="{FF2B5EF4-FFF2-40B4-BE49-F238E27FC236}">
                <a16:creationId xmlns:a16="http://schemas.microsoft.com/office/drawing/2014/main" id="{252327A5-4DD5-4466-A9BA-A892957CFF8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04 / 12</a:t>
            </a:r>
          </a:p>
        </p:txBody>
      </p:sp>
      <p:sp>
        <p:nvSpPr>
          <p:cNvPr id="16" name="">
            <a:extLst xmlns:a="http://schemas.openxmlformats.org/drawingml/2006/main">
              <a:ext uri="{FF2B5EF4-FFF2-40B4-BE49-F238E27FC236}">
                <a16:creationId xmlns:a16="http://schemas.microsoft.com/office/drawing/2014/main" id="{B8BC6FAE-83E9-4AB9-9BD8-F14D784926E3}"/>
              </a:ext>
            </a:extLst>
          </p:cNvPr>
          <p:cNvSpPr>
            <a:spLocks xmlns:a="http://schemas.openxmlformats.org/drawingml/2006/main" noGrp="1"/>
          </p:cNvSpPr>
          <p:nvPr/>
        </p:nvSpPr>
        <p:spPr>
          <a:xfrm xmlns:a="http://schemas.openxmlformats.org/drawingml/2006/main">
            <a:off x="647700" y="1504950"/>
            <a:ext cx="5524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400" b="1">
                <a:solidFill>
                  <a:srgbClr val="141414"/>
                </a:solidFill>
                <a:latin typeface="Arial"/>
                <a:ea typeface="Arial"/>
                <a:cs typeface="Arial"/>
              </a:defRPr>
            </a:pPr>
            <a:r>
              <a:rPr sz="8400" b="1">
                <a:solidFill>
                  <a:srgbClr val="141414"/>
                </a:solidFill>
                <a:latin typeface="Arial"/>
                <a:ea typeface="Arial"/>
                <a:cs typeface="Arial"/>
              </a:rPr>
              <a:t>296</a:t>
            </a:r>
          </a:p>
        </p:txBody>
      </p:sp>
      <p:sp>
        <p:nvSpPr>
          <p:cNvPr id="17" name="">
            <a:extLst xmlns:a="http://schemas.openxmlformats.org/drawingml/2006/main">
              <a:ext uri="{FF2B5EF4-FFF2-40B4-BE49-F238E27FC236}">
                <a16:creationId xmlns:a16="http://schemas.microsoft.com/office/drawing/2014/main" id="{3AADFA6D-C693-4EA0-A02E-C4CE2BD3A107}"/>
              </a:ext>
            </a:extLst>
          </p:cNvPr>
          <p:cNvSpPr>
            <a:spLocks xmlns:a="http://schemas.openxmlformats.org/drawingml/2006/main" noGrp="1"/>
          </p:cNvSpPr>
          <p:nvPr/>
        </p:nvSpPr>
        <p:spPr>
          <a:xfrm xmlns:a="http://schemas.openxmlformats.org/drawingml/2006/main">
            <a:off x="704850" y="3019425"/>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41414"/>
                </a:solidFill>
                <a:latin typeface="Arial"/>
                <a:ea typeface="Arial"/>
                <a:cs typeface="Arial"/>
              </a:defRPr>
            </a:pPr>
            <a:r>
              <a:rPr sz="2700" b="0">
                <a:solidFill>
                  <a:srgbClr val="141414"/>
                </a:solidFill>
                <a:latin typeface="Arial"/>
                <a:ea typeface="Arial"/>
                <a:cs typeface="Arial"/>
              </a:rPr>
              <a:t>complete schedule days</a:t>
            </a:r>
          </a:p>
        </p:txBody>
      </p:sp>
      <p:sp>
        <p:nvSpPr>
          <p:cNvPr id="18" name="">
            <a:extLst xmlns:a="http://schemas.openxmlformats.org/drawingml/2006/main">
              <a:ext uri="{FF2B5EF4-FFF2-40B4-BE49-F238E27FC236}">
                <a16:creationId xmlns:a16="http://schemas.microsoft.com/office/drawing/2014/main" id="{4EAE18D1-017A-4CD4-8BA6-B3A61BD369B2}"/>
              </a:ext>
            </a:extLst>
          </p:cNvPr>
          <p:cNvSpPr>
            <a:spLocks xmlns:a="http://schemas.openxmlformats.org/drawingml/2006/main" noGrp="1"/>
          </p:cNvSpPr>
          <p:nvPr/>
        </p:nvSpPr>
        <p:spPr>
          <a:xfrm xmlns:a="http://schemas.openxmlformats.org/drawingml/2006/main">
            <a:off x="704850" y="3895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26262"/>
                </a:solidFill>
                <a:latin typeface="Arial"/>
                <a:ea typeface="Arial"/>
                <a:cs typeface="Arial"/>
              </a:defRPr>
            </a:pPr>
            <a:r>
              <a:rPr sz="2100" b="0">
                <a:solidFill>
                  <a:srgbClr val="626262"/>
                </a:solidFill>
                <a:latin typeface="Arial"/>
                <a:ea typeface="Arial"/>
                <a:cs typeface="Arial"/>
              </a:rPr>
              <a:t>6 December 2025 to 28 September 2026</a:t>
            </a:r>
          </a:p>
        </p:txBody>
      </p:sp>
      <p:sp>
        <p:nvSpPr>
          <p:cNvPr id="19" name="">
            <a:extLst xmlns:a="http://schemas.openxmlformats.org/drawingml/2006/main">
              <a:ext uri="{FF2B5EF4-FFF2-40B4-BE49-F238E27FC236}">
                <a16:creationId xmlns:a16="http://schemas.microsoft.com/office/drawing/2014/main" id="{9E4E1165-98BD-4562-968C-B3000B8A4843}"/>
              </a:ext>
            </a:extLst>
          </p:cNvPr>
          <p:cNvSpPr>
            <a:spLocks xmlns:a="http://schemas.openxmlformats.org/drawingml/2006/main" noGrp="1"/>
          </p:cNvSpPr>
          <p:nvPr/>
        </p:nvSpPr>
        <p:spPr>
          <a:xfrm xmlns:a="http://schemas.openxmlformats.org/drawingml/2006/main">
            <a:off x="7067550" y="1762125"/>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141414"/>
                </a:solidFill>
                <a:latin typeface="Arial"/>
                <a:ea typeface="Arial"/>
                <a:cs typeface="Arial"/>
              </a:defRPr>
            </a:pPr>
            <a:r>
              <a:rPr sz="3750" b="1">
                <a:solidFill>
                  <a:srgbClr val="141414"/>
                </a:solidFill>
                <a:latin typeface="Arial"/>
                <a:ea typeface="Arial"/>
                <a:cs typeface="Arial"/>
              </a:rPr>
              <a:t>7,104 rows</a:t>
            </a:r>
          </a:p>
        </p:txBody>
      </p:sp>
      <p:sp>
        <p:nvSpPr>
          <p:cNvPr id="20" name="">
            <a:extLst xmlns:a="http://schemas.openxmlformats.org/drawingml/2006/main">
              <a:ext uri="{FF2B5EF4-FFF2-40B4-BE49-F238E27FC236}">
                <a16:creationId xmlns:a16="http://schemas.microsoft.com/office/drawing/2014/main" id="{AAF46055-2B5F-4DF1-9219-181C383810CC}"/>
              </a:ext>
            </a:extLst>
          </p:cNvPr>
          <p:cNvSpPr>
            <a:spLocks xmlns:a="http://schemas.openxmlformats.org/drawingml/2006/main" noGrp="1"/>
          </p:cNvSpPr>
          <p:nvPr/>
        </p:nvSpPr>
        <p:spPr>
          <a:xfrm xmlns:a="http://schemas.openxmlformats.org/drawingml/2006/main">
            <a:off x="7105650" y="28194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Forecast column matches</a:t>
            </a:r>
          </a:p>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persistence in every row</a:t>
            </a:r>
          </a:p>
        </p:txBody>
      </p:sp>
      <p:sp>
        <p:nvSpPr>
          <p:cNvPr id="21" name="">
            <a:extLst xmlns:a="http://schemas.openxmlformats.org/drawingml/2006/main">
              <a:ext uri="{FF2B5EF4-FFF2-40B4-BE49-F238E27FC236}">
                <a16:creationId xmlns:a16="http://schemas.microsoft.com/office/drawing/2014/main" id="{61F3D9E3-5F73-451A-9C89-62CCA55D0836}"/>
              </a:ext>
            </a:extLst>
          </p:cNvPr>
          <p:cNvSpPr>
            <a:spLocks xmlns:a="http://schemas.openxmlformats.org/drawingml/2006/main" noGrp="1"/>
          </p:cNvSpPr>
          <p:nvPr/>
        </p:nvSpPr>
        <p:spPr>
          <a:xfrm xmlns:a="http://schemas.openxmlformats.org/drawingml/2006/main">
            <a:off x="7105650" y="4362450"/>
            <a:ext cx="4381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26262"/>
                </a:solidFill>
                <a:latin typeface="Arial"/>
                <a:ea typeface="Arial"/>
                <a:cs typeface="Arial"/>
              </a:defRPr>
            </a:pPr>
            <a:r>
              <a:rPr sz="2025" b="0">
                <a:solidFill>
                  <a:srgbClr val="626262"/>
                </a:solidFill>
                <a:latin typeface="Arial"/>
                <a:ea typeface="Arial"/>
                <a:cs typeface="Arial"/>
              </a:rPr>
              <a:t>Original LightGBM shown separately</a:t>
            </a:r>
          </a:p>
          <a:p xmlns:a="http://schemas.openxmlformats.org/drawingml/2006/main">
            <a:pPr>
              <a:defRPr sz="2025" b="0">
                <a:solidFill>
                  <a:srgbClr val="626262"/>
                </a:solidFill>
                <a:latin typeface="Arial"/>
                <a:ea typeface="Arial"/>
                <a:cs typeface="Arial"/>
              </a:defRPr>
            </a:pPr>
            <a:r>
              <a:rPr sz="2025" b="0">
                <a:solidFill>
                  <a:srgbClr val="626262"/>
                </a:solidFill>
                <a:latin typeface="Arial"/>
                <a:ea typeface="Arial"/>
                <a:cs typeface="Arial"/>
              </a:rPr>
              <a:t>Intended schedule version pending</a:t>
            </a:r>
          </a:p>
        </p:txBody>
      </p:sp>
      <p:sp>
        <p:nvSpPr>
          <p:cNvPr id="22" name="">
            <a:extLst xmlns:a="http://schemas.openxmlformats.org/drawingml/2006/main">
              <a:ext uri="{FF2B5EF4-FFF2-40B4-BE49-F238E27FC236}">
                <a16:creationId xmlns:a16="http://schemas.microsoft.com/office/drawing/2014/main" id="{5D1D3AB7-89B9-4F88-828A-3CE1607A506D}"/>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The demo runs offline with its retained data, scripts and fonts.</a:t>
            </a:r>
          </a:p>
        </p:txBody>
      </p:sp>
    </p:spTree>
    <p:extLst>
      <p:ext uri="{BB962C8B-B14F-4D97-AF65-F5344CB8AC3E}">
        <p14:creationId xmlns:p14="http://schemas.microsoft.com/office/powerpoint/2010/main" val="1881502233"/>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1C43A6-ED64-43C3-8D40-87D334F1B5F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3 July 2026</a:t>
            </a:r>
          </a:p>
        </p:txBody>
      </p:sp>
      <p:sp>
        <p:nvSpPr>
          <p:cNvPr id="2" name="slide-number">
            <a:extLst xmlns:a="http://schemas.openxmlformats.org/drawingml/2006/main">
              <a:ext uri="{FF2B5EF4-FFF2-40B4-BE49-F238E27FC236}">
                <a16:creationId xmlns:a16="http://schemas.microsoft.com/office/drawing/2014/main" id="{78E002B1-EE31-4594-91DD-76EFE0126198}"/>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05 / 12</a:t>
            </a:r>
          </a:p>
        </p:txBody>
      </p:sp>
      <p:sp>
        <p:nvSpPr>
          <p:cNvPr id="9" name="">
            <a:extLst xmlns:a="http://schemas.openxmlformats.org/drawingml/2006/main">
              <a:ext uri="{FF2B5EF4-FFF2-40B4-BE49-F238E27FC236}">
                <a16:creationId xmlns:a16="http://schemas.microsoft.com/office/drawing/2014/main" id="{A107B207-AAD2-454C-ABAE-137CEE2E8225}"/>
              </a:ext>
            </a:extLst>
          </p:cNvPr>
          <p:cNvSpPr>
            <a:spLocks xmlns:a="http://schemas.openxmlformats.org/drawingml/2006/main" noGrp="1"/>
          </p:cNvSpPr>
          <p:nvPr/>
        </p:nvSpPr>
        <p:spPr>
          <a:xfrm xmlns:a="http://schemas.openxmlformats.org/drawingml/2006/main">
            <a:off x="666750" y="12382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1414"/>
                </a:solidFill>
                <a:latin typeface="Arial"/>
                <a:ea typeface="Arial"/>
                <a:cs typeface="Arial"/>
              </a:defRPr>
            </a:pPr>
            <a:r>
              <a:rPr sz="1950" b="1">
                <a:solidFill>
                  <a:srgbClr val="141414"/>
                </a:solidFill>
                <a:latin typeface="Arial"/>
                <a:ea typeface="Arial"/>
                <a:cs typeface="Arial"/>
              </a:rPr>
              <a:t>Hourly production, m³</a:t>
            </a:r>
          </a:p>
        </p:txBody>
      </p:sp>
      <p:graphicFrame>
        <p:nvGraphicFramePr>
          <p:cNvPr id="21" name="Chart"/>
          <p:cNvGraphicFramePr/>
          <p:nvPr/>
        </p:nvGraphicFramePr>
        <p:xfrm>
          <a:off xmlns:a="http://schemas.openxmlformats.org/drawingml/2006/main" x="552450" y="1609725"/>
          <a:ext xmlns:a="http://schemas.openxmlformats.org/drawingml/2006/main" cx="7524750" cy="2190750"/>
        </p:xfrm>
        <a:graphic xmlns:a="http://schemas.openxmlformats.org/drawingml/2006/main">
          <a:graphicData uri="http://schemas.openxmlformats.org/drawingml/2006/chart">
            <c:chart xmlns:r="http://schemas.openxmlformats.org/officeDocument/2006/relationships" xmlns:c="http://schemas.openxmlformats.org/drawingml/2006/chart" r:id="R987c10b1c828440a"/>
          </a:graphicData>
        </a:graphic>
      </p:graphicFrame>
      <p:sp>
        <p:nvSpPr>
          <p:cNvPr id="11" name="">
            <a:extLst xmlns:a="http://schemas.openxmlformats.org/drawingml/2006/main">
              <a:ext uri="{FF2B5EF4-FFF2-40B4-BE49-F238E27FC236}">
                <a16:creationId xmlns:a16="http://schemas.microsoft.com/office/drawing/2014/main" id="{DCE79339-7193-4694-B075-B29B8D49509A}"/>
              </a:ext>
            </a:extLst>
          </p:cNvPr>
          <p:cNvSpPr>
            <a:spLocks xmlns:a="http://schemas.openxmlformats.org/drawingml/2006/main" noGrp="1"/>
          </p:cNvSpPr>
          <p:nvPr/>
        </p:nvSpPr>
        <p:spPr>
          <a:xfrm xmlns:a="http://schemas.openxmlformats.org/drawingml/2006/main">
            <a:off x="666750" y="38481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1414"/>
                </a:solidFill>
                <a:latin typeface="Arial"/>
                <a:ea typeface="Arial"/>
                <a:cs typeface="Arial"/>
              </a:defRPr>
            </a:pPr>
            <a:r>
              <a:rPr sz="1875" b="1">
                <a:solidFill>
                  <a:srgbClr val="141414"/>
                </a:solidFill>
                <a:latin typeface="Arial"/>
                <a:ea typeface="Arial"/>
                <a:cs typeface="Arial"/>
              </a:rPr>
              <a:t>Tank, m³ at hour endpoints. Minimum 800 m³.</a:t>
            </a:r>
          </a:p>
        </p:txBody>
      </p:sp>
      <p:graphicFrame>
        <p:nvGraphicFramePr>
          <p:cNvPr id="23" name="Chart"/>
          <p:cNvGraphicFramePr/>
          <p:nvPr/>
        </p:nvGraphicFramePr>
        <p:xfrm>
          <a:off xmlns:a="http://schemas.openxmlformats.org/drawingml/2006/main" x="552450" y="4238625"/>
          <a:ext xmlns:a="http://schemas.openxmlformats.org/drawingml/2006/main" cx="7524750" cy="1743075"/>
        </p:xfrm>
        <a:graphic xmlns:a="http://schemas.openxmlformats.org/drawingml/2006/main">
          <a:graphicData uri="http://schemas.openxmlformats.org/drawingml/2006/chart">
            <c:chart xmlns:r="http://schemas.openxmlformats.org/officeDocument/2006/relationships" xmlns:c="http://schemas.openxmlformats.org/drawingml/2006/chart" r:id="Rfdf8f35ef5404a48"/>
          </a:graphicData>
        </a:graphic>
      </p:graphicFrame>
      <p:sp>
        <p:nvSpPr>
          <p:cNvPr id="13" name="">
            <a:extLst xmlns:a="http://schemas.openxmlformats.org/drawingml/2006/main">
              <a:ext uri="{FF2B5EF4-FFF2-40B4-BE49-F238E27FC236}">
                <a16:creationId xmlns:a16="http://schemas.microsoft.com/office/drawing/2014/main" id="{67CB6977-3E76-448F-92C2-86FFDCA14F7E}"/>
              </a:ext>
            </a:extLst>
          </p:cNvPr>
          <p:cNvSpPr>
            <a:spLocks xmlns:a="http://schemas.openxmlformats.org/drawingml/2006/main" noGrp="1"/>
          </p:cNvSpPr>
          <p:nvPr/>
        </p:nvSpPr>
        <p:spPr>
          <a:xfrm xmlns:a="http://schemas.openxmlformats.org/drawingml/2006/main">
            <a:off x="8496300" y="16287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141414"/>
                </a:solidFill>
                <a:latin typeface="Arial"/>
                <a:ea typeface="Arial"/>
                <a:cs typeface="Arial"/>
              </a:defRPr>
            </a:pPr>
            <a:r>
              <a:rPr sz="4950" b="1">
                <a:solidFill>
                  <a:srgbClr val="141414"/>
                </a:solidFill>
                <a:latin typeface="Arial"/>
                <a:ea typeface="Arial"/>
                <a:cs typeface="Arial"/>
              </a:rPr>
              <a:t>12.23%</a:t>
            </a:r>
          </a:p>
        </p:txBody>
      </p:sp>
      <p:sp>
        <p:nvSpPr>
          <p:cNvPr id="14" name="">
            <a:extLst xmlns:a="http://schemas.openxmlformats.org/drawingml/2006/main">
              <a:ext uri="{FF2B5EF4-FFF2-40B4-BE49-F238E27FC236}">
                <a16:creationId xmlns:a16="http://schemas.microsoft.com/office/drawing/2014/main" id="{DAD5C3F5-B527-48FB-B3F2-DA3CAA51F547}"/>
              </a:ext>
            </a:extLst>
          </p:cNvPr>
          <p:cNvSpPr>
            <a:spLocks xmlns:a="http://schemas.openxmlformats.org/drawingml/2006/main" noGrp="1"/>
          </p:cNvSpPr>
          <p:nvPr/>
        </p:nvSpPr>
        <p:spPr>
          <a:xfrm xmlns:a="http://schemas.openxmlformats.org/drawingml/2006/main">
            <a:off x="8534400" y="2609850"/>
            <a:ext cx="291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1414"/>
                </a:solidFill>
                <a:latin typeface="Arial"/>
                <a:ea typeface="Arial"/>
                <a:cs typeface="Arial"/>
              </a:defRPr>
            </a:pPr>
            <a:r>
              <a:rPr sz="2100" b="0">
                <a:solidFill>
                  <a:srgbClr val="141414"/>
                </a:solidFill>
                <a:latin typeface="Arial"/>
                <a:ea typeface="Arial"/>
                <a:cs typeface="Arial"/>
              </a:rPr>
              <a:t>Lower illustrative tariff cost</a:t>
            </a:r>
          </a:p>
        </p:txBody>
      </p:sp>
      <p:sp>
        <p:nvSpPr>
          <p:cNvPr id="15" name="">
            <a:extLst xmlns:a="http://schemas.openxmlformats.org/drawingml/2006/main">
              <a:ext uri="{FF2B5EF4-FFF2-40B4-BE49-F238E27FC236}">
                <a16:creationId xmlns:a16="http://schemas.microsoft.com/office/drawing/2014/main" id="{238B3BC5-AFA4-491F-867C-10C7E070647B}"/>
              </a:ext>
            </a:extLst>
          </p:cNvPr>
          <p:cNvSpPr>
            <a:spLocks xmlns:a="http://schemas.openxmlformats.org/drawingml/2006/main" noGrp="1"/>
          </p:cNvSpPr>
          <p:nvPr/>
        </p:nvSpPr>
        <p:spPr>
          <a:xfrm xmlns:a="http://schemas.openxmlformats.org/drawingml/2006/main">
            <a:off x="8534400" y="3724275"/>
            <a:ext cx="285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1414"/>
                </a:solidFill>
                <a:latin typeface="Arial"/>
                <a:ea typeface="Arial"/>
                <a:cs typeface="Arial"/>
              </a:defRPr>
            </a:pPr>
            <a:r>
              <a:rPr sz="2325" b="1">
                <a:solidFill>
                  <a:srgbClr val="141414"/>
                </a:solidFill>
                <a:latin typeface="Arial"/>
                <a:ea typeface="Arial"/>
                <a:cs typeface="Arial"/>
              </a:rPr>
              <a:t>5,658 m³</a:t>
            </a:r>
          </a:p>
          <a:p xmlns:a="http://schemas.openxmlformats.org/drawingml/2006/main">
            <a:pPr>
              <a:defRPr sz="2325" b="1">
                <a:solidFill>
                  <a:srgbClr val="141414"/>
                </a:solidFill>
                <a:latin typeface="Arial"/>
                <a:ea typeface="Arial"/>
                <a:cs typeface="Arial"/>
              </a:defRPr>
            </a:pPr>
            <a:r>
              <a:rPr sz="2325" b="1">
                <a:solidFill>
                  <a:srgbClr val="141414"/>
                </a:solidFill>
                <a:latin typeface="Arial"/>
                <a:ea typeface="Arial"/>
                <a:cs typeface="Arial"/>
              </a:rPr>
              <a:t>19,237.2 kWh</a:t>
            </a:r>
          </a:p>
        </p:txBody>
      </p:sp>
      <p:sp>
        <p:nvSpPr>
          <p:cNvPr id="16" name="">
            <a:extLst xmlns:a="http://schemas.openxmlformats.org/drawingml/2006/main">
              <a:ext uri="{FF2B5EF4-FFF2-40B4-BE49-F238E27FC236}">
                <a16:creationId xmlns:a16="http://schemas.microsoft.com/office/drawing/2014/main" id="{C02BFDD9-F4E5-44A8-97D3-8263C8132A9E}"/>
              </a:ext>
            </a:extLst>
          </p:cNvPr>
          <p:cNvSpPr>
            <a:spLocks xmlns:a="http://schemas.openxmlformats.org/drawingml/2006/main" noGrp="1"/>
          </p:cNvSpPr>
          <p:nvPr/>
        </p:nvSpPr>
        <p:spPr>
          <a:xfrm xmlns:a="http://schemas.openxmlformats.org/drawingml/2006/main">
            <a:off x="8534400" y="4914900"/>
            <a:ext cx="29337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26262"/>
                </a:solidFill>
                <a:latin typeface="Arial"/>
                <a:ea typeface="Arial"/>
                <a:cs typeface="Arial"/>
              </a:defRPr>
            </a:pPr>
            <a:r>
              <a:rPr sz="1800" b="0">
                <a:solidFill>
                  <a:srgbClr val="626262"/>
                </a:solidFill>
                <a:latin typeface="Arial"/>
                <a:ea typeface="Arial"/>
                <a:cs typeface="Arial"/>
              </a:rPr>
              <a:t>Equal water and energy</a:t>
            </a:r>
          </a:p>
          <a:p xmlns:a="http://schemas.openxmlformats.org/drawingml/2006/main">
            <a:pPr>
              <a:defRPr sz="1800" b="0">
                <a:solidFill>
                  <a:srgbClr val="626262"/>
                </a:solidFill>
                <a:latin typeface="Arial"/>
                <a:ea typeface="Arial"/>
                <a:cs typeface="Arial"/>
              </a:defRPr>
            </a:pPr>
            <a:r>
              <a:rPr sz="1800" b="0">
                <a:solidFill>
                  <a:srgbClr val="626262"/>
                </a:solidFill>
                <a:latin typeface="Arial"/>
                <a:ea typeface="Arial"/>
                <a:cs typeface="Arial"/>
              </a:rPr>
              <a:t>Start and end: 966 m³</a:t>
            </a:r>
          </a:p>
          <a:p xmlns:a="http://schemas.openxmlformats.org/drawingml/2006/main">
            <a:pPr>
              <a:defRPr sz="1800" b="0">
                <a:solidFill>
                  <a:srgbClr val="626262"/>
                </a:solidFill>
                <a:latin typeface="Arial"/>
                <a:ea typeface="Arial"/>
                <a:cs typeface="Arial"/>
              </a:defRPr>
            </a:pPr>
            <a:r>
              <a:rPr sz="1800" b="0">
                <a:solidFill>
                  <a:srgbClr val="626262"/>
                </a:solidFill>
                <a:latin typeface="Arial"/>
                <a:ea typeface="Arial"/>
                <a:cs typeface="Arial"/>
              </a:rPr>
              <a:t>Tank limit: 4,000 m³</a:t>
            </a:r>
          </a:p>
        </p:txBody>
      </p:sp>
      <p:sp>
        <p:nvSpPr>
          <p:cNvPr id="17" name="">
            <a:extLst xmlns:a="http://schemas.openxmlformats.org/drawingml/2006/main">
              <a:ext uri="{FF2B5EF4-FFF2-40B4-BE49-F238E27FC236}">
                <a16:creationId xmlns:a16="http://schemas.microsoft.com/office/drawing/2014/main" id="{306E1FE8-DDB4-40AB-BF3F-4FC3BAE75AE1}"/>
              </a:ext>
            </a:extLst>
          </p:cNvPr>
          <p:cNvSpPr>
            <a:spLocks xmlns:a="http://schemas.openxmlformats.org/drawingml/2006/main" noGrp="1"/>
          </p:cNvSpPr>
          <p:nvPr/>
        </p:nvSpPr>
        <p:spPr>
          <a:xfrm xmlns:a="http://schemas.openxmlformats.org/drawingml/2006/main">
            <a:off x="647700" y="61150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€101/MWh above 600 W/m², otherwise €183/MWh. No field saving or recovered-solar claim.</a:t>
            </a:r>
          </a:p>
        </p:txBody>
      </p:sp>
    </p:spTree>
    <p:extLst>
      <p:ext uri="{BB962C8B-B14F-4D97-AF65-F5344CB8AC3E}">
        <p14:creationId xmlns:p14="http://schemas.microsoft.com/office/powerpoint/2010/main" val="2141313234"/>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53391AB-E610-48DD-84AE-3C4C40BED4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Inside the demonstration</a:t>
            </a:r>
          </a:p>
        </p:txBody>
      </p:sp>
      <p:sp>
        <p:nvSpPr>
          <p:cNvPr id="2" name="slide-number">
            <a:extLst xmlns:a="http://schemas.openxmlformats.org/drawingml/2006/main">
              <a:ext uri="{FF2B5EF4-FFF2-40B4-BE49-F238E27FC236}">
                <a16:creationId xmlns:a16="http://schemas.microsoft.com/office/drawing/2014/main" id="{71F67F88-D004-4166-98A2-FE61C2C032BE}"/>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06 / 12</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2b517264dda43ef"/>
          <a:stretch xmlns:a="http://schemas.openxmlformats.org/drawingml/2006/main"/>
        </p:blipFill>
        <p:spPr>
          <a:xfrm xmlns:a="http://schemas.openxmlformats.org/drawingml/2006/main">
            <a:off x="619125" y="1555552"/>
            <a:ext cx="7829550" cy="440412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53DF54B-BA76-4FA8-A16F-C029B0D448B4}"/>
              </a:ext>
            </a:extLst>
          </p:cNvPr>
          <p:cNvSpPr>
            <a:spLocks xmlns:a="http://schemas.openxmlformats.org/drawingml/2006/main" noGrp="1"/>
          </p:cNvSpPr>
          <p:nvPr/>
        </p:nvSpPr>
        <p:spPr>
          <a:xfrm xmlns:a="http://schemas.openxmlformats.org/drawingml/2006/main">
            <a:off x="8839200" y="1752600"/>
            <a:ext cx="26955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41414"/>
                </a:solidFill>
                <a:latin typeface="Arial"/>
                <a:ea typeface="Arial"/>
                <a:cs typeface="Arial"/>
              </a:defRPr>
            </a:pPr>
            <a:r>
              <a:rPr sz="2400" b="1">
                <a:solidFill>
                  <a:srgbClr val="141414"/>
                </a:solidFill>
                <a:latin typeface="Arial"/>
                <a:ea typeface="Arial"/>
                <a:cs typeface="Arial"/>
              </a:rPr>
              <a:t>3 July</a:t>
            </a:r>
          </a:p>
        </p:txBody>
      </p:sp>
      <p:sp>
        <p:nvSpPr>
          <p:cNvPr id="12" name="">
            <a:extLst xmlns:a="http://schemas.openxmlformats.org/drawingml/2006/main">
              <a:ext uri="{FF2B5EF4-FFF2-40B4-BE49-F238E27FC236}">
                <a16:creationId xmlns:a16="http://schemas.microsoft.com/office/drawing/2014/main" id="{5BBBA872-17BC-4A2D-886B-A62118915E1C}"/>
              </a:ext>
            </a:extLst>
          </p:cNvPr>
          <p:cNvSpPr>
            <a:spLocks xmlns:a="http://schemas.openxmlformats.org/drawingml/2006/main" noGrp="1"/>
          </p:cNvSpPr>
          <p:nvPr/>
        </p:nvSpPr>
        <p:spPr>
          <a:xfrm xmlns:a="http://schemas.openxmlformats.org/drawingml/2006/main">
            <a:off x="8839200" y="2247900"/>
            <a:ext cx="265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Matched daily example</a:t>
            </a:r>
          </a:p>
        </p:txBody>
      </p:sp>
      <p:sp>
        <p:nvSpPr>
          <p:cNvPr id="13" name="">
            <a:extLst xmlns:a="http://schemas.openxmlformats.org/drawingml/2006/main">
              <a:ext uri="{FF2B5EF4-FFF2-40B4-BE49-F238E27FC236}">
                <a16:creationId xmlns:a16="http://schemas.microsoft.com/office/drawing/2014/main" id="{9C3A43A4-FFE0-4917-87F1-EEB5CD6948A2}"/>
              </a:ext>
            </a:extLst>
          </p:cNvPr>
          <p:cNvSpPr>
            <a:spLocks xmlns:a="http://schemas.openxmlformats.org/drawingml/2006/main" noGrp="1"/>
          </p:cNvSpPr>
          <p:nvPr/>
        </p:nvSpPr>
        <p:spPr>
          <a:xfrm xmlns:a="http://schemas.openxmlformats.org/drawingml/2006/main">
            <a:off x="8839200" y="31337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41414"/>
                </a:solidFill>
                <a:latin typeface="Arial"/>
                <a:ea typeface="Arial"/>
                <a:cs typeface="Arial"/>
              </a:defRPr>
            </a:pPr>
            <a:r>
              <a:rPr sz="2400" b="1">
                <a:solidFill>
                  <a:srgbClr val="141414"/>
                </a:solidFill>
                <a:latin typeface="Arial"/>
                <a:ea typeface="Arial"/>
                <a:cs typeface="Arial"/>
              </a:rPr>
              <a:t>10 December</a:t>
            </a:r>
          </a:p>
        </p:txBody>
      </p:sp>
      <p:sp>
        <p:nvSpPr>
          <p:cNvPr id="14" name="">
            <a:extLst xmlns:a="http://schemas.openxmlformats.org/drawingml/2006/main">
              <a:ext uri="{FF2B5EF4-FFF2-40B4-BE49-F238E27FC236}">
                <a16:creationId xmlns:a16="http://schemas.microsoft.com/office/drawing/2014/main" id="{0C8C2FF5-9420-447D-A6EC-10E71F3301F4}"/>
              </a:ext>
            </a:extLst>
          </p:cNvPr>
          <p:cNvSpPr>
            <a:spLocks xmlns:a="http://schemas.openxmlformats.org/drawingml/2006/main" noGrp="1"/>
          </p:cNvSpPr>
          <p:nvPr/>
        </p:nvSpPr>
        <p:spPr>
          <a:xfrm xmlns:a="http://schemas.openxmlformats.org/drawingml/2006/main">
            <a:off x="8839200" y="3619500"/>
            <a:ext cx="26574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Low radiation</a:t>
            </a:r>
          </a:p>
        </p:txBody>
      </p:sp>
      <p:sp>
        <p:nvSpPr>
          <p:cNvPr id="15" name="">
            <a:extLst xmlns:a="http://schemas.openxmlformats.org/drawingml/2006/main">
              <a:ext uri="{FF2B5EF4-FFF2-40B4-BE49-F238E27FC236}">
                <a16:creationId xmlns:a16="http://schemas.microsoft.com/office/drawing/2014/main" id="{24D46066-5C88-4F1E-8247-0306B27BE00E}"/>
              </a:ext>
            </a:extLst>
          </p:cNvPr>
          <p:cNvSpPr>
            <a:spLocks xmlns:a="http://schemas.openxmlformats.org/drawingml/2006/main" noGrp="1"/>
          </p:cNvSpPr>
          <p:nvPr/>
        </p:nvSpPr>
        <p:spPr>
          <a:xfrm xmlns:a="http://schemas.openxmlformats.org/drawingml/2006/main">
            <a:off x="8839200" y="45053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41414"/>
                </a:solidFill>
                <a:latin typeface="Arial"/>
                <a:ea typeface="Arial"/>
                <a:cs typeface="Arial"/>
              </a:defRPr>
            </a:pPr>
            <a:r>
              <a:rPr sz="2400" b="1">
                <a:solidFill>
                  <a:srgbClr val="141414"/>
                </a:solidFill>
                <a:latin typeface="Arial"/>
                <a:ea typeface="Arial"/>
                <a:cs typeface="Arial"/>
              </a:rPr>
              <a:t>AktinaBench</a:t>
            </a:r>
          </a:p>
        </p:txBody>
      </p:sp>
      <p:sp>
        <p:nvSpPr>
          <p:cNvPr id="16" name="">
            <a:extLst xmlns:a="http://schemas.openxmlformats.org/drawingml/2006/main">
              <a:ext uri="{FF2B5EF4-FFF2-40B4-BE49-F238E27FC236}">
                <a16:creationId xmlns:a16="http://schemas.microsoft.com/office/drawing/2014/main" id="{E0ED39E6-6022-4251-ACC2-6913E1E780FF}"/>
              </a:ext>
            </a:extLst>
          </p:cNvPr>
          <p:cNvSpPr>
            <a:spLocks xmlns:a="http://schemas.openxmlformats.org/drawingml/2006/main" noGrp="1"/>
          </p:cNvSpPr>
          <p:nvPr/>
        </p:nvSpPr>
        <p:spPr>
          <a:xfrm xmlns:a="http://schemas.openxmlformats.org/drawingml/2006/main">
            <a:off x="8839200" y="4991100"/>
            <a:ext cx="2657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26262"/>
                </a:solidFill>
                <a:latin typeface="Arial"/>
                <a:ea typeface="Arial"/>
                <a:cs typeface="Arial"/>
              </a:defRPr>
            </a:pPr>
            <a:r>
              <a:rPr sz="1875" b="0">
                <a:solidFill>
                  <a:srgbClr val="626262"/>
                </a:solidFill>
                <a:latin typeface="Arial"/>
                <a:ea typeface="Arial"/>
                <a:cs typeface="Arial"/>
              </a:rPr>
              <a:t>Every retained test hour</a:t>
            </a:r>
          </a:p>
        </p:txBody>
      </p:sp>
      <p:sp>
        <p:nvSpPr>
          <p:cNvPr id="17" name="">
            <a:extLst xmlns:a="http://schemas.openxmlformats.org/drawingml/2006/main">
              <a:ext uri="{FF2B5EF4-FFF2-40B4-BE49-F238E27FC236}">
                <a16:creationId xmlns:a16="http://schemas.microsoft.com/office/drawing/2014/main" id="{574A7A59-78CD-418A-8AE3-B34EE8C510EB}"/>
              </a:ext>
            </a:extLst>
          </p:cNvPr>
          <p:cNvSpPr>
            <a:spLocks xmlns:a="http://schemas.openxmlformats.org/drawingml/2006/main" noGrp="1"/>
          </p:cNvSpPr>
          <p:nvPr/>
        </p:nvSpPr>
        <p:spPr>
          <a:xfrm xmlns:a="http://schemas.openxmlformats.org/drawingml/2006/main">
            <a:off x="647700" y="6086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aktina-pafos-2026.vercel.app     Offline fallback: 60-second silent walkthrough</a:t>
            </a:r>
          </a:p>
        </p:txBody>
      </p:sp>
    </p:spTree>
    <p:extLst>
      <p:ext uri="{BB962C8B-B14F-4D97-AF65-F5344CB8AC3E}">
        <p14:creationId xmlns:p14="http://schemas.microsoft.com/office/powerpoint/2010/main" val="792058433"/>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0DB3DCB-3A52-43AE-B4BB-1649C2EE797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Original forecast against persistence</a:t>
            </a:r>
          </a:p>
        </p:txBody>
      </p:sp>
      <p:sp>
        <p:nvSpPr>
          <p:cNvPr id="2" name="slide-number">
            <a:extLst xmlns:a="http://schemas.openxmlformats.org/drawingml/2006/main">
              <a:ext uri="{FF2B5EF4-FFF2-40B4-BE49-F238E27FC236}">
                <a16:creationId xmlns:a16="http://schemas.microsoft.com/office/drawing/2014/main" id="{D735EBF6-9BA2-432D-8A96-42174EC933BA}"/>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07 / 12</a:t>
            </a:r>
          </a:p>
        </p:txBody>
      </p:sp>
      <p:sp>
        <p:nvSpPr>
          <p:cNvPr id="9" name="">
            <a:extLst xmlns:a="http://schemas.openxmlformats.org/drawingml/2006/main">
              <a:ext uri="{FF2B5EF4-FFF2-40B4-BE49-F238E27FC236}">
                <a16:creationId xmlns:a16="http://schemas.microsoft.com/office/drawing/2014/main" id="{513AB02D-0B94-4882-A35F-FA8598B08767}"/>
              </a:ext>
            </a:extLst>
          </p:cNvPr>
          <p:cNvSpPr>
            <a:spLocks xmlns:a="http://schemas.openxmlformats.org/drawingml/2006/main" noGrp="1"/>
          </p:cNvSpPr>
          <p:nvPr/>
        </p:nvSpPr>
        <p:spPr>
          <a:xfrm xmlns:a="http://schemas.openxmlformats.org/drawingml/2006/main">
            <a:off x="647700" y="1362075"/>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1414"/>
                </a:solidFill>
                <a:latin typeface="Arial"/>
                <a:ea typeface="Arial"/>
                <a:cs typeface="Arial"/>
              </a:defRPr>
            </a:pPr>
            <a:r>
              <a:rPr sz="2100" b="1">
                <a:solidFill>
                  <a:srgbClr val="141414"/>
                </a:solidFill>
                <a:latin typeface="Arial"/>
                <a:ea typeface="Arial"/>
                <a:cs typeface="Arial"/>
              </a:rPr>
              <a:t>Mean absolute error, W/m²</a:t>
            </a:r>
          </a:p>
        </p:txBody>
      </p:sp>
      <p:graphicFrame>
        <p:nvGraphicFramePr>
          <p:cNvPr id="18" name="Chart"/>
          <p:cNvGraphicFramePr/>
          <p:nvPr/>
        </p:nvGraphicFramePr>
        <p:xfrm>
          <a:off xmlns:a="http://schemas.openxmlformats.org/drawingml/2006/main" x="571500" y="1981200"/>
          <a:ext xmlns:a="http://schemas.openxmlformats.org/drawingml/2006/main" cx="7572375" cy="3619500"/>
        </p:xfrm>
        <a:graphic xmlns:a="http://schemas.openxmlformats.org/drawingml/2006/main">
          <a:graphicData uri="http://schemas.openxmlformats.org/drawingml/2006/chart">
            <c:chart xmlns:r="http://schemas.openxmlformats.org/officeDocument/2006/relationships" xmlns:c="http://schemas.openxmlformats.org/drawingml/2006/chart" r:id="Rfea1d8115c5749e7"/>
          </a:graphicData>
        </a:graphic>
      </p:graphicFrame>
      <p:sp>
        <p:nvSpPr>
          <p:cNvPr id="11" name="">
            <a:extLst xmlns:a="http://schemas.openxmlformats.org/drawingml/2006/main">
              <a:ext uri="{FF2B5EF4-FFF2-40B4-BE49-F238E27FC236}">
                <a16:creationId xmlns:a16="http://schemas.microsoft.com/office/drawing/2014/main" id="{92E31E48-832F-4230-9D8A-F7BE4373D679}"/>
              </a:ext>
            </a:extLst>
          </p:cNvPr>
          <p:cNvSpPr>
            <a:spLocks xmlns:a="http://schemas.openxmlformats.org/drawingml/2006/main" noGrp="1"/>
          </p:cNvSpPr>
          <p:nvPr/>
        </p:nvSpPr>
        <p:spPr>
          <a:xfrm xmlns:a="http://schemas.openxmlformats.org/drawingml/2006/main">
            <a:off x="8734425" y="18002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1414"/>
                </a:solidFill>
                <a:latin typeface="Arial"/>
                <a:ea typeface="Arial"/>
                <a:cs typeface="Arial"/>
              </a:defRPr>
            </a:pPr>
            <a:r>
              <a:rPr sz="2325" b="1">
                <a:solidFill>
                  <a:srgbClr val="141414"/>
                </a:solidFill>
                <a:latin typeface="Arial"/>
                <a:ea typeface="Arial"/>
                <a:cs typeface="Arial"/>
              </a:rPr>
              <a:t>Test F1</a:t>
            </a:r>
          </a:p>
        </p:txBody>
      </p:sp>
      <p:sp>
        <p:nvSpPr>
          <p:cNvPr id="12" name="">
            <a:extLst xmlns:a="http://schemas.openxmlformats.org/drawingml/2006/main">
              <a:ext uri="{FF2B5EF4-FFF2-40B4-BE49-F238E27FC236}">
                <a16:creationId xmlns:a16="http://schemas.microsoft.com/office/drawing/2014/main" id="{84B560FF-B22A-42C6-AAF0-3C643809690C}"/>
              </a:ext>
            </a:extLst>
          </p:cNvPr>
          <p:cNvSpPr>
            <a:spLocks xmlns:a="http://schemas.openxmlformats.org/drawingml/2006/main" noGrp="1"/>
          </p:cNvSpPr>
          <p:nvPr/>
        </p:nvSpPr>
        <p:spPr>
          <a:xfrm xmlns:a="http://schemas.openxmlformats.org/drawingml/2006/main">
            <a:off x="8734425" y="2514600"/>
            <a:ext cx="2819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1414"/>
                </a:solidFill>
                <a:latin typeface="Arial"/>
                <a:ea typeface="Arial"/>
                <a:cs typeface="Arial"/>
              </a:defRPr>
            </a:pPr>
            <a:r>
              <a:rPr sz="1875" b="0">
                <a:solidFill>
                  <a:srgbClr val="141414"/>
                </a:solidFill>
                <a:latin typeface="Arial"/>
                <a:ea typeface="Arial"/>
                <a:cs typeface="Arial"/>
              </a:rPr>
              <a:t>LightGBM   0.9655</a:t>
            </a:r>
          </a:p>
          <a:p xmlns:a="http://schemas.openxmlformats.org/drawingml/2006/main">
            <a:pPr>
              <a:defRPr sz="1875" b="0">
                <a:solidFill>
                  <a:srgbClr val="141414"/>
                </a:solidFill>
                <a:latin typeface="Arial"/>
                <a:ea typeface="Arial"/>
                <a:cs typeface="Arial"/>
              </a:defRPr>
            </a:pPr>
            <a:r>
              <a:rPr sz="1875" b="0">
                <a:solidFill>
                  <a:srgbClr val="141414"/>
                </a:solidFill>
                <a:latin typeface="Arial"/>
                <a:ea typeface="Arial"/>
                <a:cs typeface="Arial"/>
              </a:rPr>
              <a:t>Persistence  0.9777</a:t>
            </a:r>
          </a:p>
        </p:txBody>
      </p:sp>
      <p:sp>
        <p:nvSpPr>
          <p:cNvPr id="13" name="">
            <a:extLst xmlns:a="http://schemas.openxmlformats.org/drawingml/2006/main">
              <a:ext uri="{FF2B5EF4-FFF2-40B4-BE49-F238E27FC236}">
                <a16:creationId xmlns:a16="http://schemas.microsoft.com/office/drawing/2014/main" id="{1EFF133B-0D8F-440E-A9A6-4DD0A1D16F6C}"/>
              </a:ext>
            </a:extLst>
          </p:cNvPr>
          <p:cNvSpPr>
            <a:spLocks xmlns:a="http://schemas.openxmlformats.org/drawingml/2006/main" noGrp="1"/>
          </p:cNvSpPr>
          <p:nvPr/>
        </p:nvSpPr>
        <p:spPr>
          <a:xfrm xmlns:a="http://schemas.openxmlformats.org/drawingml/2006/main">
            <a:off x="8734425" y="4048125"/>
            <a:ext cx="2762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41414"/>
                </a:solidFill>
                <a:latin typeface="Arial"/>
                <a:ea typeface="Arial"/>
                <a:cs typeface="Arial"/>
              </a:defRPr>
            </a:pPr>
            <a:r>
              <a:rPr sz="2550" b="1">
                <a:solidFill>
                  <a:srgbClr val="141414"/>
                </a:solidFill>
                <a:latin typeface="Arial"/>
                <a:ea typeface="Arial"/>
                <a:cs typeface="Arial"/>
              </a:rPr>
              <a:t>Test winner:</a:t>
            </a:r>
          </a:p>
          <a:p xmlns:a="http://schemas.openxmlformats.org/drawingml/2006/main">
            <a:pPr>
              <a:defRPr sz="2550" b="1">
                <a:solidFill>
                  <a:srgbClr val="141414"/>
                </a:solidFill>
                <a:latin typeface="Arial"/>
                <a:ea typeface="Arial"/>
                <a:cs typeface="Arial"/>
              </a:defRPr>
            </a:pPr>
            <a:r>
              <a:rPr sz="2550" b="1">
                <a:solidFill>
                  <a:srgbClr val="141414"/>
                </a:solidFill>
                <a:latin typeface="Arial"/>
                <a:ea typeface="Arial"/>
                <a:cs typeface="Arial"/>
              </a:rPr>
              <a:t>persistence</a:t>
            </a:r>
          </a:p>
        </p:txBody>
      </p:sp>
      <p:sp>
        <p:nvSpPr>
          <p:cNvPr id="14" name="">
            <a:extLst xmlns:a="http://schemas.openxmlformats.org/drawingml/2006/main">
              <a:ext uri="{FF2B5EF4-FFF2-40B4-BE49-F238E27FC236}">
                <a16:creationId xmlns:a16="http://schemas.microsoft.com/office/drawing/2014/main" id="{C7D01F09-3660-4721-9A7F-74352FCEE2BE}"/>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3,566 validation and 3,567 test hours. Validation informed fitting. Original splits lack a 24-hour purge.</a:t>
            </a:r>
          </a:p>
        </p:txBody>
      </p:sp>
    </p:spTree>
    <p:extLst>
      <p:ext uri="{BB962C8B-B14F-4D97-AF65-F5344CB8AC3E}">
        <p14:creationId xmlns:p14="http://schemas.microsoft.com/office/powerpoint/2010/main" val="1297954874"/>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2912C27-C7F3-4728-AFFE-31EC17DD070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Archived weather inputs</a:t>
            </a:r>
          </a:p>
        </p:txBody>
      </p:sp>
      <p:sp>
        <p:nvSpPr>
          <p:cNvPr id="2" name="slide-number">
            <a:extLst xmlns:a="http://schemas.openxmlformats.org/drawingml/2006/main">
              <a:ext uri="{FF2B5EF4-FFF2-40B4-BE49-F238E27FC236}">
                <a16:creationId xmlns:a16="http://schemas.microsoft.com/office/drawing/2014/main" id="{778C6679-0133-434E-AFB4-216C2EE97845}"/>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08 / 12</a:t>
            </a:r>
          </a:p>
        </p:txBody>
      </p:sp>
      <p:sp>
        <p:nvSpPr>
          <p:cNvPr id="10" name="">
            <a:extLst xmlns:a="http://schemas.openxmlformats.org/drawingml/2006/main">
              <a:ext uri="{FF2B5EF4-FFF2-40B4-BE49-F238E27FC236}">
                <a16:creationId xmlns:a16="http://schemas.microsoft.com/office/drawing/2014/main" id="{760CA6A7-2B26-4AF4-A11C-CC8BA03FC848}"/>
              </a:ext>
            </a:extLst>
          </p:cNvPr>
          <p:cNvSpPr>
            <a:spLocks xmlns:a="http://schemas.openxmlformats.org/drawingml/2006/main" noGrp="1"/>
          </p:cNvSpPr>
          <p:nvPr/>
        </p:nvSpPr>
        <p:spPr>
          <a:xfrm xmlns:a="http://schemas.openxmlformats.org/drawingml/2006/main">
            <a:off x="647700" y="13525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626262"/>
                </a:solidFill>
                <a:latin typeface="Arial"/>
                <a:ea typeface="Arial"/>
                <a:cs typeface="Arial"/>
              </a:defRPr>
            </a:pPr>
            <a:r>
              <a:rPr sz="2250" b="0">
                <a:solidFill>
                  <a:srgbClr val="626262"/>
                </a:solidFill>
                <a:latin typeface="Arial"/>
                <a:ea typeface="Arial"/>
                <a:cs typeface="Arial"/>
              </a:rPr>
              <a:t>Retrospective comparison, the same 3,567 test hours</a:t>
            </a:r>
          </a:p>
        </p:txBody>
      </p:sp>
      <p:graphicFrame>
        <p:nvGraphicFramePr>
          <p:cNvPr id="18" name="Chart"/>
          <p:cNvGraphicFramePr/>
          <p:nvPr/>
        </p:nvGraphicFramePr>
        <p:xfrm>
          <a:off xmlns:a="http://schemas.openxmlformats.org/drawingml/2006/main" x="571500" y="2162175"/>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4f709f97844f4c63"/>
          </a:graphicData>
        </a:graphic>
      </p:graphicFrame>
      <p:graphicFrame>
        <p:nvGraphicFramePr>
          <p:cNvPr id="19" name=""/>
          <p:cNvGraphicFramePr/>
          <p:nvPr/>
        </p:nvGraphicFramePr>
        <p:xfrm>
          <a:off xmlns:a="http://schemas.openxmlformats.org/drawingml/2006/main" x="5562600" y="2305050"/>
          <a:ext xmlns:a="http://schemas.openxmlformats.org/drawingml/2006/main" cx="5972175" cy="2514600"/>
        </p:xfrm>
        <a:graphic xmlns:a="http://schemas.openxmlformats.org/drawingml/2006/main">
          <a:graphicData uri="http://schemas.openxmlformats.org/drawingml/2006/table">
            <a:tbl>
              <a:tblPr firstRow="0" bandRow="0"/>
              <a:tblGrid>
                <a:gridCol w="1952625"/>
                <a:gridCol w="1438275"/>
                <a:gridCol w="1314450"/>
                <a:gridCol w="1266825"/>
              </a:tblGrid>
              <a:tr h="628650">
                <a:tc>
                  <a:txBody>
                    <a:bodyPr/>
                    <a:lstStyle/>
                    <a:p>
                      <a:r>
                        <a:rPr sz="1800" b="1">
                          <a:solidFill>
                            <a:srgbClr val="626262"/>
                          </a:solidFill>
                          <a:latin typeface="Arial"/>
                          <a:ea typeface="Arial"/>
                          <a:cs typeface="Arial"/>
                        </a:rPr>
                        <a:t/>
                      </a:r>
                    </a:p>
                  </a:txBody>
                  <a:tcPr marL="91440" marR="91440" marT="45720" marB="45720">
                    <a:solidFill>
                      <a:srgbClr val="FAFAFA"/>
                    </a:solidFill>
                  </a:tcPr>
                </a:tc>
                <a:tc>
                  <a:txBody>
                    <a:bodyPr/>
                    <a:lstStyle/>
                    <a:p>
                      <a:r>
                        <a:rPr sz="1800" b="1">
                          <a:solidFill>
                            <a:srgbClr val="626262"/>
                          </a:solidFill>
                          <a:latin typeface="Arial"/>
                          <a:ea typeface="Arial"/>
                          <a:cs typeface="Arial"/>
                        </a:rPr>
                        <a:t>Precision</a:t>
                      </a:r>
                    </a:p>
                  </a:txBody>
                  <a:tcPr marL="91440" marR="91440" marT="45720" marB="45720">
                    <a:solidFill>
                      <a:srgbClr val="FAFAFA"/>
                    </a:solidFill>
                  </a:tcPr>
                </a:tc>
                <a:tc>
                  <a:txBody>
                    <a:bodyPr/>
                    <a:lstStyle/>
                    <a:p>
                      <a:r>
                        <a:rPr sz="1800" b="1">
                          <a:solidFill>
                            <a:srgbClr val="626262"/>
                          </a:solidFill>
                          <a:latin typeface="Arial"/>
                          <a:ea typeface="Arial"/>
                          <a:cs typeface="Arial"/>
                        </a:rPr>
                        <a:t>Recall</a:t>
                      </a:r>
                    </a:p>
                  </a:txBody>
                  <a:tcPr marL="91440" marR="91440" marT="45720" marB="45720">
                    <a:solidFill>
                      <a:srgbClr val="FAFAFA"/>
                    </a:solidFill>
                  </a:tcPr>
                </a:tc>
                <a:tc>
                  <a:txBody>
                    <a:bodyPr/>
                    <a:lstStyle/>
                    <a:p>
                      <a:r>
                        <a:rPr sz="1800" b="1">
                          <a:solidFill>
                            <a:srgbClr val="626262"/>
                          </a:solidFill>
                          <a:latin typeface="Arial"/>
                          <a:ea typeface="Arial"/>
                          <a:cs typeface="Arial"/>
                        </a:rPr>
                        <a:t>F1</a:t>
                      </a:r>
                    </a:p>
                  </a:txBody>
                  <a:tcPr marL="91440" marR="91440" marT="45720" marB="45720">
                    <a:solidFill>
                      <a:srgbClr val="FAFAFA"/>
                    </a:solidFill>
                  </a:tcPr>
                </a:tc>
              </a:tr>
              <a:tr h="628650">
                <a:tc>
                  <a:txBody>
                    <a:bodyPr/>
                    <a:lstStyle/>
                    <a:p>
                      <a:r>
                        <a:rPr sz="1800" b="0">
                          <a:solidFill>
                            <a:srgbClr val="141414"/>
                          </a:solidFill>
                          <a:latin typeface="Arial"/>
                          <a:ea typeface="Arial"/>
                          <a:cs typeface="Arial"/>
                        </a:rPr>
                        <a:t>Original</a:t>
                      </a:r>
                    </a:p>
                  </a:txBody>
                  <a:tcPr marL="91440" marR="91440" marT="45720" marB="45720">
                    <a:solidFill>
                      <a:srgbClr val="FAFAFA"/>
                    </a:solidFill>
                  </a:tcPr>
                </a:tc>
                <a:tc>
                  <a:txBody>
                    <a:bodyPr/>
                    <a:lstStyle/>
                    <a:p>
                      <a:r>
                        <a:rPr sz="1800" b="0">
                          <a:solidFill>
                            <a:srgbClr val="141414"/>
                          </a:solidFill>
                          <a:latin typeface="Arial"/>
                          <a:ea typeface="Arial"/>
                          <a:cs typeface="Arial"/>
                        </a:rPr>
                        <a:t>97.57%</a:t>
                      </a:r>
                    </a:p>
                  </a:txBody>
                  <a:tcPr marL="91440" marR="91440" marT="45720" marB="45720">
                    <a:solidFill>
                      <a:srgbClr val="FAFAFA"/>
                    </a:solidFill>
                  </a:tcPr>
                </a:tc>
                <a:tc>
                  <a:txBody>
                    <a:bodyPr/>
                    <a:lstStyle/>
                    <a:p>
                      <a:r>
                        <a:rPr sz="1800" b="0">
                          <a:solidFill>
                            <a:srgbClr val="141414"/>
                          </a:solidFill>
                          <a:latin typeface="Arial"/>
                          <a:ea typeface="Arial"/>
                          <a:cs typeface="Arial"/>
                        </a:rPr>
                        <a:t>95.54%</a:t>
                      </a:r>
                    </a:p>
                  </a:txBody>
                  <a:tcPr marL="91440" marR="91440" marT="45720" marB="45720">
                    <a:solidFill>
                      <a:srgbClr val="FAFAFA"/>
                    </a:solidFill>
                  </a:tcPr>
                </a:tc>
                <a:tc>
                  <a:txBody>
                    <a:bodyPr/>
                    <a:lstStyle/>
                    <a:p>
                      <a:r>
                        <a:rPr sz="1800" b="0">
                          <a:solidFill>
                            <a:srgbClr val="141414"/>
                          </a:solidFill>
                          <a:latin typeface="Arial"/>
                          <a:ea typeface="Arial"/>
                          <a:cs typeface="Arial"/>
                        </a:rPr>
                        <a:t>96.55%</a:t>
                      </a:r>
                    </a:p>
                  </a:txBody>
                  <a:tcPr marL="91440" marR="91440" marT="45720" marB="45720">
                    <a:solidFill>
                      <a:srgbClr val="FAFAFA"/>
                    </a:solidFill>
                  </a:tcPr>
                </a:tc>
              </a:tr>
              <a:tr h="628650">
                <a:tc>
                  <a:txBody>
                    <a:bodyPr/>
                    <a:lstStyle/>
                    <a:p>
                      <a:r>
                        <a:rPr sz="1800" b="0">
                          <a:solidFill>
                            <a:srgbClr val="141414"/>
                          </a:solidFill>
                          <a:latin typeface="Arial"/>
                          <a:ea typeface="Arial"/>
                          <a:cs typeface="Arial"/>
                        </a:rPr>
                        <a:t>Day2 forecast</a:t>
                      </a:r>
                    </a:p>
                  </a:txBody>
                  <a:tcPr marL="91440" marR="91440" marT="45720" marB="45720">
                    <a:solidFill>
                      <a:srgbClr val="FAFAFA"/>
                    </a:solidFill>
                  </a:tcPr>
                </a:tc>
                <a:tc>
                  <a:txBody>
                    <a:bodyPr/>
                    <a:lstStyle/>
                    <a:p>
                      <a:r>
                        <a:rPr sz="1800" b="0">
                          <a:solidFill>
                            <a:srgbClr val="141414"/>
                          </a:solidFill>
                          <a:latin typeface="Arial"/>
                          <a:ea typeface="Arial"/>
                          <a:cs typeface="Arial"/>
                        </a:rPr>
                        <a:t>98.51%</a:t>
                      </a:r>
                    </a:p>
                  </a:txBody>
                  <a:tcPr marL="91440" marR="91440" marT="45720" marB="45720">
                    <a:solidFill>
                      <a:srgbClr val="FAFAFA"/>
                    </a:solidFill>
                  </a:tcPr>
                </a:tc>
                <a:tc>
                  <a:txBody>
                    <a:bodyPr/>
                    <a:lstStyle/>
                    <a:p>
                      <a:r>
                        <a:rPr sz="1800" b="0">
                          <a:solidFill>
                            <a:srgbClr val="141414"/>
                          </a:solidFill>
                          <a:latin typeface="Arial"/>
                          <a:ea typeface="Arial"/>
                          <a:cs typeface="Arial"/>
                        </a:rPr>
                        <a:t>98.32%</a:t>
                      </a:r>
                    </a:p>
                  </a:txBody>
                  <a:tcPr marL="91440" marR="91440" marT="45720" marB="45720">
                    <a:solidFill>
                      <a:srgbClr val="FAFAFA"/>
                    </a:solidFill>
                  </a:tcPr>
                </a:tc>
                <a:tc>
                  <a:txBody>
                    <a:bodyPr/>
                    <a:lstStyle/>
                    <a:p>
                      <a:r>
                        <a:rPr sz="1800" b="0">
                          <a:solidFill>
                            <a:srgbClr val="141414"/>
                          </a:solidFill>
                          <a:latin typeface="Arial"/>
                          <a:ea typeface="Arial"/>
                          <a:cs typeface="Arial"/>
                        </a:rPr>
                        <a:t>98.41%</a:t>
                      </a:r>
                    </a:p>
                  </a:txBody>
                  <a:tcPr marL="91440" marR="91440" marT="45720" marB="45720">
                    <a:solidFill>
                      <a:srgbClr val="FAFAFA"/>
                    </a:solidFill>
                  </a:tcPr>
                </a:tc>
              </a:tr>
              <a:tr h="628650">
                <a:tc>
                  <a:txBody>
                    <a:bodyPr/>
                    <a:lstStyle/>
                    <a:p>
                      <a:r>
                        <a:rPr sz="1800" b="0">
                          <a:solidFill>
                            <a:srgbClr val="141414"/>
                          </a:solidFill>
                          <a:latin typeface="Arial"/>
                          <a:ea typeface="Arial"/>
                          <a:cs typeface="Arial"/>
                        </a:rPr>
                        <a:t>Raw analogue</a:t>
                      </a:r>
                    </a:p>
                  </a:txBody>
                  <a:tcPr marL="91440" marR="91440" marT="45720" marB="45720">
                    <a:solidFill>
                      <a:srgbClr val="FAFAFA"/>
                    </a:solidFill>
                  </a:tcPr>
                </a:tc>
                <a:tc>
                  <a:txBody>
                    <a:bodyPr/>
                    <a:lstStyle/>
                    <a:p>
                      <a:r>
                        <a:rPr sz="1800" b="0">
                          <a:solidFill>
                            <a:srgbClr val="141414"/>
                          </a:solidFill>
                          <a:latin typeface="Arial"/>
                          <a:ea typeface="Arial"/>
                          <a:cs typeface="Arial"/>
                        </a:rPr>
                        <a:t>98.41%</a:t>
                      </a:r>
                    </a:p>
                  </a:txBody>
                  <a:tcPr marL="91440" marR="91440" marT="45720" marB="45720">
                    <a:solidFill>
                      <a:srgbClr val="FAFAFA"/>
                    </a:solidFill>
                  </a:tcPr>
                </a:tc>
                <a:tc>
                  <a:txBody>
                    <a:bodyPr/>
                    <a:lstStyle/>
                    <a:p>
                      <a:r>
                        <a:rPr sz="1800" b="0">
                          <a:solidFill>
                            <a:srgbClr val="141414"/>
                          </a:solidFill>
                          <a:latin typeface="Arial"/>
                          <a:ea typeface="Arial"/>
                          <a:cs typeface="Arial"/>
                        </a:rPr>
                        <a:t>98.32%</a:t>
                      </a:r>
                    </a:p>
                  </a:txBody>
                  <a:tcPr marL="91440" marR="91440" marT="45720" marB="45720">
                    <a:solidFill>
                      <a:srgbClr val="FAFAFA"/>
                    </a:solidFill>
                  </a:tcPr>
                </a:tc>
                <a:tc>
                  <a:txBody>
                    <a:bodyPr/>
                    <a:lstStyle/>
                    <a:p>
                      <a:r>
                        <a:rPr sz="1800" b="0">
                          <a:solidFill>
                            <a:srgbClr val="141414"/>
                          </a:solidFill>
                          <a:latin typeface="Arial"/>
                          <a:ea typeface="Arial"/>
                          <a:cs typeface="Arial"/>
                        </a:rPr>
                        <a:t>98.37%</a:t>
                      </a:r>
                    </a:p>
                  </a:txBody>
                  <a:tcPr marL="91440" marR="91440" marT="45720" marB="45720">
                    <a:solidFill>
                      <a:srgbClr val="FAFAFA"/>
                    </a:solidFill>
                  </a:tcPr>
                </a:tc>
              </a:tr>
            </a:tbl>
          </a:graphicData>
        </a:graphic>
      </p:graphicFrame>
      <p:sp>
        <p:nvSpPr>
          <p:cNvPr id="13" name="">
            <a:extLst xmlns:a="http://schemas.openxmlformats.org/drawingml/2006/main">
              <a:ext uri="{FF2B5EF4-FFF2-40B4-BE49-F238E27FC236}">
                <a16:creationId xmlns:a16="http://schemas.microsoft.com/office/drawing/2014/main" id="{53CE39CA-ADB6-46B9-AE79-ADA9D47D0555}"/>
              </a:ext>
            </a:extLst>
          </p:cNvPr>
          <p:cNvSpPr>
            <a:spLocks xmlns:a="http://schemas.openxmlformats.org/drawingml/2006/main" noGrp="1"/>
          </p:cNvSpPr>
          <p:nvPr/>
        </p:nvSpPr>
        <p:spPr>
          <a:xfrm xmlns:a="http://schemas.openxmlformats.org/drawingml/2006/main">
            <a:off x="647700" y="5429250"/>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1414"/>
                </a:solidFill>
                <a:latin typeface="Arial"/>
                <a:ea typeface="Arial"/>
                <a:cs typeface="Arial"/>
              </a:defRPr>
            </a:pPr>
            <a:r>
              <a:rPr sz="2100" b="1">
                <a:solidFill>
                  <a:srgbClr val="141414"/>
                </a:solidFill>
                <a:latin typeface="Arial"/>
                <a:ea typeface="Arial"/>
                <a:cs typeface="Arial"/>
              </a:rPr>
              <a:t>Raw analogue lowers MAE. False alarms rise from 15 to 16.</a:t>
            </a:r>
          </a:p>
        </p:txBody>
      </p:sp>
      <p:sp>
        <p:nvSpPr>
          <p:cNvPr id="14" name="">
            <a:extLst xmlns:a="http://schemas.openxmlformats.org/drawingml/2006/main">
              <a:ext uri="{FF2B5EF4-FFF2-40B4-BE49-F238E27FC236}">
                <a16:creationId xmlns:a16="http://schemas.microsoft.com/office/drawing/2014/main" id="{05EE4F9B-FA34-4A74-A566-BDB5DF35D1D2}"/>
              </a:ext>
            </a:extLst>
          </p:cNvPr>
          <p:cNvSpPr>
            <a:spLocks xmlns:a="http://schemas.openxmlformats.org/drawingml/2006/main" noGrp="1"/>
          </p:cNvSpPr>
          <p:nvPr/>
        </p:nvSpPr>
        <p:spPr>
          <a:xfrm xmlns:a="http://schemas.openxmlformats.org/drawingml/2006/main">
            <a:off x="647700" y="61055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Model-derived reference. Previously inspected test. Historical forecast publication time unverified.</a:t>
            </a:r>
          </a:p>
        </p:txBody>
      </p:sp>
    </p:spTree>
    <p:extLst>
      <p:ext uri="{BB962C8B-B14F-4D97-AF65-F5344CB8AC3E}">
        <p14:creationId xmlns:p14="http://schemas.microsoft.com/office/powerpoint/2010/main" val="676710036"/>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3DEB9A2-A8C3-4A39-9492-A9F100959E0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Business hypotheses</a:t>
            </a:r>
          </a:p>
        </p:txBody>
      </p:sp>
      <p:sp>
        <p:nvSpPr>
          <p:cNvPr id="2" name="slide-number">
            <a:extLst xmlns:a="http://schemas.openxmlformats.org/drawingml/2006/main">
              <a:ext uri="{FF2B5EF4-FFF2-40B4-BE49-F238E27FC236}">
                <a16:creationId xmlns:a16="http://schemas.microsoft.com/office/drawing/2014/main" id="{0032E691-0A82-4495-A9E6-4DDDC0DCA483}"/>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09 / 12</a:t>
            </a:r>
          </a:p>
        </p:txBody>
      </p:sp>
      <p:sp>
        <p:nvSpPr>
          <p:cNvPr id="10" name="">
            <a:extLst xmlns:a="http://schemas.openxmlformats.org/drawingml/2006/main">
              <a:ext uri="{FF2B5EF4-FFF2-40B4-BE49-F238E27FC236}">
                <a16:creationId xmlns:a16="http://schemas.microsoft.com/office/drawing/2014/main" id="{C5409487-9299-4234-99D0-DB9E3EBDE018}"/>
              </a:ext>
            </a:extLst>
          </p:cNvPr>
          <p:cNvSpPr>
            <a:spLocks xmlns:a="http://schemas.openxmlformats.org/drawingml/2006/main" noGrp="1"/>
          </p:cNvSpPr>
          <p:nvPr/>
        </p:nvSpPr>
        <p:spPr>
          <a:xfrm xmlns:a="http://schemas.openxmlformats.org/drawingml/2006/main">
            <a:off x="647700" y="16764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1414"/>
                </a:solidFill>
                <a:latin typeface="Arial"/>
                <a:ea typeface="Arial"/>
                <a:cs typeface="Arial"/>
              </a:defRPr>
            </a:pPr>
            <a:r>
              <a:rPr sz="2625" b="1">
                <a:solidFill>
                  <a:srgbClr val="141414"/>
                </a:solidFill>
                <a:latin typeface="Arial"/>
                <a:ea typeface="Arial"/>
                <a:cs typeface="Arial"/>
              </a:rPr>
              <a:t>Potential customers</a:t>
            </a:r>
          </a:p>
        </p:txBody>
      </p:sp>
      <p:sp>
        <p:nvSpPr>
          <p:cNvPr id="11" name="">
            <a:extLst xmlns:a="http://schemas.openxmlformats.org/drawingml/2006/main">
              <a:ext uri="{FF2B5EF4-FFF2-40B4-BE49-F238E27FC236}">
                <a16:creationId xmlns:a16="http://schemas.microsoft.com/office/drawing/2014/main" id="{8FBC7EC8-8BC8-4DF1-9DFA-E6205E406F46}"/>
              </a:ext>
            </a:extLst>
          </p:cNvPr>
          <p:cNvSpPr>
            <a:spLocks xmlns:a="http://schemas.openxmlformats.org/drawingml/2006/main" noGrp="1"/>
          </p:cNvSpPr>
          <p:nvPr/>
        </p:nvSpPr>
        <p:spPr>
          <a:xfrm xmlns:a="http://schemas.openxmlformats.org/drawingml/2006/main">
            <a:off x="647700" y="259080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141414"/>
                </a:solidFill>
                <a:latin typeface="Arial"/>
                <a:ea typeface="Arial"/>
                <a:cs typeface="Arial"/>
              </a:defRPr>
            </a:pPr>
            <a:r>
              <a:rPr sz="2400" b="0">
                <a:solidFill>
                  <a:srgbClr val="141414"/>
                </a:solidFill>
                <a:latin typeface="Arial"/>
                <a:ea typeface="Arial"/>
                <a:cs typeface="Arial"/>
              </a:rPr>
              <a:t>Water and plant operators</a:t>
            </a:r>
          </a:p>
          <a:p xmlns:a="http://schemas.openxmlformats.org/drawingml/2006/main">
            <a:pPr>
              <a:defRPr sz="2400" b="0">
                <a:solidFill>
                  <a:srgbClr val="141414"/>
                </a:solidFill>
                <a:latin typeface="Arial"/>
                <a:ea typeface="Arial"/>
                <a:cs typeface="Arial"/>
              </a:defRPr>
            </a:pPr>
            <a:r>
              <a:rPr sz="2400" b="0">
                <a:solidFill>
                  <a:srgbClr val="141414"/>
                </a:solidFill>
                <a:latin typeface="Arial"/>
                <a:ea typeface="Arial"/>
                <a:cs typeface="Arial"/>
              </a:rPr>
              <a:t>Hotels and managed gardens</a:t>
            </a:r>
          </a:p>
        </p:txBody>
      </p:sp>
      <p:sp>
        <p:nvSpPr>
          <p:cNvPr id="12" name="">
            <a:extLst xmlns:a="http://schemas.openxmlformats.org/drawingml/2006/main">
              <a:ext uri="{FF2B5EF4-FFF2-40B4-BE49-F238E27FC236}">
                <a16:creationId xmlns:a16="http://schemas.microsoft.com/office/drawing/2014/main" id="{E33C2971-1024-4D30-9373-778A7DE70437}"/>
              </a:ext>
            </a:extLst>
          </p:cNvPr>
          <p:cNvSpPr>
            <a:spLocks xmlns:a="http://schemas.openxmlformats.org/drawingml/2006/main" noGrp="1"/>
          </p:cNvSpPr>
          <p:nvPr/>
        </p:nvSpPr>
        <p:spPr>
          <a:xfrm xmlns:a="http://schemas.openxmlformats.org/drawingml/2006/main">
            <a:off x="6648450" y="167640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a:solidFill>
                  <a:srgbClr val="141414"/>
                </a:solidFill>
                <a:latin typeface="Arial"/>
                <a:ea typeface="Arial"/>
                <a:cs typeface="Arial"/>
              </a:defRPr>
            </a:pPr>
            <a:r>
              <a:rPr sz="2625" b="1">
                <a:solidFill>
                  <a:srgbClr val="141414"/>
                </a:solidFill>
                <a:latin typeface="Arial"/>
                <a:ea typeface="Arial"/>
                <a:cs typeface="Arial"/>
              </a:rPr>
              <a:t>Commercial model</a:t>
            </a:r>
          </a:p>
        </p:txBody>
      </p:sp>
      <p:sp>
        <p:nvSpPr>
          <p:cNvPr id="13" name="">
            <a:extLst xmlns:a="http://schemas.openxmlformats.org/drawingml/2006/main">
              <a:ext uri="{FF2B5EF4-FFF2-40B4-BE49-F238E27FC236}">
                <a16:creationId xmlns:a16="http://schemas.microsoft.com/office/drawing/2014/main" id="{BDC0D349-EA96-4298-BFAA-109990948B80}"/>
              </a:ext>
            </a:extLst>
          </p:cNvPr>
          <p:cNvSpPr>
            <a:spLocks xmlns:a="http://schemas.openxmlformats.org/drawingml/2006/main" noGrp="1"/>
          </p:cNvSpPr>
          <p:nvPr/>
        </p:nvSpPr>
        <p:spPr>
          <a:xfrm xmlns:a="http://schemas.openxmlformats.org/drawingml/2006/main">
            <a:off x="6648450" y="2590800"/>
            <a:ext cx="4857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141414"/>
                </a:solidFill>
                <a:latin typeface="Arial"/>
                <a:ea typeface="Arial"/>
                <a:cs typeface="Arial"/>
              </a:defRPr>
            </a:pPr>
            <a:r>
              <a:rPr sz="2400" b="0">
                <a:solidFill>
                  <a:srgbClr val="141414"/>
                </a:solidFill>
                <a:latin typeface="Arial"/>
                <a:ea typeface="Arial"/>
                <a:cs typeface="Arial"/>
              </a:rPr>
              <a:t>Setup and integration</a:t>
            </a:r>
          </a:p>
          <a:p xmlns:a="http://schemas.openxmlformats.org/drawingml/2006/main">
            <a:pPr>
              <a:defRPr sz="2400" b="0">
                <a:solidFill>
                  <a:srgbClr val="141414"/>
                </a:solidFill>
                <a:latin typeface="Arial"/>
                <a:ea typeface="Arial"/>
                <a:cs typeface="Arial"/>
              </a:defRPr>
            </a:pPr>
            <a:r>
              <a:rPr sz="2400" b="0">
                <a:solidFill>
                  <a:srgbClr val="141414"/>
                </a:solidFill>
                <a:latin typeface="Arial"/>
                <a:ea typeface="Arial"/>
                <a:cs typeface="Arial"/>
              </a:rPr>
              <a:t>Subscription and support</a:t>
            </a:r>
          </a:p>
        </p:txBody>
      </p:sp>
      <p:sp>
        <p:nvSpPr>
          <p:cNvPr id="14" name="">
            <a:extLst xmlns:a="http://schemas.openxmlformats.org/drawingml/2006/main">
              <a:ext uri="{FF2B5EF4-FFF2-40B4-BE49-F238E27FC236}">
                <a16:creationId xmlns:a16="http://schemas.microsoft.com/office/drawing/2014/main" id="{B230E63E-137B-490F-868C-A0F19345D1B4}"/>
              </a:ext>
            </a:extLst>
          </p:cNvPr>
          <p:cNvSpPr>
            <a:spLocks xmlns:a="http://schemas.openxmlformats.org/drawingml/2006/main" noGrp="1"/>
          </p:cNvSpPr>
          <p:nvPr/>
        </p:nvSpPr>
        <p:spPr>
          <a:xfrm xmlns:a="http://schemas.openxmlformats.org/drawingml/2006/main">
            <a:off x="647700" y="46958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41414"/>
                </a:solidFill>
                <a:latin typeface="Arial"/>
                <a:ea typeface="Arial"/>
                <a:cs typeface="Arial"/>
              </a:defRPr>
            </a:pPr>
            <a:r>
              <a:rPr sz="3150" b="1">
                <a:solidFill>
                  <a:srgbClr val="141414"/>
                </a:solidFill>
                <a:latin typeface="Arial"/>
                <a:ea typeface="Arial"/>
                <a:cs typeface="Arial"/>
              </a:rPr>
              <a:t>Customer interviews and a measured pilot</a:t>
            </a:r>
          </a:p>
        </p:txBody>
      </p:sp>
      <p:sp>
        <p:nvSpPr>
          <p:cNvPr id="15" name="">
            <a:extLst xmlns:a="http://schemas.openxmlformats.org/drawingml/2006/main">
              <a:ext uri="{FF2B5EF4-FFF2-40B4-BE49-F238E27FC236}">
                <a16:creationId xmlns:a16="http://schemas.microsoft.com/office/drawing/2014/main" id="{59088507-36BF-4623-8899-DED7B636F9A3}"/>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Pricing, willingness to pay and margins remain untested. No customer agreements claimed.</a:t>
            </a:r>
          </a:p>
        </p:txBody>
      </p:sp>
    </p:spTree>
    <p:extLst>
      <p:ext uri="{BB962C8B-B14F-4D97-AF65-F5344CB8AC3E}">
        <p14:creationId xmlns:p14="http://schemas.microsoft.com/office/powerpoint/2010/main" val="1059806131"/>
      </p:ext>
    </p:extLst>
  </p:cSld>
</p:sld>
</file>

<file path=ppt/slides/slide1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2C8DBAC-A07C-4F5C-BA1A-AED7F009A74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What the model does not establish</a:t>
            </a:r>
          </a:p>
        </p:txBody>
      </p:sp>
      <p:sp>
        <p:nvSpPr>
          <p:cNvPr id="2" name="slide-number">
            <a:extLst xmlns:a="http://schemas.openxmlformats.org/drawingml/2006/main">
              <a:ext uri="{FF2B5EF4-FFF2-40B4-BE49-F238E27FC236}">
                <a16:creationId xmlns:a16="http://schemas.microsoft.com/office/drawing/2014/main" id="{010FF08B-15F4-4B81-8430-0443A7138D5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10 / 12</a:t>
            </a:r>
          </a:p>
        </p:txBody>
      </p:sp>
      <p:sp>
        <p:nvSpPr>
          <p:cNvPr id="9" name="">
            <a:extLst xmlns:a="http://schemas.openxmlformats.org/drawingml/2006/main">
              <a:ext uri="{FF2B5EF4-FFF2-40B4-BE49-F238E27FC236}">
                <a16:creationId xmlns:a16="http://schemas.microsoft.com/office/drawing/2014/main" id="{E0289C5B-F284-45A9-BF94-3BB3868A32B0}"/>
              </a:ext>
            </a:extLst>
          </p:cNvPr>
          <p:cNvSpPr>
            <a:spLocks xmlns:a="http://schemas.openxmlformats.org/drawingml/2006/main" noGrp="1"/>
          </p:cNvSpPr>
          <p:nvPr/>
        </p:nvSpPr>
        <p:spPr>
          <a:xfrm xmlns:a="http://schemas.openxmlformats.org/drawingml/2006/main">
            <a:off x="647700" y="16954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41414"/>
                </a:solidFill>
                <a:latin typeface="Arial"/>
                <a:ea typeface="Arial"/>
                <a:cs typeface="Arial"/>
              </a:defRPr>
            </a:pPr>
            <a:r>
              <a:rPr sz="2850" b="1">
                <a:solidFill>
                  <a:srgbClr val="141414"/>
                </a:solidFill>
                <a:latin typeface="Arial"/>
                <a:ea typeface="Arial"/>
                <a:cs typeface="Arial"/>
              </a:rPr>
              <a:t>Declared scenario</a:t>
            </a:r>
          </a:p>
        </p:txBody>
      </p:sp>
      <p:sp>
        <p:nvSpPr>
          <p:cNvPr id="10" name="">
            <a:extLst xmlns:a="http://schemas.openxmlformats.org/drawingml/2006/main">
              <a:ext uri="{FF2B5EF4-FFF2-40B4-BE49-F238E27FC236}">
                <a16:creationId xmlns:a16="http://schemas.microsoft.com/office/drawing/2014/main" id="{8CA7DC03-7151-4A0D-B240-C776B45DB1B0}"/>
              </a:ext>
            </a:extLst>
          </p:cNvPr>
          <p:cNvSpPr>
            <a:spLocks xmlns:a="http://schemas.openxmlformats.org/drawingml/2006/main" noGrp="1"/>
          </p:cNvSpPr>
          <p:nvPr/>
        </p:nvSpPr>
        <p:spPr>
          <a:xfrm xmlns:a="http://schemas.openxmlformats.org/drawingml/2006/main">
            <a:off x="647700" y="2695575"/>
            <a:ext cx="5286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100–400 m³/h production</a:t>
            </a:r>
          </a:p>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4,000 m³ tank</a:t>
            </a:r>
          </a:p>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800 m³ minimum</a:t>
            </a:r>
          </a:p>
          <a:p xmlns:a="http://schemas.openxmlformats.org/drawingml/2006/main">
            <a:pPr>
              <a:defRPr sz="2550" b="0">
                <a:solidFill>
                  <a:srgbClr val="141414"/>
                </a:solidFill>
                <a:latin typeface="Arial"/>
                <a:ea typeface="Arial"/>
                <a:cs typeface="Arial"/>
              </a:defRPr>
            </a:pPr>
            <a:r>
              <a:rPr sz="2550" b="0">
                <a:solidFill>
                  <a:srgbClr val="141414"/>
                </a:solidFill>
                <a:latin typeface="Arial"/>
                <a:ea typeface="Arial"/>
                <a:cs typeface="Arial"/>
              </a:rPr>
              <a:t>3.4 kWh per m³</a:t>
            </a:r>
          </a:p>
        </p:txBody>
      </p:sp>
      <p:sp>
        <p:nvSpPr>
          <p:cNvPr id="11" name="">
            <a:extLst xmlns:a="http://schemas.openxmlformats.org/drawingml/2006/main">
              <a:ext uri="{FF2B5EF4-FFF2-40B4-BE49-F238E27FC236}">
                <a16:creationId xmlns:a16="http://schemas.microsoft.com/office/drawing/2014/main" id="{2F842AAF-8387-4F30-8E7C-7C54E07F7A50}"/>
              </a:ext>
            </a:extLst>
          </p:cNvPr>
          <p:cNvSpPr>
            <a:spLocks xmlns:a="http://schemas.openxmlformats.org/drawingml/2006/main" noGrp="1"/>
          </p:cNvSpPr>
          <p:nvPr/>
        </p:nvSpPr>
        <p:spPr>
          <a:xfrm xmlns:a="http://schemas.openxmlformats.org/drawingml/2006/main">
            <a:off x="6629400" y="1695450"/>
            <a:ext cx="487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41414"/>
                </a:solidFill>
                <a:latin typeface="Arial"/>
                <a:ea typeface="Arial"/>
                <a:cs typeface="Arial"/>
              </a:defRPr>
            </a:pPr>
            <a:r>
              <a:rPr sz="2850" b="1">
                <a:solidFill>
                  <a:srgbClr val="141414"/>
                </a:solidFill>
                <a:latin typeface="Arial"/>
                <a:ea typeface="Arial"/>
                <a:cs typeface="Arial"/>
              </a:rPr>
              <a:t>Operator evidence needed</a:t>
            </a:r>
          </a:p>
        </p:txBody>
      </p:sp>
      <p:sp>
        <p:nvSpPr>
          <p:cNvPr id="12" name="">
            <a:extLst xmlns:a="http://schemas.openxmlformats.org/drawingml/2006/main">
              <a:ext uri="{FF2B5EF4-FFF2-40B4-BE49-F238E27FC236}">
                <a16:creationId xmlns:a16="http://schemas.microsoft.com/office/drawing/2014/main" id="{00DD8D04-D524-45A0-85C9-9D846FF9335D}"/>
              </a:ext>
            </a:extLst>
          </p:cNvPr>
          <p:cNvSpPr>
            <a:spLocks xmlns:a="http://schemas.openxmlformats.org/drawingml/2006/main" noGrp="1"/>
          </p:cNvSpPr>
          <p:nvPr/>
        </p:nvSpPr>
        <p:spPr>
          <a:xfrm xmlns:a="http://schemas.openxmlformats.org/drawingml/2006/main">
            <a:off x="6629400" y="2695575"/>
            <a:ext cx="48768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Pressure and water quality</a:t>
            </a:r>
          </a:p>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Flushing and maintenance</a:t>
            </a:r>
          </a:p>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Ramps and operating states</a:t>
            </a:r>
          </a:p>
          <a:p xmlns:a="http://schemas.openxmlformats.org/drawingml/2006/main">
            <a:pPr>
              <a:defRPr sz="2325" b="0">
                <a:solidFill>
                  <a:srgbClr val="141414"/>
                </a:solidFill>
                <a:latin typeface="Arial"/>
                <a:ea typeface="Arial"/>
                <a:cs typeface="Arial"/>
              </a:defRPr>
            </a:pPr>
            <a:r>
              <a:rPr sz="2325" b="0">
                <a:solidFill>
                  <a:srgbClr val="141414"/>
                </a:solidFill>
                <a:latin typeface="Arial"/>
                <a:ea typeface="Arial"/>
                <a:cs typeface="Arial"/>
              </a:rPr>
              <a:t>Plant access to curtailed power</a:t>
            </a:r>
          </a:p>
        </p:txBody>
      </p:sp>
      <p:sp>
        <p:nvSpPr>
          <p:cNvPr id="13" name="">
            <a:extLst xmlns:a="http://schemas.openxmlformats.org/drawingml/2006/main">
              <a:ext uri="{FF2B5EF4-FFF2-40B4-BE49-F238E27FC236}">
                <a16:creationId xmlns:a16="http://schemas.microsoft.com/office/drawing/2014/main" id="{8EB16AF2-ABD5-4865-9BD1-E688EE736743}"/>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Retrospective demand uses recorded target-day temperature. No plant control or measured savings.</a:t>
            </a:r>
          </a:p>
        </p:txBody>
      </p:sp>
    </p:spTree>
    <p:extLst>
      <p:ext uri="{BB962C8B-B14F-4D97-AF65-F5344CB8AC3E}">
        <p14:creationId xmlns:p14="http://schemas.microsoft.com/office/powerpoint/2010/main" val="1573116820"/>
      </p:ext>
    </p:extLst>
  </p:cSld>
</p:sld>
</file>

<file path=ppt/slides/slide1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0F7E1C26-BF3F-4168-A810-41CE44F2371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101010"/>
                </a:solidFill>
                <a:latin typeface="Arial"/>
                <a:ea typeface="Arial"/>
                <a:cs typeface="Arial"/>
              </a:defRPr>
            </a:pPr>
            <a:r>
              <a:rPr sz="3600" b="1">
                <a:solidFill>
                  <a:srgbClr val="101010"/>
                </a:solidFill>
                <a:latin typeface="Arial"/>
                <a:ea typeface="Arial"/>
                <a:cs typeface="Arial"/>
              </a:rPr>
              <a:t>Next evidence</a:t>
            </a:r>
          </a:p>
        </p:txBody>
      </p:sp>
      <p:sp>
        <p:nvSpPr>
          <p:cNvPr id="2" name="slide-number">
            <a:extLst xmlns:a="http://schemas.openxmlformats.org/drawingml/2006/main">
              <a:ext uri="{FF2B5EF4-FFF2-40B4-BE49-F238E27FC236}">
                <a16:creationId xmlns:a16="http://schemas.microsoft.com/office/drawing/2014/main" id="{AB2CC127-99DE-4768-95FD-3AA35F8B3853}"/>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737373"/>
                </a:solidFill>
                <a:latin typeface="Arial"/>
                <a:ea typeface="Arial"/>
                <a:cs typeface="Arial"/>
              </a:defRPr>
            </a:pPr>
            <a:r>
              <a:rPr sz="1350" b="0">
                <a:solidFill>
                  <a:srgbClr val="737373"/>
                </a:solidFill>
                <a:latin typeface="Arial"/>
                <a:ea typeface="Arial"/>
                <a:cs typeface="Arial"/>
              </a:rPr>
              <a:t>11 / 12</a:t>
            </a:r>
          </a:p>
        </p:txBody>
      </p:sp>
      <p:sp>
        <p:nvSpPr>
          <p:cNvPr id="16" name="">
            <a:extLst xmlns:a="http://schemas.openxmlformats.org/drawingml/2006/main">
              <a:ext uri="{FF2B5EF4-FFF2-40B4-BE49-F238E27FC236}">
                <a16:creationId xmlns:a16="http://schemas.microsoft.com/office/drawing/2014/main" id="{1D28994E-C380-4FAF-A645-D0104744AB9F}"/>
              </a:ext>
            </a:extLst>
          </p:cNvPr>
          <p:cNvSpPr>
            <a:spLocks xmlns:a="http://schemas.openxmlformats.org/drawingml/2006/main" noGrp="1"/>
          </p:cNvSpPr>
          <p:nvPr/>
        </p:nvSpPr>
        <p:spPr>
          <a:xfrm xmlns:a="http://schemas.openxmlformats.org/drawingml/2006/main">
            <a:off x="647700" y="1714500"/>
            <a:ext cx="3476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41414"/>
                </a:solidFill>
                <a:latin typeface="Arial"/>
                <a:ea typeface="Arial"/>
                <a:cs typeface="Arial"/>
              </a:defRPr>
            </a:pPr>
            <a:r>
              <a:rPr sz="3150" b="1">
                <a:solidFill>
                  <a:srgbClr val="141414"/>
                </a:solidFill>
                <a:latin typeface="Arial"/>
                <a:ea typeface="Arial"/>
                <a:cs typeface="Arial"/>
              </a:rPr>
              <a:t>Submission</a:t>
            </a:r>
          </a:p>
        </p:txBody>
      </p:sp>
      <p:sp>
        <p:nvSpPr>
          <p:cNvPr id="17" name="">
            <a:extLst xmlns:a="http://schemas.openxmlformats.org/drawingml/2006/main">
              <a:ext uri="{FF2B5EF4-FFF2-40B4-BE49-F238E27FC236}">
                <a16:creationId xmlns:a16="http://schemas.microsoft.com/office/drawing/2014/main" id="{DB7081B7-6E75-4721-B68C-DB4824248E6A}"/>
              </a:ext>
            </a:extLst>
          </p:cNvPr>
          <p:cNvSpPr>
            <a:spLocks xmlns:a="http://schemas.openxmlformats.org/drawingml/2006/main" noGrp="1"/>
          </p:cNvSpPr>
          <p:nvPr/>
        </p:nvSpPr>
        <p:spPr>
          <a:xfrm xmlns:a="http://schemas.openxmlformats.org/drawingml/2006/main">
            <a:off x="647700" y="2714625"/>
            <a:ext cx="3286125"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Confirm the intended</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schedule version</a:t>
            </a:r>
          </a:p>
          <a:p xmlns:a="http://schemas.openxmlformats.org/drawingml/2006/main">
            <a:r>
              <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Rehearse the offline demo</a:t>
            </a:r>
          </a:p>
        </p:txBody>
      </p:sp>
      <p:sp>
        <p:nvSpPr>
          <p:cNvPr id="18" name="">
            <a:extLst xmlns:a="http://schemas.openxmlformats.org/drawingml/2006/main">
              <a:ext uri="{FF2B5EF4-FFF2-40B4-BE49-F238E27FC236}">
                <a16:creationId xmlns:a16="http://schemas.microsoft.com/office/drawing/2014/main" id="{8DF1B4F8-A75C-4C9C-B2E8-4C02F9336B53}"/>
              </a:ext>
            </a:extLst>
          </p:cNvPr>
          <p:cNvSpPr>
            <a:spLocks xmlns:a="http://schemas.openxmlformats.org/drawingml/2006/main" noGrp="1"/>
          </p:cNvSpPr>
          <p:nvPr/>
        </p:nvSpPr>
        <p:spPr>
          <a:xfrm xmlns:a="http://schemas.openxmlformats.org/drawingml/2006/main">
            <a:off x="4476750" y="1714500"/>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41414"/>
                </a:solidFill>
                <a:latin typeface="Arial"/>
                <a:ea typeface="Arial"/>
                <a:cs typeface="Arial"/>
              </a:defRPr>
            </a:pPr>
            <a:r>
              <a:rPr sz="3150" b="1">
                <a:solidFill>
                  <a:srgbClr val="141414"/>
                </a:solidFill>
                <a:latin typeface="Arial"/>
                <a:ea typeface="Arial"/>
                <a:cs typeface="Arial"/>
              </a:rPr>
              <a:t>Model v2</a:t>
            </a:r>
          </a:p>
        </p:txBody>
      </p:sp>
      <p:sp>
        <p:nvSpPr>
          <p:cNvPr id="19" name="">
            <a:extLst xmlns:a="http://schemas.openxmlformats.org/drawingml/2006/main">
              <a:ext uri="{FF2B5EF4-FFF2-40B4-BE49-F238E27FC236}">
                <a16:creationId xmlns:a16="http://schemas.microsoft.com/office/drawing/2014/main" id="{F2DE1D43-9658-413B-9DCA-D301BFC41EC5}"/>
              </a:ext>
            </a:extLst>
          </p:cNvPr>
          <p:cNvSpPr>
            <a:spLocks xmlns:a="http://schemas.openxmlformats.org/drawingml/2006/main" noGrp="1"/>
          </p:cNvSpPr>
          <p:nvPr/>
        </p:nvSpPr>
        <p:spPr>
          <a:xfrm xmlns:a="http://schemas.openxmlformats.org/drawingml/2006/main">
            <a:off x="4476750" y="2714625"/>
            <a:ext cx="33337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Controlled features</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Fixed time boundaries</a:t>
            </a:r>
          </a:p>
          <a:p xmlns:a="http://schemas.openxmlformats.org/drawingml/2006/main">
            <a:r>
              <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Fresh held-out period</a:t>
            </a:r>
          </a:p>
        </p:txBody>
      </p:sp>
      <p:sp>
        <p:nvSpPr>
          <p:cNvPr id="20" name="">
            <a:extLst xmlns:a="http://schemas.openxmlformats.org/drawingml/2006/main">
              <a:ext uri="{FF2B5EF4-FFF2-40B4-BE49-F238E27FC236}">
                <a16:creationId xmlns:a16="http://schemas.microsoft.com/office/drawing/2014/main" id="{6D0D76AB-F32F-4C45-87A6-673F9BE48050}"/>
              </a:ext>
            </a:extLst>
          </p:cNvPr>
          <p:cNvSpPr>
            <a:spLocks xmlns:a="http://schemas.openxmlformats.org/drawingml/2006/main" noGrp="1"/>
          </p:cNvSpPr>
          <p:nvPr/>
        </p:nvSpPr>
        <p:spPr>
          <a:xfrm xmlns:a="http://schemas.openxmlformats.org/drawingml/2006/main">
            <a:off x="8315325" y="1714500"/>
            <a:ext cx="328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41414"/>
                </a:solidFill>
                <a:latin typeface="Arial"/>
                <a:ea typeface="Arial"/>
                <a:cs typeface="Arial"/>
              </a:defRPr>
            </a:pPr>
            <a:r>
              <a:rPr sz="3150" b="1">
                <a:solidFill>
                  <a:srgbClr val="141414"/>
                </a:solidFill>
                <a:latin typeface="Arial"/>
                <a:ea typeface="Arial"/>
                <a:cs typeface="Arial"/>
              </a:rPr>
              <a:t>Pilot</a:t>
            </a:r>
          </a:p>
        </p:txBody>
      </p:sp>
      <p:sp>
        <p:nvSpPr>
          <p:cNvPr id="21" name="">
            <a:extLst xmlns:a="http://schemas.openxmlformats.org/drawingml/2006/main">
              <a:ext uri="{FF2B5EF4-FFF2-40B4-BE49-F238E27FC236}">
                <a16:creationId xmlns:a16="http://schemas.microsoft.com/office/drawing/2014/main" id="{43C9F774-3D84-4D4D-9BE7-AFA731A87D8B}"/>
              </a:ext>
            </a:extLst>
          </p:cNvPr>
          <p:cNvSpPr>
            <a:spLocks xmlns:a="http://schemas.openxmlformats.org/drawingml/2006/main" noGrp="1"/>
          </p:cNvSpPr>
          <p:nvPr/>
        </p:nvSpPr>
        <p:spPr>
          <a:xfrm xmlns:a="http://schemas.openxmlformats.org/drawingml/2006/main">
            <a:off x="8315325" y="2714625"/>
            <a:ext cx="3190875"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One operator</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One data contact</a:t>
            </a:r>
          </a:p>
          <a:p xmlns:a="http://schemas.openxmlformats.org/drawingml/2006/main">
            <a:r>
              <a:t/>
            </a:r>
          </a:p>
          <a:p xmlns:a="http://schemas.openxmlformats.org/drawingml/2006/main">
            <a:pPr>
              <a:defRPr sz="2250" b="0">
                <a:solidFill>
                  <a:srgbClr val="141414"/>
                </a:solidFill>
                <a:latin typeface="Arial"/>
                <a:ea typeface="Arial"/>
                <a:cs typeface="Arial"/>
              </a:defRPr>
            </a:pPr>
            <a:r>
              <a:rPr sz="2250" b="0">
                <a:solidFill>
                  <a:srgbClr val="141414"/>
                </a:solidFill>
                <a:latin typeface="Arial"/>
                <a:ea typeface="Arial"/>
                <a:cs typeface="Arial"/>
              </a:rPr>
              <a:t>Agreed measurement plan</a:t>
            </a:r>
          </a:p>
        </p:txBody>
      </p:sp>
      <p:sp>
        <p:nvSpPr>
          <p:cNvPr id="22" name="">
            <a:extLst xmlns:a="http://schemas.openxmlformats.org/drawingml/2006/main">
              <a:ext uri="{FF2B5EF4-FFF2-40B4-BE49-F238E27FC236}">
                <a16:creationId xmlns:a16="http://schemas.microsoft.com/office/drawing/2014/main" id="{4C62EF93-627B-4E58-8228-DD58E5C15C13}"/>
              </a:ext>
            </a:extLst>
          </p:cNvPr>
          <p:cNvSpPr>
            <a:spLocks xmlns:a="http://schemas.openxmlformats.org/drawingml/2006/main" noGrp="1"/>
          </p:cNvSpPr>
          <p:nvPr/>
        </p:nvSpPr>
        <p:spPr>
          <a:xfrm xmlns:a="http://schemas.openxmlformats.org/drawingml/2006/main">
            <a:off x="6477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26262"/>
                </a:solidFill>
                <a:latin typeface="Arial"/>
                <a:ea typeface="Arial"/>
                <a:cs typeface="Arial"/>
              </a:defRPr>
            </a:pPr>
            <a:r>
              <a:rPr sz="1650" b="0">
                <a:solidFill>
                  <a:srgbClr val="626262"/>
                </a:solidFill>
                <a:latin typeface="Arial"/>
                <a:ea typeface="Arial"/>
                <a:cs typeface="Arial"/>
              </a:rPr>
              <a:t>V2 is pending. Improvements and pilot benefits must be demonstrated.</a:t>
            </a:r>
          </a:p>
        </p:txBody>
      </p:sp>
    </p:spTree>
    <p:extLst>
      <p:ext uri="{BB962C8B-B14F-4D97-AF65-F5344CB8AC3E}">
        <p14:creationId xmlns:p14="http://schemas.microsoft.com/office/powerpoint/2010/main" val="1879343140"/>
      </p:ext>
    </p:extLst>
  </p:cSld>
</p:sld>
</file>

<file path=ppt/slides/slide1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46782E6-349F-4387-918F-C39E5972CAC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The team and the ask</a:t>
            </a:r>
          </a:p>
        </p:txBody>
      </p:sp>
      <p:sp>
        <p:nvSpPr>
          <p:cNvPr id="2" name="slide-number">
            <a:extLst xmlns:a="http://schemas.openxmlformats.org/drawingml/2006/main">
              <a:ext uri="{FF2B5EF4-FFF2-40B4-BE49-F238E27FC236}">
                <a16:creationId xmlns:a16="http://schemas.microsoft.com/office/drawing/2014/main" id="{20C1FA76-924A-4E11-AC14-A10CE93D835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350" b="0">
                <a:solidFill>
                  <a:srgbClr val="DADADA"/>
                </a:solidFill>
                <a:latin typeface="Arial"/>
                <a:ea typeface="Arial"/>
                <a:cs typeface="Arial"/>
              </a:defRPr>
            </a:pPr>
            <a:r>
              <a:rPr sz="1350" b="0">
                <a:solidFill>
                  <a:srgbClr val="DADADA"/>
                </a:solidFill>
                <a:latin typeface="Arial"/>
                <a:ea typeface="Arial"/>
                <a:cs typeface="Arial"/>
              </a:rPr>
              <a:t>12 / 12</a:t>
            </a:r>
          </a:p>
        </p:txBody>
      </p:sp>
      <p:sp>
        <p:nvSpPr>
          <p:cNvPr id="10" name="">
            <a:extLst xmlns:a="http://schemas.openxmlformats.org/drawingml/2006/main">
              <a:ext uri="{FF2B5EF4-FFF2-40B4-BE49-F238E27FC236}">
                <a16:creationId xmlns:a16="http://schemas.microsoft.com/office/drawing/2014/main" id="{0A732C04-2D58-447E-9560-41AD063C3D92}"/>
              </a:ext>
            </a:extLst>
          </p:cNvPr>
          <p:cNvSpPr>
            <a:spLocks xmlns:a="http://schemas.openxmlformats.org/drawingml/2006/main" noGrp="1"/>
          </p:cNvSpPr>
          <p:nvPr/>
        </p:nvSpPr>
        <p:spPr>
          <a:xfrm xmlns:a="http://schemas.openxmlformats.org/drawingml/2006/main">
            <a:off x="609600" y="1581150"/>
            <a:ext cx="1085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A Paphos operator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and a data contact</a:t>
            </a:r>
          </a:p>
        </p:txBody>
      </p:sp>
      <p:sp>
        <p:nvSpPr>
          <p:cNvPr id="11" name="">
            <a:extLst xmlns:a="http://schemas.openxmlformats.org/drawingml/2006/main">
              <a:ext uri="{FF2B5EF4-FFF2-40B4-BE49-F238E27FC236}">
                <a16:creationId xmlns:a16="http://schemas.microsoft.com/office/drawing/2014/main" id="{F9FA8C06-F17B-4E4C-873C-E8DD6C1F1B68}"/>
              </a:ext>
            </a:extLst>
          </p:cNvPr>
          <p:cNvSpPr>
            <a:spLocks xmlns:a="http://schemas.openxmlformats.org/drawingml/2006/main" noGrp="1"/>
          </p:cNvSpPr>
          <p:nvPr/>
        </p:nvSpPr>
        <p:spPr>
          <a:xfrm xmlns:a="http://schemas.openxmlformats.org/drawingml/2006/main">
            <a:off x="647700" y="3943350"/>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Loukas Louka</a:t>
            </a:r>
          </a:p>
        </p:txBody>
      </p:sp>
      <p:sp>
        <p:nvSpPr>
          <p:cNvPr id="12" name="">
            <a:extLst xmlns:a="http://schemas.openxmlformats.org/drawingml/2006/main">
              <a:ext uri="{FF2B5EF4-FFF2-40B4-BE49-F238E27FC236}">
                <a16:creationId xmlns:a16="http://schemas.microsoft.com/office/drawing/2014/main" id="{EF456036-CD9B-484E-AEED-925DEADACBEB}"/>
              </a:ext>
            </a:extLst>
          </p:cNvPr>
          <p:cNvSpPr>
            <a:spLocks xmlns:a="http://schemas.openxmlformats.org/drawingml/2006/main" noGrp="1"/>
          </p:cNvSpPr>
          <p:nvPr/>
        </p:nvSpPr>
        <p:spPr>
          <a:xfrm xmlns:a="http://schemas.openxmlformats.org/drawingml/2006/main">
            <a:off x="647700" y="4838700"/>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Stefanos Bordea</a:t>
            </a:r>
          </a:p>
        </p:txBody>
      </p:sp>
      <p:sp>
        <p:nvSpPr>
          <p:cNvPr id="13" name="">
            <a:extLst xmlns:a="http://schemas.openxmlformats.org/drawingml/2006/main">
              <a:ext uri="{FF2B5EF4-FFF2-40B4-BE49-F238E27FC236}">
                <a16:creationId xmlns:a16="http://schemas.microsoft.com/office/drawing/2014/main" id="{31C9801A-160A-49B1-8BBD-3D87603A0FC4}"/>
              </a:ext>
            </a:extLst>
          </p:cNvPr>
          <p:cNvSpPr>
            <a:spLocks xmlns:a="http://schemas.openxmlformats.org/drawingml/2006/main" noGrp="1"/>
          </p:cNvSpPr>
          <p:nvPr/>
        </p:nvSpPr>
        <p:spPr>
          <a:xfrm xmlns:a="http://schemas.openxmlformats.org/drawingml/2006/main">
            <a:off x="6810375" y="3943350"/>
            <a:ext cx="4705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Andreas Nikolaides</a:t>
            </a:r>
          </a:p>
        </p:txBody>
      </p:sp>
      <p:sp>
        <p:nvSpPr>
          <p:cNvPr id="14" name="">
            <a:extLst xmlns:a="http://schemas.openxmlformats.org/drawingml/2006/main">
              <a:ext uri="{FF2B5EF4-FFF2-40B4-BE49-F238E27FC236}">
                <a16:creationId xmlns:a16="http://schemas.microsoft.com/office/drawing/2014/main" id="{566F5063-3B7C-460C-83F7-FEA6EFD31CC6}"/>
              </a:ext>
            </a:extLst>
          </p:cNvPr>
          <p:cNvSpPr>
            <a:spLocks xmlns:a="http://schemas.openxmlformats.org/drawingml/2006/main" noGrp="1"/>
          </p:cNvSpPr>
          <p:nvPr/>
        </p:nvSpPr>
        <p:spPr>
          <a:xfrm xmlns:a="http://schemas.openxmlformats.org/drawingml/2006/main">
            <a:off x="6810375" y="4838700"/>
            <a:ext cx="4705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Cleopas Cleopa</a:t>
            </a:r>
          </a:p>
        </p:txBody>
      </p:sp>
      <p:sp>
        <p:nvSpPr>
          <p:cNvPr id="15" name="">
            <a:extLst xmlns:a="http://schemas.openxmlformats.org/drawingml/2006/main">
              <a:ext uri="{FF2B5EF4-FFF2-40B4-BE49-F238E27FC236}">
                <a16:creationId xmlns:a16="http://schemas.microsoft.com/office/drawing/2014/main" id="{DA957B4C-6185-4EA5-9626-B1B713C3C316}"/>
              </a:ext>
            </a:extLst>
          </p:cNvPr>
          <p:cNvSpPr>
            <a:spLocks xmlns:a="http://schemas.openxmlformats.org/drawingml/2006/main" noGrp="1"/>
          </p:cNvSpPr>
          <p:nvPr/>
        </p:nvSpPr>
        <p:spPr>
          <a:xfrm xmlns:a="http://schemas.openxmlformats.org/drawingml/2006/main">
            <a:off x="647700" y="6257925"/>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D8D8D8"/>
                </a:solidFill>
                <a:latin typeface="Arial"/>
                <a:ea typeface="Arial"/>
                <a:cs typeface="Arial"/>
              </a:defRPr>
            </a:pPr>
            <a:r>
              <a:rPr sz="1650" b="0">
                <a:solidFill>
                  <a:srgbClr val="D8D8D8"/>
                </a:solidFill>
                <a:latin typeface="Arial"/>
                <a:ea typeface="Arial"/>
                <a:cs typeface="Arial"/>
              </a:rPr>
              <a:t>aktina-pafos-2026.vercel.app</a:t>
            </a:r>
          </a:p>
        </p:txBody>
      </p:sp>
    </p:spTree>
    <p:extLst>
      <p:ext uri="{BB962C8B-B14F-4D97-AF65-F5344CB8AC3E}">
        <p14:creationId xmlns:p14="http://schemas.microsoft.com/office/powerpoint/2010/main" val="1504858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Loukas Louka, Stefanos Bordea, Andreas Nikolaides, Cleopas Cleopa</dc:creator>
  <cp:lastModifiedBy>Loukas Louka</cp:lastModifiedBy>
  <dc:title>Aktina | Pafos 2026</dc:title>
  <dcterms:created xsi:type="dcterms:W3CDTF">2026-10-04T09:25:30.5980000Z</dcterms:created>
  <dcterms:modified xsi:type="dcterms:W3CDTF">2026-10-04T09:25:30.5980000Z</dcterms:modified>
</cp:coreProperties>
</file>